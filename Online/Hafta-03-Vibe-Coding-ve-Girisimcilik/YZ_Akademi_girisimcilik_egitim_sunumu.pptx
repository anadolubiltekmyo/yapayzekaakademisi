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398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B3F8A">
              <a:alpha val="40000"/>
            </a:srgbClr>
          </a:solidFill>
          <a:ln w="12700">
            <a:solidFill>
              <a:srgbClr val="2B3F8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4A90D9">
              <a:alpha val="25000"/>
            </a:srgbClr>
          </a:solidFill>
          <a:ln w="12700">
            <a:solidFill>
              <a:srgbClr val="4A90D9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GİRİŞİMCİLİK VE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İŞ MODELİ GELİŞTİRME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29260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ADCFC"/>
                </a:solidFill>
              </a:rPr>
              <a:t>İş Planı Hazırlama ve Girişimci Düşünce Temelleri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4315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200" dirty="0" err="1">
                <a:solidFill>
                  <a:srgbClr val="FFFFFF"/>
                </a:solidFill>
              </a:rPr>
              <a:t>Öğr.Gör.Dr</a:t>
            </a:r>
            <a:r>
              <a:rPr lang="tr-TR" sz="1200" dirty="0">
                <a:solidFill>
                  <a:srgbClr val="FFFFFF"/>
                </a:solidFill>
              </a:rPr>
              <a:t>. Rabia Taş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AJANDA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400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Girişimcilik Nedir?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Tanım, tarihsel gelişim, ekosistem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09928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09928"/>
            <a:ext cx="6400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09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755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Girişimci Profili &amp; Yetkinlikler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0299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Özellikler, efsaneler ve gerçekler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59736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59736"/>
            <a:ext cx="6400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597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505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İş Modeli Kanvası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7797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9 bileşen, örnekler ve uygulama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209544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09544"/>
            <a:ext cx="6400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09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2552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İş Planı Geliştirme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52958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Yapı, içerik ve kritik başarı faktörleri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946097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959352"/>
            <a:ext cx="6400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959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005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Soru &amp; Tartışma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2793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Vaka analizi ve kapanış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01  /  GİRİŞİMCİLİK NEDİR?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1887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</a:rPr>
              <a:t>"Girisimcilik; mevcut kaynaklarin otesinde firsatlari kovalama ve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</a:rPr>
              <a:t>yeni deger yaratma surecidir."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4A90D9"/>
                </a:solidFill>
              </a:rPr>
              <a:t>-- Howard Stevenson, Harvard Business School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331720"/>
            <a:ext cx="2697480" cy="2377440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331720"/>
            <a:ext cx="269748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Klasik Tanım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8346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Üretim faktörlerini bir araya getirerek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yeni bir işletme kuran bireyin faaliyeti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2331720"/>
            <a:ext cx="2697480" cy="2377440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331720"/>
            <a:ext cx="269748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Modern Yaklaşım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28346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Problem → Çözüm → Değer Önerisi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döngüsünde sürekli inovasyon</a:t>
            </a:r>
          </a:p>
        </p:txBody>
      </p:sp>
      <p:sp>
        <p:nvSpPr>
          <p:cNvPr id="14" name="Shape 12"/>
          <p:cNvSpPr/>
          <p:nvPr/>
        </p:nvSpPr>
        <p:spPr>
          <a:xfrm>
            <a:off x="6080760" y="2331720"/>
            <a:ext cx="2697480" cy="2377440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2331720"/>
            <a:ext cx="269748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Akademik Perspektif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0488" y="28346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Schumpeter: Yaratıcı Yıkım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Drucker: </a:t>
            </a:r>
            <a:r>
              <a:rPr lang="en-US" sz="1200" dirty="0" err="1">
                <a:solidFill>
                  <a:schemeClr val="tx2"/>
                </a:solidFill>
              </a:rPr>
              <a:t>Fırsat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Yönetimi</a:t>
            </a:r>
            <a:endParaRPr lang="en-US" sz="12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chemeClr val="tx2"/>
                </a:solidFill>
              </a:rPr>
              <a:t>Kirzner</a:t>
            </a:r>
            <a:r>
              <a:rPr lang="en-US" sz="1200" dirty="0">
                <a:solidFill>
                  <a:schemeClr val="tx2"/>
                </a:solidFill>
              </a:rPr>
              <a:t>: </a:t>
            </a:r>
            <a:r>
              <a:rPr lang="en-US" sz="1200" dirty="0" err="1">
                <a:solidFill>
                  <a:schemeClr val="tx2"/>
                </a:solidFill>
              </a:rPr>
              <a:t>Arbitraj</a:t>
            </a:r>
            <a:r>
              <a:rPr lang="en-US" sz="1200" dirty="0">
                <a:solidFill>
                  <a:schemeClr val="tx2"/>
                </a:solidFill>
              </a:rPr>
              <a:t> &amp; </a:t>
            </a:r>
            <a:r>
              <a:rPr lang="en-US" sz="1200" dirty="0" err="1">
                <a:solidFill>
                  <a:schemeClr val="tx2"/>
                </a:solidFill>
              </a:rPr>
              <a:t>Farkındalık</a:t>
            </a:r>
            <a:endParaRPr lang="en-US" sz="1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01  /  GİRİŞİMCİLİK EKOSİSTEMİ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474720" y="1828800"/>
            <a:ext cx="2194560" cy="219456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8288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GİRİŞİM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EKOSİSTEMİ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" y="1920240"/>
            <a:ext cx="2011680" cy="777240"/>
          </a:xfrm>
          <a:prstGeom prst="rect">
            <a:avLst/>
          </a:prstGeom>
          <a:solidFill>
            <a:srgbClr val="2B3F8A"/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</a:rPr>
              <a:t>Girişimciler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" y="3474720"/>
            <a:ext cx="2011680" cy="777240"/>
          </a:xfrm>
          <a:prstGeom prst="rect">
            <a:avLst/>
          </a:prstGeom>
          <a:solidFill>
            <a:srgbClr val="2B3F8A"/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3474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</a:rPr>
              <a:t>Yatırımcılar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</a:rPr>
              <a:t>(VC, Melek)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868680"/>
            <a:ext cx="2011680" cy="777240"/>
          </a:xfrm>
          <a:prstGeom prst="rect">
            <a:avLst/>
          </a:prstGeom>
          <a:solidFill>
            <a:srgbClr val="2B3F8A"/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868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</a:rPr>
              <a:t>Üniversiteler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</a:rPr>
              <a:t>&amp; Araştırma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1920240"/>
            <a:ext cx="2011680" cy="777240"/>
          </a:xfrm>
          <a:prstGeom prst="rect">
            <a:avLst/>
          </a:prstGeom>
          <a:solidFill>
            <a:srgbClr val="2B3F8A"/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</a:rPr>
              <a:t>Devlet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</a:rPr>
              <a:t>Teşvikler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0" y="3474720"/>
            <a:ext cx="2011680" cy="777240"/>
          </a:xfrm>
          <a:prstGeom prst="rect">
            <a:avLst/>
          </a:prstGeom>
          <a:solidFill>
            <a:srgbClr val="2B3F8A"/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474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</a:rPr>
              <a:t>Kuluçka &amp;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</a:rPr>
              <a:t>Hızlandırıcı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0" y="4206240"/>
            <a:ext cx="2011680" cy="777240"/>
          </a:xfrm>
          <a:prstGeom prst="rect">
            <a:avLst/>
          </a:prstGeom>
          <a:solidFill>
            <a:srgbClr val="2B3F8A"/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419554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Müşteriler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&amp; Pazar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02  /  GİRİŞİMCİ PROFİLİ &amp; YETKİNLİKLER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Temel Yetkinlikler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Risk toleransı ve belirsizlik yönetimi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1911096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892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Fırsat tanıma ve problem odaklılık</a:t>
            </a:r>
          </a:p>
        </p:txBody>
      </p:sp>
      <p:sp>
        <p:nvSpPr>
          <p:cNvPr id="11" name="Shape 9"/>
          <p:cNvSpPr/>
          <p:nvPr/>
        </p:nvSpPr>
        <p:spPr>
          <a:xfrm>
            <a:off x="320040" y="2432304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2414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Kaynak mobilizasyonu</a:t>
            </a:r>
          </a:p>
        </p:txBody>
      </p:sp>
      <p:sp>
        <p:nvSpPr>
          <p:cNvPr id="14" name="Shape 12"/>
          <p:cNvSpPr/>
          <p:nvPr/>
        </p:nvSpPr>
        <p:spPr>
          <a:xfrm>
            <a:off x="320040" y="2953512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9352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İnovasyon ve yaratıcı düşünce</a:t>
            </a:r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Liderlik ve ekip kurma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3995928"/>
            <a:ext cx="274320" cy="274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Müşteri empati ve odaklılık</a:t>
            </a:r>
          </a:p>
        </p:txBody>
      </p:sp>
      <p:sp>
        <p:nvSpPr>
          <p:cNvPr id="23" name="Shape 21"/>
          <p:cNvSpPr/>
          <p:nvPr/>
        </p:nvSpPr>
        <p:spPr>
          <a:xfrm>
            <a:off x="4663440" y="868680"/>
            <a:ext cx="4160520" cy="3931920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Efsaneler &amp; Gerçekler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1417320"/>
            <a:ext cx="3840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✗  Girişimciler doğuştan gelir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1801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AE60"/>
                </a:solidFill>
              </a:rPr>
              <a:t>✓  Beceriler eğitimle kazanılır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0600" y="2468880"/>
            <a:ext cx="3840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✗  Tek başına başarılır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</a:rPr>
              <a:t>✓  Ekip ve ağ kritik öneme sahiptir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3520440"/>
            <a:ext cx="3840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✗  Büyük sermaye şart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</a:rPr>
              <a:t>✓  Lean Startup &amp; Bootstrap mümkün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03  /  İŞ MODELİ KANVASI (BMC)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</a:rPr>
              <a:t>Bir is modeli: organizasyonun nasil deger yarattigini, sundugunu ve elde ettigini aciklayan bir modeldir.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0D9"/>
                </a:solidFill>
              </a:rPr>
              <a:t>-- Osterwalder &amp; Pigneur, Business Model Generation (2010)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2194560"/>
            <a:ext cx="2743200" cy="749808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194560"/>
            <a:ext cx="109728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9456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Anahtar Ortaklar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194560"/>
            <a:ext cx="2743200" cy="749808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2194560"/>
            <a:ext cx="109728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19456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Anahtar Faaliyetler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194560"/>
            <a:ext cx="2743200" cy="749808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2194560"/>
            <a:ext cx="109728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19456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Değer Önerisi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063240"/>
            <a:ext cx="2743200" cy="749808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063240"/>
            <a:ext cx="109728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632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Müşteri İlişkileri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3063240"/>
            <a:ext cx="2743200" cy="749808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3063240"/>
            <a:ext cx="109728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0632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Müşteri Segmentleri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3063240"/>
            <a:ext cx="2743200" cy="749808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3063240"/>
            <a:ext cx="109728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06324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Anahtar Kaynaklar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2743200" cy="749808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931920"/>
            <a:ext cx="109728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3192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7. Kanallar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3931920"/>
            <a:ext cx="2743200" cy="749808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3931920"/>
            <a:ext cx="109728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93192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8. Gelir Akışları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3931920"/>
            <a:ext cx="2743200" cy="749808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3931920"/>
            <a:ext cx="109728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931920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9. Maliyet Yapısı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03  /  BMC -- 9 BİLEŞENİN DETAYı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749808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3200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320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4088" y="969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Müşteri Segmentleri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4088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Kime hitap ediyorsunuz? (Kitle, niş, çok taraflı platform)</a:t>
            </a:r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749808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200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14400"/>
            <a:ext cx="320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38928" y="969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Değer Önerisi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38928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Hangi sorunu çözüyor ya da hangi ihtiyacı karşılıyorsunuz?</a:t>
            </a:r>
          </a:p>
        </p:txBody>
      </p:sp>
      <p:sp>
        <p:nvSpPr>
          <p:cNvPr id="14" name="Shape 12"/>
          <p:cNvSpPr/>
          <p:nvPr/>
        </p:nvSpPr>
        <p:spPr>
          <a:xfrm>
            <a:off x="320040" y="1764792"/>
            <a:ext cx="4206240" cy="749808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64792"/>
            <a:ext cx="3200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64792"/>
            <a:ext cx="320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" y="1819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Kanallar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" y="21122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Müşteriye nasıl ulaşıyorsunuz? (Fiziksel, dijital, ortaklar)</a:t>
            </a:r>
          </a:p>
        </p:txBody>
      </p:sp>
      <p:sp>
        <p:nvSpPr>
          <p:cNvPr id="19" name="Shape 17"/>
          <p:cNvSpPr/>
          <p:nvPr/>
        </p:nvSpPr>
        <p:spPr>
          <a:xfrm>
            <a:off x="4754880" y="1764792"/>
            <a:ext cx="4206240" cy="749808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764792"/>
            <a:ext cx="3200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764792"/>
            <a:ext cx="320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38928" y="1819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Müşteri İlişkileri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38928" y="21122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Müşteriyle nasıl etkileşim kuruyorsunuz? (Self-servis, topluluk...)</a:t>
            </a:r>
          </a:p>
        </p:txBody>
      </p:sp>
      <p:sp>
        <p:nvSpPr>
          <p:cNvPr id="24" name="Shape 22"/>
          <p:cNvSpPr/>
          <p:nvPr/>
        </p:nvSpPr>
        <p:spPr>
          <a:xfrm>
            <a:off x="320040" y="2615184"/>
            <a:ext cx="4206240" cy="749808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615184"/>
            <a:ext cx="32004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615184"/>
            <a:ext cx="320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2670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Gelir Akışları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" y="29626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Nasıl para kazanıyorsunuz? (Satış, abonelik, lisans, reklam)</a:t>
            </a:r>
          </a:p>
        </p:txBody>
      </p:sp>
      <p:sp>
        <p:nvSpPr>
          <p:cNvPr id="29" name="Shape 27"/>
          <p:cNvSpPr/>
          <p:nvPr/>
        </p:nvSpPr>
        <p:spPr>
          <a:xfrm>
            <a:off x="4754880" y="2615184"/>
            <a:ext cx="4206240" cy="749808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615184"/>
            <a:ext cx="320040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615184"/>
            <a:ext cx="320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8928" y="2670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Anahtar Kaynaklar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38928" y="29626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Neye ihtiyacınız var? (İnsan, teknoloji, patent, sermaye)</a:t>
            </a:r>
          </a:p>
        </p:txBody>
      </p:sp>
      <p:sp>
        <p:nvSpPr>
          <p:cNvPr id="34" name="Shape 32"/>
          <p:cNvSpPr/>
          <p:nvPr/>
        </p:nvSpPr>
        <p:spPr>
          <a:xfrm>
            <a:off x="320040" y="3465576"/>
            <a:ext cx="4206240" cy="749808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465576"/>
            <a:ext cx="320040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65576"/>
            <a:ext cx="320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Anahtar Faaliyetler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" y="38130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Ne yapmanız gerekiyor? (Üretim, problem çözüm, platform yönetimi)</a:t>
            </a:r>
          </a:p>
        </p:txBody>
      </p:sp>
      <p:sp>
        <p:nvSpPr>
          <p:cNvPr id="39" name="Shape 37"/>
          <p:cNvSpPr/>
          <p:nvPr/>
        </p:nvSpPr>
        <p:spPr>
          <a:xfrm>
            <a:off x="4754880" y="3465576"/>
            <a:ext cx="4206240" cy="749808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465576"/>
            <a:ext cx="320040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465576"/>
            <a:ext cx="320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38928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Anahtar Ortaklar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38928" y="38130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Kimlerle işbirliği yapıyorsunuz? (Tedarikçi, stratejik ortaklar)</a:t>
            </a:r>
          </a:p>
        </p:txBody>
      </p:sp>
      <p:sp>
        <p:nvSpPr>
          <p:cNvPr id="44" name="Shape 42"/>
          <p:cNvSpPr/>
          <p:nvPr/>
        </p:nvSpPr>
        <p:spPr>
          <a:xfrm>
            <a:off x="320040" y="4315968"/>
            <a:ext cx="4206240" cy="749808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4315968"/>
            <a:ext cx="320040" cy="749808"/>
          </a:xfrm>
          <a:prstGeom prst="rect">
            <a:avLst/>
          </a:prstGeom>
          <a:solidFill>
            <a:srgbClr val="4A90D9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315968"/>
            <a:ext cx="320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Maliyet Yapısı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04088" y="4663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Sabit/değişken maliyetler, maliyet odaklı vs değer odaklı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03  /  UYGULAMA: </a:t>
            </a:r>
            <a:r>
              <a:rPr lang="tr-TR" sz="1900" b="1" dirty="0">
                <a:solidFill>
                  <a:srgbClr val="FFFFFF"/>
                </a:solidFill>
              </a:rPr>
              <a:t>MÜZİK PLATFORMU</a:t>
            </a:r>
            <a:r>
              <a:rPr lang="en-US" sz="1900" b="1" dirty="0">
                <a:solidFill>
                  <a:srgbClr val="FFFFFF"/>
                </a:solidFill>
              </a:rPr>
              <a:t> İŞ MODELİ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675120" y="868680"/>
            <a:ext cx="2148840" cy="2011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48272" y="941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Müşteri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Segmentleri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48272" y="137160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🎧 Ücretsiz kullanıcı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💎 Premium abone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🎵 Müzisyen &amp; Yapımcı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868680"/>
            <a:ext cx="2331720" cy="2011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9392" y="941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Değer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Önerisi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79392" y="1371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Kişiselleştirilmiş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müzik deneyimi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Her yerde erişim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3017520"/>
            <a:ext cx="2148840" cy="1737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3090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Gelir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Akışları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48272" y="352044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💰 Premium abonelik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📢 Reklam gelirleri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🤝 Sanatçı ortaklıkları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4206240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090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Maliyet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Yapısı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" y="3520440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Lisans ücretleri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Sunucu altyapısı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Ar-Ge &amp; Personel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868680"/>
            <a:ext cx="1965960" cy="201168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941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Anahtar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Ortaklar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" y="137160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Sony, Universal,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Warner Müzik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Telekom şirketleri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77440" y="868680"/>
            <a:ext cx="1691640" cy="201168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941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Anahtar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Faaliyetler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50592" y="137160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Öneri algoritması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İçerik lisanslama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Mobil uygulama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04  /  İŞ PLANI GELİŞTİRME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</a:rPr>
              <a:t>İş Planı Nedir? Neden Önemlidir?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4206240" cy="1188720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45920"/>
            <a:ext cx="420624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Düşünce</a:t>
            </a:r>
            <a:r>
              <a:rPr lang="en-US" sz="1400" b="1" dirty="0">
                <a:solidFill>
                  <a:srgbClr val="FFFFFF"/>
                </a:solidFill>
              </a:rPr>
              <a:t> </a:t>
            </a:r>
            <a:r>
              <a:rPr lang="tr-TR" sz="1400" b="1" dirty="0">
                <a:solidFill>
                  <a:srgbClr val="FFFFFF"/>
                </a:solidFill>
              </a:rPr>
              <a:t>Yapısı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Fikri somut adımlara ve rakamlara dönüştürür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4206240" cy="1188720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645920"/>
            <a:ext cx="420624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Yatırımcı İletişimi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Sermaye çekmek için temel belge niteliği taşır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206240" cy="1188720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063240"/>
            <a:ext cx="420624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Yönetim Rehberi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Ekip için ortak yol haritası sağlar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206240" cy="1188720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3063240"/>
            <a:ext cx="420624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Analizi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611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Potansiyel sorunları önceden tespit ettirir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04  /  İŞ PLANI YAPISI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98755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Yönetici Özeti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Tüm planın 1 sayfalık özeti -- En son yazılır, en önce okunur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914400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9144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349240" y="98755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Şirket Tanımı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32588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Vizyon, misyon, hukuki yapı, kurucu ekip bilgileri</a:t>
            </a:r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4206240" cy="914400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38528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20116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Pazar Analizi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35000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TAM</a:t>
            </a:r>
            <a:r>
              <a:rPr lang="tr-TR" sz="1200" dirty="0">
                <a:solidFill>
                  <a:schemeClr val="tx2"/>
                </a:solidFill>
              </a:rPr>
              <a:t> (</a:t>
            </a:r>
            <a:r>
              <a:rPr lang="en-US" sz="1200" dirty="0" err="1">
                <a:solidFill>
                  <a:schemeClr val="tx2"/>
                </a:solidFill>
              </a:rPr>
              <a:t>Toplam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Erişilebilir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Pazar</a:t>
            </a:r>
            <a:r>
              <a:rPr lang="tr-TR" sz="1200" dirty="0">
                <a:solidFill>
                  <a:schemeClr val="tx2"/>
                </a:solidFill>
              </a:rPr>
              <a:t>)</a:t>
            </a:r>
            <a:r>
              <a:rPr lang="en-US" sz="1200" dirty="0">
                <a:solidFill>
                  <a:schemeClr val="tx2"/>
                </a:solidFill>
              </a:rPr>
              <a:t>/ SAM</a:t>
            </a:r>
            <a:r>
              <a:rPr lang="tr-TR" sz="1200" dirty="0">
                <a:solidFill>
                  <a:schemeClr val="tx2"/>
                </a:solidFill>
              </a:rPr>
              <a:t> (Hizmet Verilebilir Pazar)</a:t>
            </a:r>
            <a:r>
              <a:rPr lang="en-US" sz="1200" dirty="0">
                <a:solidFill>
                  <a:schemeClr val="tx2"/>
                </a:solidFill>
              </a:rPr>
              <a:t> / SOM </a:t>
            </a:r>
            <a:r>
              <a:rPr lang="en-US" sz="1200" dirty="0" err="1">
                <a:solidFill>
                  <a:schemeClr val="tx2"/>
                </a:solidFill>
              </a:rPr>
              <a:t>modeli</a:t>
            </a:r>
            <a:r>
              <a:rPr lang="tr-TR" sz="1200" dirty="0">
                <a:solidFill>
                  <a:schemeClr val="tx2"/>
                </a:solidFill>
              </a:rPr>
              <a:t> (Elde Edilebilir Pazar)</a:t>
            </a:r>
            <a:r>
              <a:rPr lang="en-US" sz="1200" dirty="0">
                <a:solidFill>
                  <a:schemeClr val="tx2"/>
                </a:solidFill>
              </a:rPr>
              <a:t>, rakip analizi, müşteri profili</a:t>
            </a:r>
          </a:p>
        </p:txBody>
      </p:sp>
      <p:sp>
        <p:nvSpPr>
          <p:cNvPr id="16" name="Shape 14"/>
          <p:cNvSpPr/>
          <p:nvPr/>
        </p:nvSpPr>
        <p:spPr>
          <a:xfrm>
            <a:off x="4754880" y="1938528"/>
            <a:ext cx="4206240" cy="914400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938528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49240" y="201168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Ürün / Hizmet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35000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Değer önerisi, farklılaştırıcı özellikler, teknoloji/IP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2962656"/>
            <a:ext cx="4206240" cy="914400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62656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5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303580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Pazarlama &amp; Satış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37413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Fiyatlandırma, dağıtım, büyüme stratejisi, CAC/LTV</a:t>
            </a:r>
            <a:r>
              <a:rPr lang="tr-TR" sz="1200" dirty="0">
                <a:solidFill>
                  <a:schemeClr val="tx2"/>
                </a:solidFill>
              </a:rPr>
              <a:t> (Müşteri Kazanım Maliyeti/Müşteri Yaşam Boyu Değeri)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2962656"/>
            <a:ext cx="4206240" cy="914400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62656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6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49240" y="303580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Operasyon Planı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337413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Süreçler, ekip yapısı, tedarik zinciri, teknoloji altyapısı</a:t>
            </a:r>
          </a:p>
        </p:txBody>
      </p:sp>
      <p:sp>
        <p:nvSpPr>
          <p:cNvPr id="28" name="Shape 26"/>
          <p:cNvSpPr/>
          <p:nvPr/>
        </p:nvSpPr>
        <p:spPr>
          <a:xfrm>
            <a:off x="320040" y="3986784"/>
            <a:ext cx="42062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986784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05993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Finansal Projeksiyonlar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39826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3-5 yıl P&amp;L</a:t>
            </a:r>
            <a:r>
              <a:rPr lang="tr-TR" sz="1200" dirty="0">
                <a:solidFill>
                  <a:srgbClr val="CADCFC"/>
                </a:solidFill>
              </a:rPr>
              <a:t> (Kar-Zarar Tablosu)</a:t>
            </a:r>
            <a:r>
              <a:rPr lang="en-US" sz="1200" dirty="0">
                <a:solidFill>
                  <a:srgbClr val="CADCFC"/>
                </a:solidFill>
              </a:rPr>
              <a:t>, nakit akışı, başa baş analizi, yatırım talebi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986784"/>
            <a:ext cx="4206240" cy="914400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3" name="Text 31"/>
          <p:cNvSpPr/>
          <p:nvPr/>
        </p:nvSpPr>
        <p:spPr>
          <a:xfrm>
            <a:off x="4846320" y="3986784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8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49240" y="4059936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Risk &amp; Çıkış Stratejisi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439826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Senaryo analizi, pivot planı, M&amp;A</a:t>
            </a:r>
            <a:r>
              <a:rPr lang="tr-TR" sz="1200" dirty="0">
                <a:solidFill>
                  <a:schemeClr val="tx2"/>
                </a:solidFill>
              </a:rPr>
              <a:t> (Birleşme ve Satın Almalar) </a:t>
            </a:r>
            <a:r>
              <a:rPr lang="en-US" sz="1200" dirty="0">
                <a:solidFill>
                  <a:schemeClr val="tx2"/>
                </a:solidFill>
              </a:rPr>
              <a:t>veya halka arz stratejisi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04  /  FİNANSAL MODELLEMENİN TEMELLERİ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Örnek 3 Yıllık Projeksiyon (SaaS Girişimi)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499575"/>
              </p:ext>
            </p:extLst>
          </p:nvPr>
        </p:nvGraphicFramePr>
        <p:xfrm>
          <a:off x="320040" y="1325880"/>
          <a:ext cx="8503920" cy="248716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Kalem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Yıl 1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Yıl 2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Yıl 3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Müşteri Sayısı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380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950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Ortalama Gelir (₺)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2.400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3.000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3.600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Toplam Gelir (₺K)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288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1.140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3.420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Personel Gideri (₺K)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480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840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1.560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Pazarlama (₺K)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480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EBITDA (₺K)</a:t>
                      </a:r>
                      <a:endParaRPr lang="tr-TR" sz="1200" b="1" dirty="0">
                        <a:solidFill>
                          <a:srgbClr val="000000"/>
                        </a:solidFill>
                      </a:endParaRPr>
                    </a:p>
                    <a:p>
                      <a:pPr marL="0" indent="0">
                        <a:buNone/>
                      </a:pPr>
                      <a:r>
                        <a:rPr lang="tr-TR" sz="1200" dirty="0"/>
                        <a:t>(Faiz, Vergi, Amortisman ve İtfa Öncesi Kâr)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-312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+1.380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D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9136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56404"/>
                </a:solidFill>
              </a:rPr>
              <a:t>⚠  Kritik Hatırlatmalar: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6404"/>
                </a:solidFill>
              </a:rPr>
              <a:t>Projeksiyonlar gerçekçi ve savunulabilir varsayımlara dayanmalı  •  Senaryo analizi (iyimser / kötümser / muhtemel) mutlaka yapılmalı  •  Nakit yönetimi gelir tablosundan daha kritiktir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04  /  KRİTİK BAŞARI FAKTÖRLERİ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CB Insights: Startup Başarısızlık Nedenleri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1508760"/>
            <a:ext cx="6858000" cy="41148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508760"/>
            <a:ext cx="288036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74C3C"/>
                </a:solidFill>
              </a:rPr>
              <a:t>42%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20240" y="15544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Pazar Olmadığı İçin Başarısız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2240280"/>
            <a:ext cx="6858000" cy="41148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240280"/>
            <a:ext cx="198882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03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67E22"/>
                </a:solidFill>
              </a:rPr>
              <a:t>29%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0" y="22860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Nakit Tükenmesi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0" y="2971800"/>
            <a:ext cx="6858000" cy="41148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2971800"/>
            <a:ext cx="157734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39C12"/>
                </a:solidFill>
              </a:rPr>
              <a:t>23%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20240" y="3017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Doğru Ekip Yokluğu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28800" y="3703320"/>
            <a:ext cx="6858000" cy="41148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3703320"/>
            <a:ext cx="130302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566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7AE60"/>
                </a:solidFill>
              </a:rPr>
              <a:t>19%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920240" y="3749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Rekabet Sorunları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828800" y="4434840"/>
            <a:ext cx="6858000" cy="41148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4434840"/>
            <a:ext cx="123444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297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A90D9"/>
                </a:solidFill>
              </a:rPr>
              <a:t>18%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920240" y="4480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Fiyatlandırma Hataları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04  /  LEAN STARTUP &amp; PIVOT KAVRAMI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2286000" cy="2286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</a:rPr>
              <a:t>GELİŞTİR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Minimum Viable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Product (MVP</a:t>
            </a:r>
            <a:r>
              <a:rPr lang="tr-TR" sz="1400" dirty="0">
                <a:solidFill>
                  <a:srgbClr val="CADCFC"/>
                </a:solidFill>
              </a:rPr>
              <a:t> - Minimum Uygulanabilir Ürün</a:t>
            </a:r>
            <a:r>
              <a:rPr lang="en-US" sz="1400" dirty="0">
                <a:solidFill>
                  <a:srgbClr val="CADCFC"/>
                </a:solidFill>
              </a:rPr>
              <a:t>)</a:t>
            </a:r>
            <a:r>
              <a:rPr lang="tr-TR" sz="1400" dirty="0">
                <a:solidFill>
                  <a:srgbClr val="CADCFC"/>
                </a:solidFill>
              </a:rPr>
              <a:t>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2103120"/>
            <a:ext cx="10972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2E8F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960120"/>
            <a:ext cx="2286000" cy="22860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</a:rPr>
              <a:t>ÖLÇ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Temel Metrikler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KPI Takibi</a:t>
            </a:r>
          </a:p>
        </p:txBody>
      </p:sp>
      <p:sp>
        <p:nvSpPr>
          <p:cNvPr id="12" name="Shape 10"/>
          <p:cNvSpPr/>
          <p:nvPr/>
        </p:nvSpPr>
        <p:spPr>
          <a:xfrm>
            <a:off x="5669280" y="2103120"/>
            <a:ext cx="10972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2E8F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286000" cy="22860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</a:rPr>
              <a:t>ÖĞREN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1783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Validasyon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chemeClr val="tx2"/>
                </a:solidFill>
              </a:rPr>
              <a:t>Pivot kararı</a:t>
            </a:r>
          </a:p>
        </p:txBody>
      </p:sp>
      <p:sp>
        <p:nvSpPr>
          <p:cNvPr id="17" name="Shape 15"/>
          <p:cNvSpPr/>
          <p:nvPr/>
        </p:nvSpPr>
        <p:spPr>
          <a:xfrm>
            <a:off x="320040" y="3474720"/>
            <a:ext cx="8503920" cy="1371600"/>
          </a:xfrm>
          <a:prstGeom prst="rect">
            <a:avLst/>
          </a:prstGeom>
          <a:solidFill>
            <a:srgbClr val="EE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Eric Ries -- The Lean Startup (2011)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Pivot: </a:t>
            </a:r>
            <a:r>
              <a:rPr lang="en-US" sz="1400" dirty="0">
                <a:solidFill>
                  <a:schemeClr val="tx2"/>
                </a:solidFill>
              </a:rPr>
              <a:t>Temel hipotezi koruyarak stratejik yön değişikliği yapmaktır. Ürünü tamamen terk etmek değil, müşteri geri bildirimlerine dayalı olarak iş modelini optimize etmektir.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TEMEL ÇIKARIMLAR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85800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9601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Girişimcilik öğrenilebilir bir beceridir; yetenek değil, sistem ve disiplindir.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8503920" cy="685800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8308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İş Modeli Kanvası; fikri somutlaştıran, hızlı test etmeye yarayan hayati bir araçtır.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8503920" cy="685800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60604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Pazar araştırması olmadan yazılan iş planı, bir kurgu romanıdır.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3429000"/>
            <a:ext cx="8503920" cy="685800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42900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4290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Nakit akışı sağlıklı tutulmadan büyüme sürdürülemez.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4251960"/>
            <a:ext cx="8503920" cy="685800"/>
          </a:xfrm>
          <a:prstGeom prst="rect">
            <a:avLst/>
          </a:prstGeom>
          <a:solidFill>
            <a:srgbClr val="2B3F8A"/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251960"/>
            <a:ext cx="594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2519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Başarısızlık verisidir. Doğru metodoloji ile öğrenmeye ve pivot'a dönüşür.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2B3F8A"/>
          </a:solidFill>
          <a:ln w="12700">
            <a:solidFill>
              <a:srgbClr val="2B3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B3F8A">
              <a:alpha val="40000"/>
            </a:srgbClr>
          </a:solidFill>
          <a:ln w="12700">
            <a:solidFill>
              <a:srgbClr val="2B3F8A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SORU &amp; TARTIŞMA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</a:rPr>
              <a:t>Vaka çalışması, sorular ve açık tartışma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📚 Önerilen Kaynaklar: </a:t>
            </a:r>
            <a:r>
              <a:rPr lang="en-US" sz="1100" dirty="0">
                <a:solidFill>
                  <a:srgbClr val="CADCFC"/>
                </a:solidFill>
              </a:rPr>
              <a:t>Business Model Generation (Osterwalder)  •  The Lean Startup (Ries)  •  Zero to One (Thiel)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🔗 Araçlar: </a:t>
            </a:r>
            <a:r>
              <a:rPr lang="en-US" sz="1100" dirty="0">
                <a:solidFill>
                  <a:srgbClr val="CADCFC"/>
                </a:solidFill>
              </a:rPr>
              <a:t>Strategyzer.com  •  Canvanizer  •  Lean Canvas  •  KOSGEB Girişimcilik Portalı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40416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Teşekkürler -- Başarılar!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1044</Words>
  <Application>Microsoft Office PowerPoint</Application>
  <PresentationFormat>Ekran Gösterisi (16:9)</PresentationFormat>
  <Paragraphs>266</Paragraphs>
  <Slides>15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8" baseType="lpstr">
      <vt:lpstr>Arial</vt:lpstr>
      <vt:lpstr>Trebuchet MS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Girişimcilik ve İş Modeli, İş Planı Geliştirme</dc:title>
  <dc:subject>PptxGenJS Presentation</dc:subject>
  <dc:creator>PptxGenJS</dc:creator>
  <cp:lastModifiedBy>user</cp:lastModifiedBy>
  <cp:revision>3</cp:revision>
  <dcterms:created xsi:type="dcterms:W3CDTF">2026-03-14T08:09:58Z</dcterms:created>
  <dcterms:modified xsi:type="dcterms:W3CDTF">2026-03-14T08:47:59Z</dcterms:modified>
</cp:coreProperties>
</file>