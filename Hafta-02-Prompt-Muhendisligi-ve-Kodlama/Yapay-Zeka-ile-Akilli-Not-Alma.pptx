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Funnel Sans" panose="020B0604020202020204" charset="0"/>
      <p:regular r:id="rId12"/>
      <p:bold r:id="rId13"/>
      <p:italic r:id="rId14"/>
      <p:boldItalic r:id="rId15"/>
    </p:embeddedFon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Mona Sans" panose="020B0604020202020204" charset="-94"/>
      <p:regular r:id="rId20"/>
      <p:bold r:id="rId21"/>
      <p:italic r:id="rId22"/>
      <p:boldItalic r:id="rId23"/>
    </p:embeddedFont>
    <p:embeddedFont>
      <p:font typeface="Outfit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289E0A-646E-4EA2-92F8-8279DCDB2420}">
  <a:tblStyle styleId="{FC289E0A-646E-4EA2-92F8-8279DCDB24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dc7c744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cdc7c744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65408" y="2597646"/>
            <a:ext cx="9461182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Yapay Zeka ile </a:t>
            </a:r>
            <a:r>
              <a:rPr lang="en-US" sz="54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Akıllı Not Alma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243262" y="3590032"/>
            <a:ext cx="5705400" cy="179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tr-TR" sz="1650" b="0" i="0" u="none" strike="noStrike" cap="none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tr-TR" sz="1650" dirty="0">
              <a:solidFill>
                <a:srgbClr val="94A3B8"/>
              </a:solidFill>
              <a:latin typeface="Inter"/>
              <a:ea typeface="Inter"/>
              <a:cs typeface="Outfit"/>
              <a:sym typeface="Inter"/>
            </a:endParaRPr>
          </a:p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NotebookLM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Eğitmen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Mustafa Biçer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0020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66775" y="160020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Süre &amp; Format: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2 Oturum, Toplam 2 Saat (Online).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66775" y="214312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Hedef Kitle: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Yapay Zeka Akademisi Öğrencileri.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66775" y="2686050"/>
            <a:ext cx="499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Ana Amaç: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NotebookLM aracı ile karmaşık içeriklerden hızlıca analiz ve içgörü üretme yetkinliği kazanmak.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66775" y="3838575"/>
            <a:ext cx="499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Önemli Kazanım: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50 sayfalık bir PDF'i baştan sona okumadan dakikalar içinde kavramak ve sınav özeti çıkarmak.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60972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Eğitime Genel Bakış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81025" y="12001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16192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1621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7051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57625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00200"/>
            <a:ext cx="34861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600200"/>
            <a:ext cx="34861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600200"/>
            <a:ext cx="34861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95475" y="1990725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524000" y="3086100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Hızlı Özetleme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76300" y="35147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Zaman alıcı uzun metinlerden, kitaplardan veya makalelerden anında nokta atışı özetler ve analizler çıkarmak.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67375" y="1990725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4940855" y="3086100"/>
            <a:ext cx="231028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Çoklu Format Analizi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48200" y="3514725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PDF, Word, Web siteleri, YouTube videoları ve ses dosyalarını tek bir projede birleştirerek çapraz sorgulama yapmak.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39275" y="1990725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902779" y="3086100"/>
            <a:ext cx="19302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Güvenilir Yanıtlar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0100" y="3514725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Yapay zekanın halüsinasyon görmesini engelleyerek, tamamen yüklediğiniz kaynaklara dayalı ve referanslı cevaplar almak.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57412" y="22288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81687" y="22288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77400" y="22288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Eğitimin Temel Amaçları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81025" y="12001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00200"/>
            <a:ext cx="11029950" cy="41261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6"/>
          <p:cNvGraphicFramePr/>
          <p:nvPr/>
        </p:nvGraphicFramePr>
        <p:xfrm>
          <a:off x="590550" y="16097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{FC289E0A-646E-4EA2-92F8-8279DCDB2420}</a:tableStyleId>
              </a:tblPr>
              <a:tblGrid>
                <a:gridCol w="235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1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Özellik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Genel Modeller (ChatGPT vb.)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Google NotebookLM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Veri Kaynağı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Tüm internet verileri (Genel Eğitim)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Yalnızca sizin yüklediğiniz belgeler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Halüsinasyon Riski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Orta / Yüksek (Bilgi uydurabilir)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Çok Düşük (Source-grounded mimari)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Referans Gösterme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Genellikle belirsiz veya eksik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Tıklanabilir, satır içi kesin alıntı (Citations)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Temel Odak Alanı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Genel sohbet, kodlama, metin yazarlığı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Kişisel / Akademik belge analizi ve öğrenme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3" name="Google Shape;133;p16"/>
          <p:cNvSpPr/>
          <p:nvPr/>
        </p:nvSpPr>
        <p:spPr>
          <a:xfrm>
            <a:off x="590550" y="2321123"/>
            <a:ext cx="23584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949029" y="2321123"/>
            <a:ext cx="40884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037486" y="2321123"/>
            <a:ext cx="45639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90550" y="3016448"/>
            <a:ext cx="23584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949029" y="3016448"/>
            <a:ext cx="40884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037486" y="3016448"/>
            <a:ext cx="45639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90550" y="3711773"/>
            <a:ext cx="23584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949029" y="3711773"/>
            <a:ext cx="40884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037486" y="3711773"/>
            <a:ext cx="45639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90550" y="4711898"/>
            <a:ext cx="23584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2949029" y="4711898"/>
            <a:ext cx="40884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037486" y="4711898"/>
            <a:ext cx="45639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Standart AI vs. NotebookLM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81025" y="12001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81025" y="581025"/>
            <a:ext cx="519064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NotebookLM Nedir?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81025" y="1200150"/>
            <a:ext cx="4943475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81025" y="160020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Google NotebookLM, yalnızca sizin sağladığınız belgeleri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"uzmanlık alanı"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kabul eden, yeni nesil bir öğrenme asistanıdır.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81025" y="2705100"/>
            <a:ext cx="49434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Geleneksel dil modellerinin aksine dışarıdan bilgi getirmez. Yüklediğiniz akademik makale, ders notu veya web bağlantısına sadık kalır ve her yanıtın yanına kaynağın hangi paragrafından alındığını gösteren referanslar ekler.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81025" y="441960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 "kaynaklandırılmış" (Source-grounded) mimari, üniversite öğrencileri için bilginin güvenilirliğini garanti altına alır.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81025" y="581025"/>
            <a:ext cx="1046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00" b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NotebookLM ile Geleneksel LLM'ler Arasındaki Fark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81025" y="1200150"/>
            <a:ext cx="49434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81024" y="1942750"/>
            <a:ext cx="5804400" cy="7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DDDDDD"/>
                </a:solidFill>
                <a:latin typeface="Mona Sans"/>
                <a:ea typeface="Mona Sans"/>
                <a:cs typeface="Mona Sans"/>
                <a:sym typeface="Mona Sans"/>
              </a:rPr>
              <a:t>Kaynaklandırılmış Modeller (NotebookLM)</a:t>
            </a:r>
            <a:endParaRPr sz="2200" b="0" i="0" u="none" strike="noStrike" cap="none"/>
          </a:p>
        </p:txBody>
      </p:sp>
      <p:sp>
        <p:nvSpPr>
          <p:cNvPr id="166" name="Google Shape;166;p18"/>
          <p:cNvSpPr/>
          <p:nvPr/>
        </p:nvSpPr>
        <p:spPr>
          <a:xfrm>
            <a:off x="581015" y="2933181"/>
            <a:ext cx="35016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750"/>
              <a:buFont typeface="Funnel Sans"/>
              <a:buChar char="•"/>
            </a:pPr>
            <a:r>
              <a:rPr lang="en-US" sz="1750" b="0" i="0" u="none" strike="noStrike" cap="none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Yüklenen dokümanlara dayalı yanıtlar üretir</a:t>
            </a:r>
            <a:endParaRPr sz="1750" b="0" i="0" u="none" strike="noStrike" cap="none"/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750"/>
              <a:buFont typeface="Funnel Sans"/>
              <a:buChar char="•"/>
            </a:pPr>
            <a:r>
              <a:rPr lang="en-US" sz="1750" b="0" i="0" u="none" strike="noStrike" cap="none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Her cevapta referans gösterir</a:t>
            </a:r>
            <a:endParaRPr sz="1750" b="0" i="0" u="none" strike="noStrike" cap="none"/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750"/>
              <a:buFont typeface="Funnel Sans"/>
              <a:buChar char="•"/>
            </a:pPr>
            <a:r>
              <a:rPr lang="en-US" sz="1750" b="0" i="0" u="none" strike="noStrike" cap="none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Kaynak içeriğinden doğrudan alıntı yapar</a:t>
            </a:r>
            <a:endParaRPr sz="1750" b="0" i="0" u="none" strike="noStrike" cap="none"/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750"/>
              <a:buFont typeface="Funnel Sans"/>
              <a:buChar char="•"/>
            </a:pPr>
            <a:r>
              <a:rPr lang="en-US" sz="1750" b="0" i="0" u="none" strike="noStrike" cap="none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Güvenilirlik daha yüksek</a:t>
            </a:r>
            <a:endParaRPr sz="1750" b="0" i="0" u="none" strike="noStrike" cap="none"/>
          </a:p>
        </p:txBody>
      </p:sp>
      <p:sp>
        <p:nvSpPr>
          <p:cNvPr id="167" name="Google Shape;167;p18"/>
          <p:cNvSpPr/>
          <p:nvPr/>
        </p:nvSpPr>
        <p:spPr>
          <a:xfrm>
            <a:off x="6544876" y="1942750"/>
            <a:ext cx="4610400" cy="7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DDDDDD"/>
                </a:solidFill>
                <a:latin typeface="Mona Sans"/>
                <a:ea typeface="Mona Sans"/>
                <a:cs typeface="Mona Sans"/>
                <a:sym typeface="Mona Sans"/>
              </a:rPr>
              <a:t>Geleneksel Büyük Dil Modelleri</a:t>
            </a:r>
            <a:endParaRPr sz="2200" b="0" i="0" u="none" strike="noStrike" cap="none"/>
          </a:p>
        </p:txBody>
      </p:sp>
      <p:sp>
        <p:nvSpPr>
          <p:cNvPr id="168" name="Google Shape;168;p18"/>
          <p:cNvSpPr/>
          <p:nvPr/>
        </p:nvSpPr>
        <p:spPr>
          <a:xfrm>
            <a:off x="6599821" y="2933181"/>
            <a:ext cx="3501600" cy="20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750"/>
              <a:buFont typeface="Funnel Sans"/>
              <a:buChar char="•"/>
            </a:pPr>
            <a:r>
              <a:rPr lang="en-US" sz="1750" b="0" i="0" u="none" strike="noStrike" cap="none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Eğitim verilerinden yanıtlar üretir</a:t>
            </a:r>
            <a:endParaRPr sz="1750" b="0" i="0" u="none" strike="noStrike" cap="none"/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750"/>
              <a:buFont typeface="Funnel Sans"/>
              <a:buChar char="•"/>
            </a:pPr>
            <a:r>
              <a:rPr lang="en-US" sz="1750" b="0" i="0" u="none" strike="noStrike" cap="none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Referans göstermez</a:t>
            </a:r>
            <a:endParaRPr sz="1750" b="0" i="0" u="none" strike="noStrike" cap="none"/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750"/>
              <a:buFont typeface="Funnel Sans"/>
              <a:buChar char="•"/>
            </a:pPr>
            <a:r>
              <a:rPr lang="en-US" sz="1750" b="0" i="0" u="none" strike="noStrike" cap="none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Genel bilgiye dayanır</a:t>
            </a:r>
            <a:endParaRPr sz="1750" b="0" i="0" u="none" strike="noStrike" cap="none"/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750"/>
              <a:buFont typeface="Funnel Sans"/>
              <a:buChar char="•"/>
            </a:pPr>
            <a:r>
              <a:rPr lang="en-US" sz="1750" b="0" i="0" u="none" strike="noStrike" cap="none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Hallusinasyon riski mevcut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00200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600200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600200"/>
            <a:ext cx="34861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493871" y="4219575"/>
            <a:ext cx="366045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PDF ve Dokümanlar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81025" y="4629150"/>
            <a:ext cx="3486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Ders kitapları, makaleler ve notları yükleyin.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265771" y="4219575"/>
            <a:ext cx="366045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Web ve YouTube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352925" y="4629150"/>
            <a:ext cx="3486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Araştırma siteleri ve video linklerini analiz edin.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037671" y="4219575"/>
            <a:ext cx="366045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Ses Dosyaları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124825" y="4629150"/>
            <a:ext cx="3486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Kayıtlı ders seslerini metne döküp özetleyin.</a:t>
            </a:r>
            <a:endParaRPr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" y="1609725"/>
            <a:ext cx="34671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62450" y="1609725"/>
            <a:ext cx="34671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34350" y="1609725"/>
            <a:ext cx="34671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İçerik Ekleme ve Organize Etme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581025" y="12001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>
            <a:off x="581025" y="1600200"/>
            <a:ext cx="9525000" cy="110490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247775" y="1838325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Otomatik SSS Üretimi: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Yüklediğiniz belgelerden, sınavda çıkabilecek olası "Sıkça Sorulan Soruları" ve yanıtlarını tek tıkla oluşturun.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81025" y="2943225"/>
            <a:ext cx="9525000" cy="110490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247775" y="3181350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Çoklu Doküman Okuması: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Farklı yazarların makalelerini aynı anda yükleyerek fikirleri, zıt görüşleri ve ortak noktaları tablo halinde karşılaştırın.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81025" y="4286250"/>
            <a:ext cx="9525000" cy="110490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247775" y="4524375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Süreci Oyunlaştırma: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Ders çalışma materyalinden interaktif testler ve quizler oluşturarak öğrenme motivasyonunu artırın.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81025" y="5629275"/>
            <a:ext cx="9525000" cy="110490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247775" y="5867400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Sesli Öğrenme (Audio Overview):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Okumak yerine dinlemeyi sevenler için, yüklenen belgeleri iki yapay zeka sunucusunun tartıştığı bir podcast formatına dönüştürün.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81025" y="2695575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81025" y="4038600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81025" y="5381625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81025" y="6724650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" y="202882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8675" y="33718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675" y="47148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675" y="60579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Özetleme ve Bilgi Derleme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81025" y="12001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00200"/>
            <a:ext cx="527685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600200"/>
            <a:ext cx="527685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971550" y="1990725"/>
            <a:ext cx="472059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Öğrenciler İçin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971550" y="2466975"/>
            <a:ext cx="4495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Sınav dönemi geldiğinde yüzlerce sayfalık ders notu, slayt ve kitap bölümünü NotebookLM'ye yükleyin. Yapay zekadan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"Bu materyallerden vize sınavı için 10 sayfalık, kavramları vurgulayan bir özet çıkar"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komutu verin. Ardından boşluk doldurma veya çoktan seçmeli quizler talep ederek kendi kendinizi test edin.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724650" y="1990725"/>
            <a:ext cx="472059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Araştırmacılar İçin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724650" y="2466975"/>
            <a:ext cx="4495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Bitirme tezi veya akademik proje aşamasında, konuyla ilgili 20 farklı PDF makalesini aynı deftere ekleyin.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"Bu makalelerde 'Yapay Zeka Etiği' konusunda öne çıkan ortak argümanları çıkar ve yazarlara göre alıntılayarak bir literatür tablosu yap"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diyerek haftalar sürecek araştırmayı saatlere indirin.</a:t>
            </a:r>
            <a:endParaRPr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02882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0288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Gerçek Hayat Senaryoları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581025" y="12001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Widescreen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Funnel Sans</vt:lpstr>
      <vt:lpstr>Outfit</vt:lpstr>
      <vt:lpstr>Calibri</vt:lpstr>
      <vt:lpstr>Inter</vt:lpstr>
      <vt:lpstr>Mona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Ahmet Avcıoğlu</cp:lastModifiedBy>
  <cp:revision>1</cp:revision>
  <dcterms:modified xsi:type="dcterms:W3CDTF">2026-03-10T09:20:05Z</dcterms:modified>
</cp:coreProperties>
</file>