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3"/>
  </p:notesMasterIdLst>
  <p:sldIdLst>
    <p:sldId id="1565" r:id="rId2"/>
    <p:sldId id="1579" r:id="rId3"/>
    <p:sldId id="1566" r:id="rId4"/>
    <p:sldId id="1567" r:id="rId5"/>
    <p:sldId id="1568" r:id="rId6"/>
    <p:sldId id="1569" r:id="rId7"/>
    <p:sldId id="1571" r:id="rId8"/>
    <p:sldId id="1570" r:id="rId9"/>
    <p:sldId id="1580" r:id="rId10"/>
    <p:sldId id="1581" r:id="rId11"/>
    <p:sldId id="1582" r:id="rId12"/>
    <p:sldId id="1583" r:id="rId13"/>
    <p:sldId id="1584" r:id="rId14"/>
    <p:sldId id="1585" r:id="rId15"/>
    <p:sldId id="1586" r:id="rId16"/>
    <p:sldId id="1587" r:id="rId17"/>
    <p:sldId id="1588" r:id="rId18"/>
    <p:sldId id="1589" r:id="rId19"/>
    <p:sldId id="1590" r:id="rId20"/>
    <p:sldId id="1591" r:id="rId21"/>
    <p:sldId id="1592" r:id="rId22"/>
    <p:sldId id="1593" r:id="rId23"/>
    <p:sldId id="1594" r:id="rId24"/>
    <p:sldId id="1595" r:id="rId25"/>
    <p:sldId id="1596" r:id="rId26"/>
    <p:sldId id="1597" r:id="rId27"/>
    <p:sldId id="1598" r:id="rId28"/>
    <p:sldId id="1599" r:id="rId29"/>
    <p:sldId id="1600" r:id="rId30"/>
    <p:sldId id="1601" r:id="rId31"/>
    <p:sldId id="1602" r:id="rId32"/>
    <p:sldId id="1603" r:id="rId33"/>
    <p:sldId id="1604" r:id="rId34"/>
    <p:sldId id="1605" r:id="rId35"/>
    <p:sldId id="1606" r:id="rId36"/>
    <p:sldId id="1607" r:id="rId37"/>
    <p:sldId id="1608" r:id="rId38"/>
    <p:sldId id="1609" r:id="rId39"/>
    <p:sldId id="1610" r:id="rId40"/>
    <p:sldId id="1611" r:id="rId41"/>
    <p:sldId id="1612" r:id="rId42"/>
    <p:sldId id="1613" r:id="rId43"/>
    <p:sldId id="1614" r:id="rId44"/>
    <p:sldId id="1615" r:id="rId45"/>
    <p:sldId id="1616" r:id="rId46"/>
    <p:sldId id="1617" r:id="rId47"/>
    <p:sldId id="1618" r:id="rId48"/>
    <p:sldId id="1619" r:id="rId49"/>
    <p:sldId id="1620" r:id="rId50"/>
    <p:sldId id="1621" r:id="rId51"/>
    <p:sldId id="1622" r:id="rId52"/>
    <p:sldId id="1623" r:id="rId53"/>
    <p:sldId id="1624" r:id="rId54"/>
    <p:sldId id="1625" r:id="rId55"/>
    <p:sldId id="1626" r:id="rId56"/>
    <p:sldId id="1627" r:id="rId57"/>
    <p:sldId id="1628" r:id="rId58"/>
    <p:sldId id="1629" r:id="rId59"/>
    <p:sldId id="1630" r:id="rId60"/>
    <p:sldId id="1631" r:id="rId61"/>
    <p:sldId id="1632" r:id="rId62"/>
    <p:sldId id="1633" r:id="rId63"/>
    <p:sldId id="1634" r:id="rId64"/>
    <p:sldId id="1635" r:id="rId65"/>
    <p:sldId id="1636" r:id="rId66"/>
    <p:sldId id="1637" r:id="rId67"/>
    <p:sldId id="1638" r:id="rId68"/>
    <p:sldId id="1639" r:id="rId69"/>
    <p:sldId id="1640" r:id="rId70"/>
    <p:sldId id="1641" r:id="rId71"/>
    <p:sldId id="1642" r:id="rId72"/>
    <p:sldId id="1643" r:id="rId73"/>
    <p:sldId id="1644" r:id="rId74"/>
    <p:sldId id="1645" r:id="rId75"/>
    <p:sldId id="1646" r:id="rId76"/>
    <p:sldId id="1647" r:id="rId77"/>
    <p:sldId id="1648" r:id="rId78"/>
    <p:sldId id="1649" r:id="rId79"/>
    <p:sldId id="1650" r:id="rId80"/>
    <p:sldId id="1651" r:id="rId81"/>
    <p:sldId id="1652" r:id="rId82"/>
    <p:sldId id="1653" r:id="rId83"/>
    <p:sldId id="1654" r:id="rId84"/>
    <p:sldId id="1655" r:id="rId85"/>
    <p:sldId id="1656" r:id="rId86"/>
    <p:sldId id="1657" r:id="rId87"/>
    <p:sldId id="1658" r:id="rId88"/>
    <p:sldId id="1659" r:id="rId89"/>
    <p:sldId id="1660" r:id="rId90"/>
    <p:sldId id="1661" r:id="rId91"/>
    <p:sldId id="1662" r:id="rId92"/>
    <p:sldId id="1663" r:id="rId93"/>
    <p:sldId id="1664" r:id="rId94"/>
    <p:sldId id="1665" r:id="rId95"/>
    <p:sldId id="1666" r:id="rId96"/>
    <p:sldId id="1667" r:id="rId97"/>
    <p:sldId id="1668" r:id="rId98"/>
    <p:sldId id="1669" r:id="rId99"/>
    <p:sldId id="1670" r:id="rId100"/>
    <p:sldId id="1671" r:id="rId101"/>
    <p:sldId id="1672" r:id="rId102"/>
    <p:sldId id="1673" r:id="rId103"/>
    <p:sldId id="1674" r:id="rId104"/>
    <p:sldId id="1675" r:id="rId105"/>
    <p:sldId id="1676" r:id="rId106"/>
    <p:sldId id="1677" r:id="rId107"/>
    <p:sldId id="1678" r:id="rId108"/>
    <p:sldId id="1679" r:id="rId109"/>
    <p:sldId id="1680" r:id="rId110"/>
    <p:sldId id="1578" r:id="rId111"/>
    <p:sldId id="351" r:id="rId112"/>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822" autoAdjust="0"/>
  </p:normalViewPr>
  <p:slideViewPr>
    <p:cSldViewPr snapToGrid="0">
      <p:cViewPr varScale="1">
        <p:scale>
          <a:sx n="79" d="100"/>
          <a:sy n="79" d="100"/>
        </p:scale>
        <p:origin x="802" y="72"/>
      </p:cViewPr>
      <p:guideLst/>
    </p:cSldViewPr>
  </p:slideViewPr>
  <p:notesTextViewPr>
    <p:cViewPr>
      <p:scale>
        <a:sx n="1" d="1"/>
        <a:sy n="1" d="1"/>
      </p:scale>
      <p:origin x="0" y="0"/>
    </p:cViewPr>
  </p:notesTextViewPr>
  <p:sorterViewPr>
    <p:cViewPr varScale="1">
      <p:scale>
        <a:sx n="100" d="100"/>
        <a:sy n="100" d="100"/>
      </p:scale>
      <p:origin x="0" y="-338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4B644-9170-4302-B672-AE206B0602B5}" type="datetimeFigureOut">
              <a:rPr lang="tr-TR" smtClean="0"/>
              <a:t>15.04.2026</a:t>
            </a:fld>
            <a:endParaRPr lang="tr-TR"/>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6419DB-028D-4903-B338-8B0705B20A95}" type="slidenum">
              <a:rPr lang="tr-TR" smtClean="0"/>
              <a:t>‹#›</a:t>
            </a:fld>
            <a:endParaRPr lang="tr-TR"/>
          </a:p>
        </p:txBody>
      </p:sp>
    </p:spTree>
    <p:extLst>
      <p:ext uri="{BB962C8B-B14F-4D97-AF65-F5344CB8AC3E}">
        <p14:creationId xmlns:p14="http://schemas.microsoft.com/office/powerpoint/2010/main" val="694354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398D8-7943-42AE-CFA8-97FD447663D6}"/>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1156855-01A2-0720-49C3-9D5E80E2E8D9}"/>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B2CD3D74-5310-B7A4-E57E-D73D92E6C0A1}"/>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294CE096-89B8-9F20-8FB5-C2608B64E15F}"/>
              </a:ext>
            </a:extLst>
          </p:cNvPr>
          <p:cNvSpPr>
            <a:spLocks noGrp="1"/>
          </p:cNvSpPr>
          <p:nvPr>
            <p:ph type="sldNum" sz="quarter" idx="5"/>
          </p:nvPr>
        </p:nvSpPr>
        <p:spPr/>
        <p:txBody>
          <a:bodyPr/>
          <a:lstStyle/>
          <a:p>
            <a:fld id="{996419DB-028D-4903-B338-8B0705B20A95}" type="slidenum">
              <a:rPr lang="tr-TR" smtClean="0"/>
              <a:t>1</a:t>
            </a:fld>
            <a:endParaRPr lang="tr-TR"/>
          </a:p>
        </p:txBody>
      </p:sp>
    </p:spTree>
    <p:extLst>
      <p:ext uri="{BB962C8B-B14F-4D97-AF65-F5344CB8AC3E}">
        <p14:creationId xmlns:p14="http://schemas.microsoft.com/office/powerpoint/2010/main" val="3463378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6419DB-028D-4903-B338-8B0705B20A95}" type="slidenum">
              <a:rPr lang="tr-TR" smtClean="0"/>
              <a:t>45</a:t>
            </a:fld>
            <a:endParaRPr lang="tr-TR"/>
          </a:p>
        </p:txBody>
      </p:sp>
    </p:spTree>
    <p:extLst>
      <p:ext uri="{BB962C8B-B14F-4D97-AF65-F5344CB8AC3E}">
        <p14:creationId xmlns:p14="http://schemas.microsoft.com/office/powerpoint/2010/main" val="2751781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41D17-6011-69EA-5DF0-9E112715B61A}"/>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EC8B5BEE-1A9D-1167-32FB-A965CDE0948A}"/>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E51E7BF0-7E53-5BCB-70EA-50DC8C2F40A6}"/>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731C6AAB-58A4-2D68-4A49-09E89B76EBCD}"/>
              </a:ext>
            </a:extLst>
          </p:cNvPr>
          <p:cNvSpPr>
            <a:spLocks noGrp="1"/>
          </p:cNvSpPr>
          <p:nvPr>
            <p:ph type="sldNum" sz="quarter" idx="5"/>
          </p:nvPr>
        </p:nvSpPr>
        <p:spPr/>
        <p:txBody>
          <a:bodyPr/>
          <a:lstStyle/>
          <a:p>
            <a:fld id="{996419DB-028D-4903-B338-8B0705B20A95}" type="slidenum">
              <a:rPr lang="tr-TR" smtClean="0"/>
              <a:t>46</a:t>
            </a:fld>
            <a:endParaRPr lang="tr-TR"/>
          </a:p>
        </p:txBody>
      </p:sp>
    </p:spTree>
    <p:extLst>
      <p:ext uri="{BB962C8B-B14F-4D97-AF65-F5344CB8AC3E}">
        <p14:creationId xmlns:p14="http://schemas.microsoft.com/office/powerpoint/2010/main" val="1109346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B9285-F9D6-78F9-9DDE-4D5597E64B6E}"/>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D81EEAE-4304-DFCC-EBB7-329FA6EDFD3E}"/>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FF73D613-1CF5-1AF0-8A54-843DE2F4FC47}"/>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54C94A59-39F7-2166-5447-40C3EF683649}"/>
              </a:ext>
            </a:extLst>
          </p:cNvPr>
          <p:cNvSpPr>
            <a:spLocks noGrp="1"/>
          </p:cNvSpPr>
          <p:nvPr>
            <p:ph type="sldNum" sz="quarter" idx="5"/>
          </p:nvPr>
        </p:nvSpPr>
        <p:spPr/>
        <p:txBody>
          <a:bodyPr/>
          <a:lstStyle/>
          <a:p>
            <a:fld id="{996419DB-028D-4903-B338-8B0705B20A95}" type="slidenum">
              <a:rPr lang="tr-TR" smtClean="0"/>
              <a:t>47</a:t>
            </a:fld>
            <a:endParaRPr lang="tr-TR"/>
          </a:p>
        </p:txBody>
      </p:sp>
    </p:spTree>
    <p:extLst>
      <p:ext uri="{BB962C8B-B14F-4D97-AF65-F5344CB8AC3E}">
        <p14:creationId xmlns:p14="http://schemas.microsoft.com/office/powerpoint/2010/main" val="729800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F1D26-5023-15E2-6732-332F5BDE56F3}"/>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347A46AE-FE9A-A467-79BB-9C9280033426}"/>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ED6A77CC-8B45-CE06-FA83-F5F7BD02AFAE}"/>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49F01513-8D13-AB39-02F9-76A9DF12A040}"/>
              </a:ext>
            </a:extLst>
          </p:cNvPr>
          <p:cNvSpPr>
            <a:spLocks noGrp="1"/>
          </p:cNvSpPr>
          <p:nvPr>
            <p:ph type="sldNum" sz="quarter" idx="5"/>
          </p:nvPr>
        </p:nvSpPr>
        <p:spPr/>
        <p:txBody>
          <a:bodyPr/>
          <a:lstStyle/>
          <a:p>
            <a:fld id="{996419DB-028D-4903-B338-8B0705B20A95}" type="slidenum">
              <a:rPr lang="tr-TR" smtClean="0"/>
              <a:t>48</a:t>
            </a:fld>
            <a:endParaRPr lang="tr-TR"/>
          </a:p>
        </p:txBody>
      </p:sp>
    </p:spTree>
    <p:extLst>
      <p:ext uri="{BB962C8B-B14F-4D97-AF65-F5344CB8AC3E}">
        <p14:creationId xmlns:p14="http://schemas.microsoft.com/office/powerpoint/2010/main" val="3695826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2AD87-B5D9-FC53-1A94-10E39FB76F11}"/>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DAA497B6-2F19-BB40-CE2E-39BAA174233F}"/>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6CD447E4-4EC8-83BA-96FD-767C2891D3A1}"/>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BA9C4E0A-7922-A1AC-8B3F-6711720B6AD6}"/>
              </a:ext>
            </a:extLst>
          </p:cNvPr>
          <p:cNvSpPr>
            <a:spLocks noGrp="1"/>
          </p:cNvSpPr>
          <p:nvPr>
            <p:ph type="sldNum" sz="quarter" idx="5"/>
          </p:nvPr>
        </p:nvSpPr>
        <p:spPr/>
        <p:txBody>
          <a:bodyPr/>
          <a:lstStyle/>
          <a:p>
            <a:fld id="{996419DB-028D-4903-B338-8B0705B20A95}" type="slidenum">
              <a:rPr lang="tr-TR" smtClean="0"/>
              <a:t>49</a:t>
            </a:fld>
            <a:endParaRPr lang="tr-TR"/>
          </a:p>
        </p:txBody>
      </p:sp>
    </p:spTree>
    <p:extLst>
      <p:ext uri="{BB962C8B-B14F-4D97-AF65-F5344CB8AC3E}">
        <p14:creationId xmlns:p14="http://schemas.microsoft.com/office/powerpoint/2010/main" val="85889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C2E08-0D7C-F6DE-A447-F6C7E05343E2}"/>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B707FF6B-73D5-B040-C094-3A8E3A2C0557}"/>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8627237E-9DAF-63C6-5627-EB83F0146FD0}"/>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649A6235-A16D-D002-76A6-A42AC64ABCA4}"/>
              </a:ext>
            </a:extLst>
          </p:cNvPr>
          <p:cNvSpPr>
            <a:spLocks noGrp="1"/>
          </p:cNvSpPr>
          <p:nvPr>
            <p:ph type="sldNum" sz="quarter" idx="5"/>
          </p:nvPr>
        </p:nvSpPr>
        <p:spPr/>
        <p:txBody>
          <a:bodyPr/>
          <a:lstStyle/>
          <a:p>
            <a:fld id="{996419DB-028D-4903-B338-8B0705B20A95}" type="slidenum">
              <a:rPr lang="tr-TR" smtClean="0"/>
              <a:t>50</a:t>
            </a:fld>
            <a:endParaRPr lang="tr-TR"/>
          </a:p>
        </p:txBody>
      </p:sp>
    </p:spTree>
    <p:extLst>
      <p:ext uri="{BB962C8B-B14F-4D97-AF65-F5344CB8AC3E}">
        <p14:creationId xmlns:p14="http://schemas.microsoft.com/office/powerpoint/2010/main" val="2692022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3A92A-67EA-D188-9155-A10F4126321A}"/>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73DC74E3-50E7-AC90-9897-00CCC225E2EC}"/>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CEAEA2AB-21C6-FE89-4820-C8A3F037E4AB}"/>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DA8DFBD5-A05D-4923-2693-666F2701859B}"/>
              </a:ext>
            </a:extLst>
          </p:cNvPr>
          <p:cNvSpPr>
            <a:spLocks noGrp="1"/>
          </p:cNvSpPr>
          <p:nvPr>
            <p:ph type="sldNum" sz="quarter" idx="5"/>
          </p:nvPr>
        </p:nvSpPr>
        <p:spPr/>
        <p:txBody>
          <a:bodyPr/>
          <a:lstStyle/>
          <a:p>
            <a:fld id="{996419DB-028D-4903-B338-8B0705B20A95}" type="slidenum">
              <a:rPr lang="tr-TR" smtClean="0"/>
              <a:t>51</a:t>
            </a:fld>
            <a:endParaRPr lang="tr-TR"/>
          </a:p>
        </p:txBody>
      </p:sp>
    </p:spTree>
    <p:extLst>
      <p:ext uri="{BB962C8B-B14F-4D97-AF65-F5344CB8AC3E}">
        <p14:creationId xmlns:p14="http://schemas.microsoft.com/office/powerpoint/2010/main" val="3723199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48FC5-2C43-44F4-9AC5-8D7A8A367393}"/>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8A8885A9-E630-E4E9-86A1-E77B478C8C15}"/>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CD293BE3-2F4C-2E4E-FD13-85A9936C06C8}"/>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0F625710-A1E0-7EFD-2AB9-B483DA3F0636}"/>
              </a:ext>
            </a:extLst>
          </p:cNvPr>
          <p:cNvSpPr>
            <a:spLocks noGrp="1"/>
          </p:cNvSpPr>
          <p:nvPr>
            <p:ph type="sldNum" sz="quarter" idx="5"/>
          </p:nvPr>
        </p:nvSpPr>
        <p:spPr/>
        <p:txBody>
          <a:bodyPr/>
          <a:lstStyle/>
          <a:p>
            <a:fld id="{996419DB-028D-4903-B338-8B0705B20A95}" type="slidenum">
              <a:rPr lang="tr-TR" smtClean="0"/>
              <a:t>52</a:t>
            </a:fld>
            <a:endParaRPr lang="tr-TR"/>
          </a:p>
        </p:txBody>
      </p:sp>
    </p:spTree>
    <p:extLst>
      <p:ext uri="{BB962C8B-B14F-4D97-AF65-F5344CB8AC3E}">
        <p14:creationId xmlns:p14="http://schemas.microsoft.com/office/powerpoint/2010/main" val="1573299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B3795-F6D6-11A9-F6E0-1394B5761C40}"/>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A2A4B469-1902-886E-8E0A-E1630113DADB}"/>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5E4D2BEB-1652-73F3-A498-8FB95C9BFD04}"/>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4123C9A2-7FD3-8E5A-1E55-8470667D0323}"/>
              </a:ext>
            </a:extLst>
          </p:cNvPr>
          <p:cNvSpPr>
            <a:spLocks noGrp="1"/>
          </p:cNvSpPr>
          <p:nvPr>
            <p:ph type="sldNum" sz="quarter" idx="5"/>
          </p:nvPr>
        </p:nvSpPr>
        <p:spPr/>
        <p:txBody>
          <a:bodyPr/>
          <a:lstStyle/>
          <a:p>
            <a:fld id="{996419DB-028D-4903-B338-8B0705B20A95}" type="slidenum">
              <a:rPr lang="tr-TR" smtClean="0"/>
              <a:t>53</a:t>
            </a:fld>
            <a:endParaRPr lang="tr-TR"/>
          </a:p>
        </p:txBody>
      </p:sp>
    </p:spTree>
    <p:extLst>
      <p:ext uri="{BB962C8B-B14F-4D97-AF65-F5344CB8AC3E}">
        <p14:creationId xmlns:p14="http://schemas.microsoft.com/office/powerpoint/2010/main" val="41528619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50B60-AD75-929A-7D4B-1BE9B625AC03}"/>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8B95535C-EE1A-05CF-B9CE-394F9EC1DC68}"/>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0B153027-F124-9C08-89A1-B737A1000C00}"/>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F38DE0BA-6A8E-252D-DDD0-CC33AF8CC6E3}"/>
              </a:ext>
            </a:extLst>
          </p:cNvPr>
          <p:cNvSpPr>
            <a:spLocks noGrp="1"/>
          </p:cNvSpPr>
          <p:nvPr>
            <p:ph type="sldNum" sz="quarter" idx="5"/>
          </p:nvPr>
        </p:nvSpPr>
        <p:spPr/>
        <p:txBody>
          <a:bodyPr/>
          <a:lstStyle/>
          <a:p>
            <a:fld id="{996419DB-028D-4903-B338-8B0705B20A95}" type="slidenum">
              <a:rPr lang="tr-TR" smtClean="0"/>
              <a:t>54</a:t>
            </a:fld>
            <a:endParaRPr lang="tr-TR"/>
          </a:p>
        </p:txBody>
      </p:sp>
    </p:spTree>
    <p:extLst>
      <p:ext uri="{BB962C8B-B14F-4D97-AF65-F5344CB8AC3E}">
        <p14:creationId xmlns:p14="http://schemas.microsoft.com/office/powerpoint/2010/main" val="3056135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E120F-9AB1-DA50-E1F1-2364281C5CC3}"/>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9E5AAB15-94F9-A31D-BB8B-85DE19940C01}"/>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934753AD-6C59-238E-B1B5-B1FD1282891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B687AD9F-DE04-2281-EF95-0E18506386BA}"/>
              </a:ext>
            </a:extLst>
          </p:cNvPr>
          <p:cNvSpPr>
            <a:spLocks noGrp="1"/>
          </p:cNvSpPr>
          <p:nvPr>
            <p:ph type="sldNum" sz="quarter" idx="5"/>
          </p:nvPr>
        </p:nvSpPr>
        <p:spPr/>
        <p:txBody>
          <a:bodyPr/>
          <a:lstStyle/>
          <a:p>
            <a:fld id="{996419DB-028D-4903-B338-8B0705B20A95}" type="slidenum">
              <a:rPr lang="tr-TR" smtClean="0"/>
              <a:t>55</a:t>
            </a:fld>
            <a:endParaRPr lang="tr-TR"/>
          </a:p>
        </p:txBody>
      </p:sp>
    </p:spTree>
    <p:extLst>
      <p:ext uri="{BB962C8B-B14F-4D97-AF65-F5344CB8AC3E}">
        <p14:creationId xmlns:p14="http://schemas.microsoft.com/office/powerpoint/2010/main" val="10816141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CE546-CEF6-C3A2-C3E8-8C3522F36E41}"/>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A783946D-0C92-A271-1965-98B300708D12}"/>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DF07EF34-13B6-1417-46B3-9C1340FA2DAD}"/>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B27B2927-7886-1DD9-23C6-8735815FFCE5}"/>
              </a:ext>
            </a:extLst>
          </p:cNvPr>
          <p:cNvSpPr>
            <a:spLocks noGrp="1"/>
          </p:cNvSpPr>
          <p:nvPr>
            <p:ph type="sldNum" sz="quarter" idx="5"/>
          </p:nvPr>
        </p:nvSpPr>
        <p:spPr/>
        <p:txBody>
          <a:bodyPr/>
          <a:lstStyle/>
          <a:p>
            <a:fld id="{996419DB-028D-4903-B338-8B0705B20A95}" type="slidenum">
              <a:rPr lang="tr-TR" smtClean="0"/>
              <a:t>56</a:t>
            </a:fld>
            <a:endParaRPr lang="tr-TR"/>
          </a:p>
        </p:txBody>
      </p:sp>
    </p:spTree>
    <p:extLst>
      <p:ext uri="{BB962C8B-B14F-4D97-AF65-F5344CB8AC3E}">
        <p14:creationId xmlns:p14="http://schemas.microsoft.com/office/powerpoint/2010/main" val="14835991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9C6AD-08CA-497B-B9D6-409D63CF7B3B}"/>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4C141113-3E1D-9755-A5C1-F665E8758C9A}"/>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060831EF-9C61-3806-9FB0-009B9E4C5D0C}"/>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B5674B06-A362-CFE6-6E1F-0BAF90094B6C}"/>
              </a:ext>
            </a:extLst>
          </p:cNvPr>
          <p:cNvSpPr>
            <a:spLocks noGrp="1"/>
          </p:cNvSpPr>
          <p:nvPr>
            <p:ph type="sldNum" sz="quarter" idx="5"/>
          </p:nvPr>
        </p:nvSpPr>
        <p:spPr/>
        <p:txBody>
          <a:bodyPr/>
          <a:lstStyle/>
          <a:p>
            <a:fld id="{996419DB-028D-4903-B338-8B0705B20A95}" type="slidenum">
              <a:rPr lang="tr-TR" smtClean="0"/>
              <a:t>57</a:t>
            </a:fld>
            <a:endParaRPr lang="tr-TR"/>
          </a:p>
        </p:txBody>
      </p:sp>
    </p:spTree>
    <p:extLst>
      <p:ext uri="{BB962C8B-B14F-4D97-AF65-F5344CB8AC3E}">
        <p14:creationId xmlns:p14="http://schemas.microsoft.com/office/powerpoint/2010/main" val="5390290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BDEFD-7601-FEFC-38BD-E9D2EA7C0582}"/>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A5BCDC7-4828-4508-B805-88AA58F8B4A6}"/>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71F872FB-1DB2-291D-B274-33F2D19A173F}"/>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FF30C1BB-6E84-BDFD-818E-DC07FB40F7CE}"/>
              </a:ext>
            </a:extLst>
          </p:cNvPr>
          <p:cNvSpPr>
            <a:spLocks noGrp="1"/>
          </p:cNvSpPr>
          <p:nvPr>
            <p:ph type="sldNum" sz="quarter" idx="5"/>
          </p:nvPr>
        </p:nvSpPr>
        <p:spPr/>
        <p:txBody>
          <a:bodyPr/>
          <a:lstStyle/>
          <a:p>
            <a:fld id="{996419DB-028D-4903-B338-8B0705B20A95}" type="slidenum">
              <a:rPr lang="tr-TR" smtClean="0"/>
              <a:t>58</a:t>
            </a:fld>
            <a:endParaRPr lang="tr-TR"/>
          </a:p>
        </p:txBody>
      </p:sp>
    </p:spTree>
    <p:extLst>
      <p:ext uri="{BB962C8B-B14F-4D97-AF65-F5344CB8AC3E}">
        <p14:creationId xmlns:p14="http://schemas.microsoft.com/office/powerpoint/2010/main" val="5816095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EEE49-8A2A-E8F8-E2FE-01A6E421355B}"/>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AE99C951-3E04-D62D-3DB2-89FF5E7D75D2}"/>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E1CFE8F3-EC1C-3E7F-EFB0-A280BCFB7EAA}"/>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35DE4856-01BA-A68A-700C-B6C0A1E458F7}"/>
              </a:ext>
            </a:extLst>
          </p:cNvPr>
          <p:cNvSpPr>
            <a:spLocks noGrp="1"/>
          </p:cNvSpPr>
          <p:nvPr>
            <p:ph type="sldNum" sz="quarter" idx="5"/>
          </p:nvPr>
        </p:nvSpPr>
        <p:spPr/>
        <p:txBody>
          <a:bodyPr/>
          <a:lstStyle/>
          <a:p>
            <a:fld id="{996419DB-028D-4903-B338-8B0705B20A95}" type="slidenum">
              <a:rPr lang="tr-TR" smtClean="0"/>
              <a:t>59</a:t>
            </a:fld>
            <a:endParaRPr lang="tr-TR"/>
          </a:p>
        </p:txBody>
      </p:sp>
    </p:spTree>
    <p:extLst>
      <p:ext uri="{BB962C8B-B14F-4D97-AF65-F5344CB8AC3E}">
        <p14:creationId xmlns:p14="http://schemas.microsoft.com/office/powerpoint/2010/main" val="38805328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95066-9E4C-43DB-7CD3-02BBCB3D003C}"/>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EF2D799-1906-625F-B835-592328B12EB8}"/>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0E2C0C6E-4B07-0A34-19EB-079E34D448B1}"/>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67429C86-57AD-F1E5-4154-F80E4B9F6688}"/>
              </a:ext>
            </a:extLst>
          </p:cNvPr>
          <p:cNvSpPr>
            <a:spLocks noGrp="1"/>
          </p:cNvSpPr>
          <p:nvPr>
            <p:ph type="sldNum" sz="quarter" idx="5"/>
          </p:nvPr>
        </p:nvSpPr>
        <p:spPr/>
        <p:txBody>
          <a:bodyPr/>
          <a:lstStyle/>
          <a:p>
            <a:fld id="{996419DB-028D-4903-B338-8B0705B20A95}" type="slidenum">
              <a:rPr lang="tr-TR" smtClean="0"/>
              <a:t>60</a:t>
            </a:fld>
            <a:endParaRPr lang="tr-TR"/>
          </a:p>
        </p:txBody>
      </p:sp>
    </p:spTree>
    <p:extLst>
      <p:ext uri="{BB962C8B-B14F-4D97-AF65-F5344CB8AC3E}">
        <p14:creationId xmlns:p14="http://schemas.microsoft.com/office/powerpoint/2010/main" val="13016097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7DC09-E072-FC10-3630-3346B0C266B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AF41343F-1000-CF2B-C0AF-094277406E1B}"/>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CDB4F89B-1794-1E5B-D56C-89D0180214E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B3EFA720-45E5-583E-24E8-592D3F296ADB}"/>
              </a:ext>
            </a:extLst>
          </p:cNvPr>
          <p:cNvSpPr>
            <a:spLocks noGrp="1"/>
          </p:cNvSpPr>
          <p:nvPr>
            <p:ph type="sldNum" sz="quarter" idx="5"/>
          </p:nvPr>
        </p:nvSpPr>
        <p:spPr/>
        <p:txBody>
          <a:bodyPr/>
          <a:lstStyle/>
          <a:p>
            <a:fld id="{996419DB-028D-4903-B338-8B0705B20A95}" type="slidenum">
              <a:rPr lang="tr-TR" smtClean="0"/>
              <a:t>61</a:t>
            </a:fld>
            <a:endParaRPr lang="tr-TR"/>
          </a:p>
        </p:txBody>
      </p:sp>
    </p:spTree>
    <p:extLst>
      <p:ext uri="{BB962C8B-B14F-4D97-AF65-F5344CB8AC3E}">
        <p14:creationId xmlns:p14="http://schemas.microsoft.com/office/powerpoint/2010/main" val="3784702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85B83-B36B-9796-0770-99561457BB72}"/>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D83FB8D3-440A-51C6-D8DD-0AB73DF25F40}"/>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AC62F208-6D4A-5643-29B9-0D6F891E3F7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DDA5119E-8797-6D90-D31A-B47F91D545C9}"/>
              </a:ext>
            </a:extLst>
          </p:cNvPr>
          <p:cNvSpPr>
            <a:spLocks noGrp="1"/>
          </p:cNvSpPr>
          <p:nvPr>
            <p:ph type="sldNum" sz="quarter" idx="5"/>
          </p:nvPr>
        </p:nvSpPr>
        <p:spPr/>
        <p:txBody>
          <a:bodyPr/>
          <a:lstStyle/>
          <a:p>
            <a:fld id="{996419DB-028D-4903-B338-8B0705B20A95}" type="slidenum">
              <a:rPr lang="tr-TR" smtClean="0"/>
              <a:t>62</a:t>
            </a:fld>
            <a:endParaRPr lang="tr-TR"/>
          </a:p>
        </p:txBody>
      </p:sp>
    </p:spTree>
    <p:extLst>
      <p:ext uri="{BB962C8B-B14F-4D97-AF65-F5344CB8AC3E}">
        <p14:creationId xmlns:p14="http://schemas.microsoft.com/office/powerpoint/2010/main" val="22312286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0BD99-0319-E900-8135-4E6285ED367E}"/>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0F6CE6AA-5037-9B89-24C5-ABF658FE6A27}"/>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442F7E4B-D651-9F8E-C7F6-F22B633B0F7F}"/>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6DA6675F-9EC4-6606-298E-600ED374D264}"/>
              </a:ext>
            </a:extLst>
          </p:cNvPr>
          <p:cNvSpPr>
            <a:spLocks noGrp="1"/>
          </p:cNvSpPr>
          <p:nvPr>
            <p:ph type="sldNum" sz="quarter" idx="5"/>
          </p:nvPr>
        </p:nvSpPr>
        <p:spPr/>
        <p:txBody>
          <a:bodyPr/>
          <a:lstStyle/>
          <a:p>
            <a:fld id="{996419DB-028D-4903-B338-8B0705B20A95}" type="slidenum">
              <a:rPr lang="tr-TR" smtClean="0"/>
              <a:t>63</a:t>
            </a:fld>
            <a:endParaRPr lang="tr-TR"/>
          </a:p>
        </p:txBody>
      </p:sp>
    </p:spTree>
    <p:extLst>
      <p:ext uri="{BB962C8B-B14F-4D97-AF65-F5344CB8AC3E}">
        <p14:creationId xmlns:p14="http://schemas.microsoft.com/office/powerpoint/2010/main" val="36949801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2F7E7-7C09-1B87-0B0F-2E82C713E903}"/>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40303FAF-1B8E-33E5-FC14-30E1EFEF42BD}"/>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DC08CEF3-F3AD-F8C6-AB86-80A15FD147E6}"/>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8D9D6BE6-26E9-B398-A68D-A4656E5E22B2}"/>
              </a:ext>
            </a:extLst>
          </p:cNvPr>
          <p:cNvSpPr>
            <a:spLocks noGrp="1"/>
          </p:cNvSpPr>
          <p:nvPr>
            <p:ph type="sldNum" sz="quarter" idx="5"/>
          </p:nvPr>
        </p:nvSpPr>
        <p:spPr/>
        <p:txBody>
          <a:bodyPr/>
          <a:lstStyle/>
          <a:p>
            <a:fld id="{996419DB-028D-4903-B338-8B0705B20A95}" type="slidenum">
              <a:rPr lang="tr-TR" smtClean="0"/>
              <a:t>64</a:t>
            </a:fld>
            <a:endParaRPr lang="tr-TR"/>
          </a:p>
        </p:txBody>
      </p:sp>
    </p:spTree>
    <p:extLst>
      <p:ext uri="{BB962C8B-B14F-4D97-AF65-F5344CB8AC3E}">
        <p14:creationId xmlns:p14="http://schemas.microsoft.com/office/powerpoint/2010/main" val="14297646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4E105-3E6D-A858-12A4-AED3478699F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E9759433-069D-5695-994C-FAD7FB8AC7A5}"/>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E4851556-7317-7EE6-D4AA-27ACB11B1AD5}"/>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92246E95-99DD-937A-5B9F-DE516E6B90A9}"/>
              </a:ext>
            </a:extLst>
          </p:cNvPr>
          <p:cNvSpPr>
            <a:spLocks noGrp="1"/>
          </p:cNvSpPr>
          <p:nvPr>
            <p:ph type="sldNum" sz="quarter" idx="5"/>
          </p:nvPr>
        </p:nvSpPr>
        <p:spPr/>
        <p:txBody>
          <a:bodyPr/>
          <a:lstStyle/>
          <a:p>
            <a:fld id="{996419DB-028D-4903-B338-8B0705B20A95}" type="slidenum">
              <a:rPr lang="tr-TR" smtClean="0"/>
              <a:t>65</a:t>
            </a:fld>
            <a:endParaRPr lang="tr-TR"/>
          </a:p>
        </p:txBody>
      </p:sp>
    </p:spTree>
    <p:extLst>
      <p:ext uri="{BB962C8B-B14F-4D97-AF65-F5344CB8AC3E}">
        <p14:creationId xmlns:p14="http://schemas.microsoft.com/office/powerpoint/2010/main" val="39021762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CF2AC-AF1C-5159-24FC-A8A457D7DB2B}"/>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94C53884-930E-D98A-177B-D8B8E79C8E0C}"/>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64504CE9-3E33-8B44-94FA-B1D8AB13D394}"/>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D7E61581-B7BB-0FD6-16D2-6BF14DD72991}"/>
              </a:ext>
            </a:extLst>
          </p:cNvPr>
          <p:cNvSpPr>
            <a:spLocks noGrp="1"/>
          </p:cNvSpPr>
          <p:nvPr>
            <p:ph type="sldNum" sz="quarter" idx="5"/>
          </p:nvPr>
        </p:nvSpPr>
        <p:spPr/>
        <p:txBody>
          <a:bodyPr/>
          <a:lstStyle/>
          <a:p>
            <a:fld id="{996419DB-028D-4903-B338-8B0705B20A95}" type="slidenum">
              <a:rPr lang="tr-TR" smtClean="0"/>
              <a:t>66</a:t>
            </a:fld>
            <a:endParaRPr lang="tr-TR"/>
          </a:p>
        </p:txBody>
      </p:sp>
    </p:spTree>
    <p:extLst>
      <p:ext uri="{BB962C8B-B14F-4D97-AF65-F5344CB8AC3E}">
        <p14:creationId xmlns:p14="http://schemas.microsoft.com/office/powerpoint/2010/main" val="29543930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9163E-7232-2976-00EC-25042375BEF7}"/>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76D9F67-4D4B-09AD-ACC2-6E0D2FF627F0}"/>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DFD9A850-90D4-7F3D-197E-18561C11C8BE}"/>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02F2A1A9-8A4D-F760-C7AC-20EF5451876E}"/>
              </a:ext>
            </a:extLst>
          </p:cNvPr>
          <p:cNvSpPr>
            <a:spLocks noGrp="1"/>
          </p:cNvSpPr>
          <p:nvPr>
            <p:ph type="sldNum" sz="quarter" idx="5"/>
          </p:nvPr>
        </p:nvSpPr>
        <p:spPr/>
        <p:txBody>
          <a:bodyPr/>
          <a:lstStyle/>
          <a:p>
            <a:fld id="{996419DB-028D-4903-B338-8B0705B20A95}" type="slidenum">
              <a:rPr lang="tr-TR" smtClean="0"/>
              <a:t>67</a:t>
            </a:fld>
            <a:endParaRPr lang="tr-TR"/>
          </a:p>
        </p:txBody>
      </p:sp>
    </p:spTree>
    <p:extLst>
      <p:ext uri="{BB962C8B-B14F-4D97-AF65-F5344CB8AC3E}">
        <p14:creationId xmlns:p14="http://schemas.microsoft.com/office/powerpoint/2010/main" val="15670053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64D40-E8FF-D625-715C-FAE53A49011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5BB4C35-6EAB-B3DB-F8AB-411D2EBC1C8A}"/>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1216D86D-2D0D-D087-2DA6-3A5435C0E84B}"/>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26E7DBBA-DFD2-12F0-5CAF-C514433E5FE1}"/>
              </a:ext>
            </a:extLst>
          </p:cNvPr>
          <p:cNvSpPr>
            <a:spLocks noGrp="1"/>
          </p:cNvSpPr>
          <p:nvPr>
            <p:ph type="sldNum" sz="quarter" idx="5"/>
          </p:nvPr>
        </p:nvSpPr>
        <p:spPr/>
        <p:txBody>
          <a:bodyPr/>
          <a:lstStyle/>
          <a:p>
            <a:fld id="{996419DB-028D-4903-B338-8B0705B20A95}" type="slidenum">
              <a:rPr lang="tr-TR" smtClean="0"/>
              <a:t>68</a:t>
            </a:fld>
            <a:endParaRPr lang="tr-TR"/>
          </a:p>
        </p:txBody>
      </p:sp>
    </p:spTree>
    <p:extLst>
      <p:ext uri="{BB962C8B-B14F-4D97-AF65-F5344CB8AC3E}">
        <p14:creationId xmlns:p14="http://schemas.microsoft.com/office/powerpoint/2010/main" val="42833557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E77E3-D3D0-C9CF-5B58-274C2D9DD5DB}"/>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41B641E6-E071-3A33-3B5E-BB6C131EF76C}"/>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9D335A64-A8DB-3E7D-C2CB-00E2FC7725ED}"/>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9A7FBE7C-4DE0-06D1-BC5E-C5C3A4E19D17}"/>
              </a:ext>
            </a:extLst>
          </p:cNvPr>
          <p:cNvSpPr>
            <a:spLocks noGrp="1"/>
          </p:cNvSpPr>
          <p:nvPr>
            <p:ph type="sldNum" sz="quarter" idx="5"/>
          </p:nvPr>
        </p:nvSpPr>
        <p:spPr/>
        <p:txBody>
          <a:bodyPr/>
          <a:lstStyle/>
          <a:p>
            <a:fld id="{996419DB-028D-4903-B338-8B0705B20A95}" type="slidenum">
              <a:rPr lang="tr-TR" smtClean="0"/>
              <a:t>69</a:t>
            </a:fld>
            <a:endParaRPr lang="tr-TR"/>
          </a:p>
        </p:txBody>
      </p:sp>
    </p:spTree>
    <p:extLst>
      <p:ext uri="{BB962C8B-B14F-4D97-AF65-F5344CB8AC3E}">
        <p14:creationId xmlns:p14="http://schemas.microsoft.com/office/powerpoint/2010/main" val="2828814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EEFC8-32F5-E94D-903E-854219C569A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4B5B8F91-4EE7-76E2-E273-857704AC6C48}"/>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8235BA75-F7E0-202C-55F2-6A0F77C60D63}"/>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2D52B185-DBCB-85F8-D2EB-A2743640EDCD}"/>
              </a:ext>
            </a:extLst>
          </p:cNvPr>
          <p:cNvSpPr>
            <a:spLocks noGrp="1"/>
          </p:cNvSpPr>
          <p:nvPr>
            <p:ph type="sldNum" sz="quarter" idx="5"/>
          </p:nvPr>
        </p:nvSpPr>
        <p:spPr/>
        <p:txBody>
          <a:bodyPr/>
          <a:lstStyle/>
          <a:p>
            <a:fld id="{996419DB-028D-4903-B338-8B0705B20A95}" type="slidenum">
              <a:rPr lang="tr-TR" smtClean="0"/>
              <a:t>70</a:t>
            </a:fld>
            <a:endParaRPr lang="tr-TR"/>
          </a:p>
        </p:txBody>
      </p:sp>
    </p:spTree>
    <p:extLst>
      <p:ext uri="{BB962C8B-B14F-4D97-AF65-F5344CB8AC3E}">
        <p14:creationId xmlns:p14="http://schemas.microsoft.com/office/powerpoint/2010/main" val="33883396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673AF-D4C5-C7D5-32FB-C78B09151975}"/>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CDD65E78-7F04-33D8-C145-29D0BE135C8E}"/>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1985848-DB6F-574F-0B4C-09D696DD1FBC}"/>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9F01DE7C-A33F-9C48-101C-C9302400DE02}"/>
              </a:ext>
            </a:extLst>
          </p:cNvPr>
          <p:cNvSpPr>
            <a:spLocks noGrp="1"/>
          </p:cNvSpPr>
          <p:nvPr>
            <p:ph type="sldNum" sz="quarter" idx="5"/>
          </p:nvPr>
        </p:nvSpPr>
        <p:spPr/>
        <p:txBody>
          <a:bodyPr/>
          <a:lstStyle/>
          <a:p>
            <a:fld id="{996419DB-028D-4903-B338-8B0705B20A95}" type="slidenum">
              <a:rPr lang="tr-TR" smtClean="0"/>
              <a:t>71</a:t>
            </a:fld>
            <a:endParaRPr lang="tr-TR"/>
          </a:p>
        </p:txBody>
      </p:sp>
    </p:spTree>
    <p:extLst>
      <p:ext uri="{BB962C8B-B14F-4D97-AF65-F5344CB8AC3E}">
        <p14:creationId xmlns:p14="http://schemas.microsoft.com/office/powerpoint/2010/main" val="31812924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4518B-5833-2261-9D32-8A61FEE1092C}"/>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6A4ACF2C-FF09-8B38-806D-CDC15B5A1985}"/>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D7DF52D-1B26-BE66-6FE0-293A2ABDF90C}"/>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E66F6EC6-557F-0DE4-0DB9-06CE02864D8B}"/>
              </a:ext>
            </a:extLst>
          </p:cNvPr>
          <p:cNvSpPr>
            <a:spLocks noGrp="1"/>
          </p:cNvSpPr>
          <p:nvPr>
            <p:ph type="sldNum" sz="quarter" idx="5"/>
          </p:nvPr>
        </p:nvSpPr>
        <p:spPr/>
        <p:txBody>
          <a:bodyPr/>
          <a:lstStyle/>
          <a:p>
            <a:fld id="{996419DB-028D-4903-B338-8B0705B20A95}" type="slidenum">
              <a:rPr lang="tr-TR" smtClean="0"/>
              <a:t>72</a:t>
            </a:fld>
            <a:endParaRPr lang="tr-TR"/>
          </a:p>
        </p:txBody>
      </p:sp>
    </p:spTree>
    <p:extLst>
      <p:ext uri="{BB962C8B-B14F-4D97-AF65-F5344CB8AC3E}">
        <p14:creationId xmlns:p14="http://schemas.microsoft.com/office/powerpoint/2010/main" val="3839673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D2242-7BDF-CC73-EA78-46C39457A4AE}"/>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3174539D-249A-A3E4-5F18-CD832368B782}"/>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1036CEC5-6DE2-4173-3C95-721A5A8F4AF3}"/>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F8BD2008-0909-9FC6-EC4F-054EB2F7552D}"/>
              </a:ext>
            </a:extLst>
          </p:cNvPr>
          <p:cNvSpPr>
            <a:spLocks noGrp="1"/>
          </p:cNvSpPr>
          <p:nvPr>
            <p:ph type="sldNum" sz="quarter" idx="5"/>
          </p:nvPr>
        </p:nvSpPr>
        <p:spPr/>
        <p:txBody>
          <a:bodyPr/>
          <a:lstStyle/>
          <a:p>
            <a:fld id="{996419DB-028D-4903-B338-8B0705B20A95}" type="slidenum">
              <a:rPr lang="tr-TR" smtClean="0"/>
              <a:t>73</a:t>
            </a:fld>
            <a:endParaRPr lang="tr-TR"/>
          </a:p>
        </p:txBody>
      </p:sp>
    </p:spTree>
    <p:extLst>
      <p:ext uri="{BB962C8B-B14F-4D97-AF65-F5344CB8AC3E}">
        <p14:creationId xmlns:p14="http://schemas.microsoft.com/office/powerpoint/2010/main" val="30447888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AC0EE-B50B-07F1-6E74-03FBF42F7105}"/>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B375DCDB-D65D-AFA0-7DF1-7DDD9A45DBAB}"/>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999C0A4F-882B-1B27-55D9-F5DBD49A286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046F9FEF-8924-55E4-FC9C-9B5E1B310E17}"/>
              </a:ext>
            </a:extLst>
          </p:cNvPr>
          <p:cNvSpPr>
            <a:spLocks noGrp="1"/>
          </p:cNvSpPr>
          <p:nvPr>
            <p:ph type="sldNum" sz="quarter" idx="5"/>
          </p:nvPr>
        </p:nvSpPr>
        <p:spPr/>
        <p:txBody>
          <a:bodyPr/>
          <a:lstStyle/>
          <a:p>
            <a:fld id="{996419DB-028D-4903-B338-8B0705B20A95}" type="slidenum">
              <a:rPr lang="tr-TR" smtClean="0"/>
              <a:t>74</a:t>
            </a:fld>
            <a:endParaRPr lang="tr-TR"/>
          </a:p>
        </p:txBody>
      </p:sp>
    </p:spTree>
    <p:extLst>
      <p:ext uri="{BB962C8B-B14F-4D97-AF65-F5344CB8AC3E}">
        <p14:creationId xmlns:p14="http://schemas.microsoft.com/office/powerpoint/2010/main" val="24583626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30B8E-FD10-B009-3129-115062CC401A}"/>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9ACDF0C6-B1E7-8E75-3762-6C84CC7879C6}"/>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AE52D647-7268-E6D6-F1A7-C15F7B51A05D}"/>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7484E254-F642-9BF3-CC4F-22A32BE4DF3F}"/>
              </a:ext>
            </a:extLst>
          </p:cNvPr>
          <p:cNvSpPr>
            <a:spLocks noGrp="1"/>
          </p:cNvSpPr>
          <p:nvPr>
            <p:ph type="sldNum" sz="quarter" idx="5"/>
          </p:nvPr>
        </p:nvSpPr>
        <p:spPr/>
        <p:txBody>
          <a:bodyPr/>
          <a:lstStyle/>
          <a:p>
            <a:fld id="{996419DB-028D-4903-B338-8B0705B20A95}" type="slidenum">
              <a:rPr lang="tr-TR" smtClean="0"/>
              <a:t>75</a:t>
            </a:fld>
            <a:endParaRPr lang="tr-TR"/>
          </a:p>
        </p:txBody>
      </p:sp>
    </p:spTree>
    <p:extLst>
      <p:ext uri="{BB962C8B-B14F-4D97-AF65-F5344CB8AC3E}">
        <p14:creationId xmlns:p14="http://schemas.microsoft.com/office/powerpoint/2010/main" val="30946284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89B50-7987-384C-BD0D-180E79EF1722}"/>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4717E8D5-1676-F628-2A88-1E8C1C7D85E7}"/>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A240491E-2EE6-F47A-EB83-8A5BF9E18FAB}"/>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ECB79F9A-6DD3-DBE3-E231-1BBFEA7C628E}"/>
              </a:ext>
            </a:extLst>
          </p:cNvPr>
          <p:cNvSpPr>
            <a:spLocks noGrp="1"/>
          </p:cNvSpPr>
          <p:nvPr>
            <p:ph type="sldNum" sz="quarter" idx="5"/>
          </p:nvPr>
        </p:nvSpPr>
        <p:spPr/>
        <p:txBody>
          <a:bodyPr/>
          <a:lstStyle/>
          <a:p>
            <a:fld id="{996419DB-028D-4903-B338-8B0705B20A95}" type="slidenum">
              <a:rPr lang="tr-TR" smtClean="0"/>
              <a:t>76</a:t>
            </a:fld>
            <a:endParaRPr lang="tr-TR"/>
          </a:p>
        </p:txBody>
      </p:sp>
    </p:spTree>
    <p:extLst>
      <p:ext uri="{BB962C8B-B14F-4D97-AF65-F5344CB8AC3E}">
        <p14:creationId xmlns:p14="http://schemas.microsoft.com/office/powerpoint/2010/main" val="42794264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8BDFF-CBAA-9D56-3739-8A71F197EC7C}"/>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7E866571-CBFB-0716-20C0-C2A2661BAD73}"/>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71F14F29-D668-DA44-FAFC-890BF91DA4C4}"/>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FE5433A1-C601-E266-7CE7-0331ACECFB06}"/>
              </a:ext>
            </a:extLst>
          </p:cNvPr>
          <p:cNvSpPr>
            <a:spLocks noGrp="1"/>
          </p:cNvSpPr>
          <p:nvPr>
            <p:ph type="sldNum" sz="quarter" idx="5"/>
          </p:nvPr>
        </p:nvSpPr>
        <p:spPr/>
        <p:txBody>
          <a:bodyPr/>
          <a:lstStyle/>
          <a:p>
            <a:fld id="{996419DB-028D-4903-B338-8B0705B20A95}" type="slidenum">
              <a:rPr lang="tr-TR" smtClean="0"/>
              <a:t>77</a:t>
            </a:fld>
            <a:endParaRPr lang="tr-TR"/>
          </a:p>
        </p:txBody>
      </p:sp>
    </p:spTree>
    <p:extLst>
      <p:ext uri="{BB962C8B-B14F-4D97-AF65-F5344CB8AC3E}">
        <p14:creationId xmlns:p14="http://schemas.microsoft.com/office/powerpoint/2010/main" val="36903453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1C4C9-C1F8-4FC0-BCBF-9527DDC70CF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FFC4CBF-8E47-4D43-5A81-93F2A141E932}"/>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CDF41B81-81D2-9882-708F-556C54F57357}"/>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8EFD9BFF-EED9-C247-8C95-BB2DFC167CB3}"/>
              </a:ext>
            </a:extLst>
          </p:cNvPr>
          <p:cNvSpPr>
            <a:spLocks noGrp="1"/>
          </p:cNvSpPr>
          <p:nvPr>
            <p:ph type="sldNum" sz="quarter" idx="5"/>
          </p:nvPr>
        </p:nvSpPr>
        <p:spPr/>
        <p:txBody>
          <a:bodyPr/>
          <a:lstStyle/>
          <a:p>
            <a:fld id="{996419DB-028D-4903-B338-8B0705B20A95}" type="slidenum">
              <a:rPr lang="tr-TR" smtClean="0"/>
              <a:t>78</a:t>
            </a:fld>
            <a:endParaRPr lang="tr-TR"/>
          </a:p>
        </p:txBody>
      </p:sp>
    </p:spTree>
    <p:extLst>
      <p:ext uri="{BB962C8B-B14F-4D97-AF65-F5344CB8AC3E}">
        <p14:creationId xmlns:p14="http://schemas.microsoft.com/office/powerpoint/2010/main" val="12922698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9081D-BCE8-DB3B-E590-B7FFC9365719}"/>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48E3063C-8713-4FCC-7EAD-C5C3A5B9C4BD}"/>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54063149-BF11-7C69-3D3E-446B7D2FB3E6}"/>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99BDB699-95D9-774B-264A-2140BCC691DC}"/>
              </a:ext>
            </a:extLst>
          </p:cNvPr>
          <p:cNvSpPr>
            <a:spLocks noGrp="1"/>
          </p:cNvSpPr>
          <p:nvPr>
            <p:ph type="sldNum" sz="quarter" idx="5"/>
          </p:nvPr>
        </p:nvSpPr>
        <p:spPr/>
        <p:txBody>
          <a:bodyPr/>
          <a:lstStyle/>
          <a:p>
            <a:fld id="{996419DB-028D-4903-B338-8B0705B20A95}" type="slidenum">
              <a:rPr lang="tr-TR" smtClean="0"/>
              <a:t>79</a:t>
            </a:fld>
            <a:endParaRPr lang="tr-TR"/>
          </a:p>
        </p:txBody>
      </p:sp>
    </p:spTree>
    <p:extLst>
      <p:ext uri="{BB962C8B-B14F-4D97-AF65-F5344CB8AC3E}">
        <p14:creationId xmlns:p14="http://schemas.microsoft.com/office/powerpoint/2010/main" val="5513730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52E77-B57D-CBF0-DC61-C8569719F40C}"/>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606B01A0-00C6-C4F7-F78A-347EF269D980}"/>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AD7D7337-CD7F-87CA-70B9-75EBE0B38F7B}"/>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FA1DF9A9-19B4-5748-305E-3A8F1EA378D6}"/>
              </a:ext>
            </a:extLst>
          </p:cNvPr>
          <p:cNvSpPr>
            <a:spLocks noGrp="1"/>
          </p:cNvSpPr>
          <p:nvPr>
            <p:ph type="sldNum" sz="quarter" idx="5"/>
          </p:nvPr>
        </p:nvSpPr>
        <p:spPr/>
        <p:txBody>
          <a:bodyPr/>
          <a:lstStyle/>
          <a:p>
            <a:fld id="{996419DB-028D-4903-B338-8B0705B20A95}" type="slidenum">
              <a:rPr lang="tr-TR" smtClean="0"/>
              <a:t>80</a:t>
            </a:fld>
            <a:endParaRPr lang="tr-TR"/>
          </a:p>
        </p:txBody>
      </p:sp>
    </p:spTree>
    <p:extLst>
      <p:ext uri="{BB962C8B-B14F-4D97-AF65-F5344CB8AC3E}">
        <p14:creationId xmlns:p14="http://schemas.microsoft.com/office/powerpoint/2010/main" val="6442880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2427B-DAF4-7B73-DFE8-E35B71073B71}"/>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7B892F64-5E1C-5F5E-B464-803ABBC8FBA7}"/>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9F5E125A-30EF-09B8-6A09-4822BDBB89C8}"/>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4469286B-226B-8733-0750-8264AF126811}"/>
              </a:ext>
            </a:extLst>
          </p:cNvPr>
          <p:cNvSpPr>
            <a:spLocks noGrp="1"/>
          </p:cNvSpPr>
          <p:nvPr>
            <p:ph type="sldNum" sz="quarter" idx="5"/>
          </p:nvPr>
        </p:nvSpPr>
        <p:spPr/>
        <p:txBody>
          <a:bodyPr/>
          <a:lstStyle/>
          <a:p>
            <a:fld id="{996419DB-028D-4903-B338-8B0705B20A95}" type="slidenum">
              <a:rPr lang="tr-TR" smtClean="0"/>
              <a:t>81</a:t>
            </a:fld>
            <a:endParaRPr lang="tr-TR"/>
          </a:p>
        </p:txBody>
      </p:sp>
    </p:spTree>
    <p:extLst>
      <p:ext uri="{BB962C8B-B14F-4D97-AF65-F5344CB8AC3E}">
        <p14:creationId xmlns:p14="http://schemas.microsoft.com/office/powerpoint/2010/main" val="38835917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3FD46-BBDC-A695-25E2-A0D9BED0C619}"/>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BA93AF52-C150-085A-8818-6A0227FB60EF}"/>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76ECB48F-668C-9F13-028C-4D1A68C26C4D}"/>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911AEE09-10D3-7D56-3246-B03DD394F96F}"/>
              </a:ext>
            </a:extLst>
          </p:cNvPr>
          <p:cNvSpPr>
            <a:spLocks noGrp="1"/>
          </p:cNvSpPr>
          <p:nvPr>
            <p:ph type="sldNum" sz="quarter" idx="5"/>
          </p:nvPr>
        </p:nvSpPr>
        <p:spPr/>
        <p:txBody>
          <a:bodyPr/>
          <a:lstStyle/>
          <a:p>
            <a:fld id="{996419DB-028D-4903-B338-8B0705B20A95}" type="slidenum">
              <a:rPr lang="tr-TR" smtClean="0"/>
              <a:t>82</a:t>
            </a:fld>
            <a:endParaRPr lang="tr-TR"/>
          </a:p>
        </p:txBody>
      </p:sp>
    </p:spTree>
    <p:extLst>
      <p:ext uri="{BB962C8B-B14F-4D97-AF65-F5344CB8AC3E}">
        <p14:creationId xmlns:p14="http://schemas.microsoft.com/office/powerpoint/2010/main" val="42745881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B978A-C895-EDD4-3AE2-929C29396C0C}"/>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563666A7-268E-7E7D-0C8C-C2227639714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CE086743-68D1-DA6D-330C-D82E85D05E46}"/>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50CE4E70-D2D2-A19C-6EA7-D4CD66ED8A43}"/>
              </a:ext>
            </a:extLst>
          </p:cNvPr>
          <p:cNvSpPr>
            <a:spLocks noGrp="1"/>
          </p:cNvSpPr>
          <p:nvPr>
            <p:ph type="sldNum" sz="quarter" idx="5"/>
          </p:nvPr>
        </p:nvSpPr>
        <p:spPr/>
        <p:txBody>
          <a:bodyPr/>
          <a:lstStyle/>
          <a:p>
            <a:fld id="{996419DB-028D-4903-B338-8B0705B20A95}" type="slidenum">
              <a:rPr lang="tr-TR" smtClean="0"/>
              <a:t>83</a:t>
            </a:fld>
            <a:endParaRPr lang="tr-TR"/>
          </a:p>
        </p:txBody>
      </p:sp>
    </p:spTree>
    <p:extLst>
      <p:ext uri="{BB962C8B-B14F-4D97-AF65-F5344CB8AC3E}">
        <p14:creationId xmlns:p14="http://schemas.microsoft.com/office/powerpoint/2010/main" val="3244600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DF7F0-FB74-A512-B9DF-D74F677A5038}"/>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A3515F26-5469-490A-FB6A-EE4D71C190BE}"/>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26745770-CF14-A437-9D48-2ED89FCCE858}"/>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4CD76814-1E15-EB91-9AF0-8B0A6E42FFD3}"/>
              </a:ext>
            </a:extLst>
          </p:cNvPr>
          <p:cNvSpPr>
            <a:spLocks noGrp="1"/>
          </p:cNvSpPr>
          <p:nvPr>
            <p:ph type="sldNum" sz="quarter" idx="5"/>
          </p:nvPr>
        </p:nvSpPr>
        <p:spPr/>
        <p:txBody>
          <a:bodyPr/>
          <a:lstStyle/>
          <a:p>
            <a:fld id="{996419DB-028D-4903-B338-8B0705B20A95}" type="slidenum">
              <a:rPr lang="tr-TR" smtClean="0"/>
              <a:t>84</a:t>
            </a:fld>
            <a:endParaRPr lang="tr-TR"/>
          </a:p>
        </p:txBody>
      </p:sp>
    </p:spTree>
    <p:extLst>
      <p:ext uri="{BB962C8B-B14F-4D97-AF65-F5344CB8AC3E}">
        <p14:creationId xmlns:p14="http://schemas.microsoft.com/office/powerpoint/2010/main" val="12874948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D2E81-7429-48D9-880D-25A32E76AD67}"/>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08353CE8-BA1C-2F10-F6CC-2A51BB53BE5C}"/>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05590B2A-411D-8684-CDE1-E8611B40B7B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42EE5680-38AD-5F2C-33D3-E49F518E4872}"/>
              </a:ext>
            </a:extLst>
          </p:cNvPr>
          <p:cNvSpPr>
            <a:spLocks noGrp="1"/>
          </p:cNvSpPr>
          <p:nvPr>
            <p:ph type="sldNum" sz="quarter" idx="5"/>
          </p:nvPr>
        </p:nvSpPr>
        <p:spPr/>
        <p:txBody>
          <a:bodyPr/>
          <a:lstStyle/>
          <a:p>
            <a:fld id="{996419DB-028D-4903-B338-8B0705B20A95}" type="slidenum">
              <a:rPr lang="tr-TR" smtClean="0"/>
              <a:t>85</a:t>
            </a:fld>
            <a:endParaRPr lang="tr-TR"/>
          </a:p>
        </p:txBody>
      </p:sp>
    </p:spTree>
    <p:extLst>
      <p:ext uri="{BB962C8B-B14F-4D97-AF65-F5344CB8AC3E}">
        <p14:creationId xmlns:p14="http://schemas.microsoft.com/office/powerpoint/2010/main" val="23108523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34BA8-BC72-0381-24D5-A97D7437F4AF}"/>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6B2D8A26-BC75-F145-46A1-6BE33AB14C3D}"/>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C5FB31D2-34CA-7601-1EBE-00BCF92458D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4DB901E3-168E-0EA6-B4A0-21F9E3089CAE}"/>
              </a:ext>
            </a:extLst>
          </p:cNvPr>
          <p:cNvSpPr>
            <a:spLocks noGrp="1"/>
          </p:cNvSpPr>
          <p:nvPr>
            <p:ph type="sldNum" sz="quarter" idx="5"/>
          </p:nvPr>
        </p:nvSpPr>
        <p:spPr/>
        <p:txBody>
          <a:bodyPr/>
          <a:lstStyle/>
          <a:p>
            <a:fld id="{996419DB-028D-4903-B338-8B0705B20A95}" type="slidenum">
              <a:rPr lang="tr-TR" smtClean="0"/>
              <a:t>86</a:t>
            </a:fld>
            <a:endParaRPr lang="tr-TR"/>
          </a:p>
        </p:txBody>
      </p:sp>
    </p:spTree>
    <p:extLst>
      <p:ext uri="{BB962C8B-B14F-4D97-AF65-F5344CB8AC3E}">
        <p14:creationId xmlns:p14="http://schemas.microsoft.com/office/powerpoint/2010/main" val="35925570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1B305-0408-E2E6-A24F-4DCE4FA6AB43}"/>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E8835DD9-E920-6E12-B5FB-024639D3778E}"/>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2CC406D0-81D0-204E-E000-DFE0DBB0493C}"/>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692B88D3-ACB7-01AB-847A-1F639B941523}"/>
              </a:ext>
            </a:extLst>
          </p:cNvPr>
          <p:cNvSpPr>
            <a:spLocks noGrp="1"/>
          </p:cNvSpPr>
          <p:nvPr>
            <p:ph type="sldNum" sz="quarter" idx="5"/>
          </p:nvPr>
        </p:nvSpPr>
        <p:spPr/>
        <p:txBody>
          <a:bodyPr/>
          <a:lstStyle/>
          <a:p>
            <a:fld id="{996419DB-028D-4903-B338-8B0705B20A95}" type="slidenum">
              <a:rPr lang="tr-TR" smtClean="0"/>
              <a:t>87</a:t>
            </a:fld>
            <a:endParaRPr lang="tr-TR"/>
          </a:p>
        </p:txBody>
      </p:sp>
    </p:spTree>
    <p:extLst>
      <p:ext uri="{BB962C8B-B14F-4D97-AF65-F5344CB8AC3E}">
        <p14:creationId xmlns:p14="http://schemas.microsoft.com/office/powerpoint/2010/main" val="36235357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5F8EF-1784-DDB0-5C60-B942A1ACEE50}"/>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5B33E4D5-176A-3FB7-C7EC-3CEC8E906897}"/>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27A3992-4823-D5ED-1572-F826E13ECF2D}"/>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EC104870-99B3-6455-DACF-FAD930DD929C}"/>
              </a:ext>
            </a:extLst>
          </p:cNvPr>
          <p:cNvSpPr>
            <a:spLocks noGrp="1"/>
          </p:cNvSpPr>
          <p:nvPr>
            <p:ph type="sldNum" sz="quarter" idx="5"/>
          </p:nvPr>
        </p:nvSpPr>
        <p:spPr/>
        <p:txBody>
          <a:bodyPr/>
          <a:lstStyle/>
          <a:p>
            <a:fld id="{996419DB-028D-4903-B338-8B0705B20A95}" type="slidenum">
              <a:rPr lang="tr-TR" smtClean="0"/>
              <a:t>88</a:t>
            </a:fld>
            <a:endParaRPr lang="tr-TR"/>
          </a:p>
        </p:txBody>
      </p:sp>
    </p:spTree>
    <p:extLst>
      <p:ext uri="{BB962C8B-B14F-4D97-AF65-F5344CB8AC3E}">
        <p14:creationId xmlns:p14="http://schemas.microsoft.com/office/powerpoint/2010/main" val="19977004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29462-378D-C88E-337D-004891A2AC6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41B67354-971F-5C21-120E-821F91C5A45F}"/>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5AA545B2-BF56-1489-E1E6-57E026268115}"/>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D72D6C49-34CB-EA08-0360-4ECDE9882154}"/>
              </a:ext>
            </a:extLst>
          </p:cNvPr>
          <p:cNvSpPr>
            <a:spLocks noGrp="1"/>
          </p:cNvSpPr>
          <p:nvPr>
            <p:ph type="sldNum" sz="quarter" idx="5"/>
          </p:nvPr>
        </p:nvSpPr>
        <p:spPr/>
        <p:txBody>
          <a:bodyPr/>
          <a:lstStyle/>
          <a:p>
            <a:fld id="{996419DB-028D-4903-B338-8B0705B20A95}" type="slidenum">
              <a:rPr lang="tr-TR" smtClean="0"/>
              <a:t>89</a:t>
            </a:fld>
            <a:endParaRPr lang="tr-TR"/>
          </a:p>
        </p:txBody>
      </p:sp>
    </p:spTree>
    <p:extLst>
      <p:ext uri="{BB962C8B-B14F-4D97-AF65-F5344CB8AC3E}">
        <p14:creationId xmlns:p14="http://schemas.microsoft.com/office/powerpoint/2010/main" val="16998178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33303-4B0E-5DB4-23B2-BE3E65EB74C5}"/>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0D733151-D13C-DEFF-8157-89FF4896694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887356EA-86B5-E807-26AD-37D7DC6D8248}"/>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6177B914-7DF7-108B-E5DE-1DB981487D6D}"/>
              </a:ext>
            </a:extLst>
          </p:cNvPr>
          <p:cNvSpPr>
            <a:spLocks noGrp="1"/>
          </p:cNvSpPr>
          <p:nvPr>
            <p:ph type="sldNum" sz="quarter" idx="5"/>
          </p:nvPr>
        </p:nvSpPr>
        <p:spPr/>
        <p:txBody>
          <a:bodyPr/>
          <a:lstStyle/>
          <a:p>
            <a:fld id="{996419DB-028D-4903-B338-8B0705B20A95}" type="slidenum">
              <a:rPr lang="tr-TR" smtClean="0"/>
              <a:t>90</a:t>
            </a:fld>
            <a:endParaRPr lang="tr-TR"/>
          </a:p>
        </p:txBody>
      </p:sp>
    </p:spTree>
    <p:extLst>
      <p:ext uri="{BB962C8B-B14F-4D97-AF65-F5344CB8AC3E}">
        <p14:creationId xmlns:p14="http://schemas.microsoft.com/office/powerpoint/2010/main" val="15942322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BC580-AEFB-BD8D-A115-B2E4503EA845}"/>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286A7BFF-0144-1C84-FA8A-3C799CEC68EF}"/>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50491494-07A4-9906-C900-1EB2D529DD40}"/>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05299A88-332C-1FE3-1026-3917A00E154C}"/>
              </a:ext>
            </a:extLst>
          </p:cNvPr>
          <p:cNvSpPr>
            <a:spLocks noGrp="1"/>
          </p:cNvSpPr>
          <p:nvPr>
            <p:ph type="sldNum" sz="quarter" idx="5"/>
          </p:nvPr>
        </p:nvSpPr>
        <p:spPr/>
        <p:txBody>
          <a:bodyPr/>
          <a:lstStyle/>
          <a:p>
            <a:fld id="{996419DB-028D-4903-B338-8B0705B20A95}" type="slidenum">
              <a:rPr lang="tr-TR" smtClean="0"/>
              <a:t>91</a:t>
            </a:fld>
            <a:endParaRPr lang="tr-TR"/>
          </a:p>
        </p:txBody>
      </p:sp>
    </p:spTree>
    <p:extLst>
      <p:ext uri="{BB962C8B-B14F-4D97-AF65-F5344CB8AC3E}">
        <p14:creationId xmlns:p14="http://schemas.microsoft.com/office/powerpoint/2010/main" val="12548535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692E3-2105-D09E-289C-AF0069ED9BCF}"/>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6B5772BE-FA11-B979-F659-FFED6F9F639A}"/>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6201903-6290-7E2A-6AE3-2EA33D5A811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294714E9-ADFE-77BF-3EB8-3090E087F10E}"/>
              </a:ext>
            </a:extLst>
          </p:cNvPr>
          <p:cNvSpPr>
            <a:spLocks noGrp="1"/>
          </p:cNvSpPr>
          <p:nvPr>
            <p:ph type="sldNum" sz="quarter" idx="5"/>
          </p:nvPr>
        </p:nvSpPr>
        <p:spPr/>
        <p:txBody>
          <a:bodyPr/>
          <a:lstStyle/>
          <a:p>
            <a:fld id="{996419DB-028D-4903-B338-8B0705B20A95}" type="slidenum">
              <a:rPr lang="tr-TR" smtClean="0"/>
              <a:t>92</a:t>
            </a:fld>
            <a:endParaRPr lang="tr-TR"/>
          </a:p>
        </p:txBody>
      </p:sp>
    </p:spTree>
    <p:extLst>
      <p:ext uri="{BB962C8B-B14F-4D97-AF65-F5344CB8AC3E}">
        <p14:creationId xmlns:p14="http://schemas.microsoft.com/office/powerpoint/2010/main" val="29013487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4B845-5112-00E3-094A-5BAD4EDB6CD2}"/>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9459FA6C-B34A-6035-355C-A9ED1F20C859}"/>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D933A96A-7156-A3BF-5B7F-3B950F91DD92}"/>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AC086A6B-F963-8530-914A-4F3820AAA066}"/>
              </a:ext>
            </a:extLst>
          </p:cNvPr>
          <p:cNvSpPr>
            <a:spLocks noGrp="1"/>
          </p:cNvSpPr>
          <p:nvPr>
            <p:ph type="sldNum" sz="quarter" idx="5"/>
          </p:nvPr>
        </p:nvSpPr>
        <p:spPr/>
        <p:txBody>
          <a:bodyPr/>
          <a:lstStyle/>
          <a:p>
            <a:fld id="{996419DB-028D-4903-B338-8B0705B20A95}" type="slidenum">
              <a:rPr lang="tr-TR" smtClean="0"/>
              <a:t>93</a:t>
            </a:fld>
            <a:endParaRPr lang="tr-TR"/>
          </a:p>
        </p:txBody>
      </p:sp>
    </p:spTree>
    <p:extLst>
      <p:ext uri="{BB962C8B-B14F-4D97-AF65-F5344CB8AC3E}">
        <p14:creationId xmlns:p14="http://schemas.microsoft.com/office/powerpoint/2010/main" val="372452444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DB53B-A7A2-9239-687C-1AF554B368D2}"/>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4B2B897-8B2F-F521-89C0-6E0EE0D995AB}"/>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FFFFFBD-6EFA-6538-C52E-A880A1D54B6A}"/>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A8D180F3-FF61-8055-E6F7-7C73B6398033}"/>
              </a:ext>
            </a:extLst>
          </p:cNvPr>
          <p:cNvSpPr>
            <a:spLocks noGrp="1"/>
          </p:cNvSpPr>
          <p:nvPr>
            <p:ph type="sldNum" sz="quarter" idx="5"/>
          </p:nvPr>
        </p:nvSpPr>
        <p:spPr/>
        <p:txBody>
          <a:bodyPr/>
          <a:lstStyle/>
          <a:p>
            <a:fld id="{996419DB-028D-4903-B338-8B0705B20A95}" type="slidenum">
              <a:rPr lang="tr-TR" smtClean="0"/>
              <a:t>94</a:t>
            </a:fld>
            <a:endParaRPr lang="tr-TR"/>
          </a:p>
        </p:txBody>
      </p:sp>
    </p:spTree>
    <p:extLst>
      <p:ext uri="{BB962C8B-B14F-4D97-AF65-F5344CB8AC3E}">
        <p14:creationId xmlns:p14="http://schemas.microsoft.com/office/powerpoint/2010/main" val="261884557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359B6-243C-4031-04D5-F1F22819050F}"/>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2FCFE4E2-86B0-B80A-6261-8911C25C8B10}"/>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D124766-E737-DC76-2F7A-4052407996A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A396DB9C-2D5A-DDB8-65F9-C7A279992254}"/>
              </a:ext>
            </a:extLst>
          </p:cNvPr>
          <p:cNvSpPr>
            <a:spLocks noGrp="1"/>
          </p:cNvSpPr>
          <p:nvPr>
            <p:ph type="sldNum" sz="quarter" idx="5"/>
          </p:nvPr>
        </p:nvSpPr>
        <p:spPr/>
        <p:txBody>
          <a:bodyPr/>
          <a:lstStyle/>
          <a:p>
            <a:fld id="{996419DB-028D-4903-B338-8B0705B20A95}" type="slidenum">
              <a:rPr lang="tr-TR" smtClean="0"/>
              <a:t>95</a:t>
            </a:fld>
            <a:endParaRPr lang="tr-TR"/>
          </a:p>
        </p:txBody>
      </p:sp>
    </p:spTree>
    <p:extLst>
      <p:ext uri="{BB962C8B-B14F-4D97-AF65-F5344CB8AC3E}">
        <p14:creationId xmlns:p14="http://schemas.microsoft.com/office/powerpoint/2010/main" val="6028226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FE9EB-BA50-1899-6ACA-3A8A0DFE2F92}"/>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D020E1E-6A4A-20B6-E96B-1EC658F3AB8C}"/>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A1347ADD-E794-6029-ADCD-6F2748175223}"/>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EFA00984-9691-6146-7B1F-AB0C2D13B0B2}"/>
              </a:ext>
            </a:extLst>
          </p:cNvPr>
          <p:cNvSpPr>
            <a:spLocks noGrp="1"/>
          </p:cNvSpPr>
          <p:nvPr>
            <p:ph type="sldNum" sz="quarter" idx="5"/>
          </p:nvPr>
        </p:nvSpPr>
        <p:spPr/>
        <p:txBody>
          <a:bodyPr/>
          <a:lstStyle/>
          <a:p>
            <a:fld id="{996419DB-028D-4903-B338-8B0705B20A95}" type="slidenum">
              <a:rPr lang="tr-TR" smtClean="0"/>
              <a:t>96</a:t>
            </a:fld>
            <a:endParaRPr lang="tr-TR"/>
          </a:p>
        </p:txBody>
      </p:sp>
    </p:spTree>
    <p:extLst>
      <p:ext uri="{BB962C8B-B14F-4D97-AF65-F5344CB8AC3E}">
        <p14:creationId xmlns:p14="http://schemas.microsoft.com/office/powerpoint/2010/main" val="2918741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BCF18-0159-E8F9-4A52-79163F5DBAF5}"/>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D4DEB307-CDF8-F0F7-2C49-6C01F544BDA5}"/>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17FA8FE4-7A3D-B857-8475-076C2BC146DB}"/>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AFAEB9C9-475E-573D-3BB0-626365ED1A3F}"/>
              </a:ext>
            </a:extLst>
          </p:cNvPr>
          <p:cNvSpPr>
            <a:spLocks noGrp="1"/>
          </p:cNvSpPr>
          <p:nvPr>
            <p:ph type="sldNum" sz="quarter" idx="5"/>
          </p:nvPr>
        </p:nvSpPr>
        <p:spPr/>
        <p:txBody>
          <a:bodyPr/>
          <a:lstStyle/>
          <a:p>
            <a:fld id="{996419DB-028D-4903-B338-8B0705B20A95}" type="slidenum">
              <a:rPr lang="tr-TR" smtClean="0"/>
              <a:t>97</a:t>
            </a:fld>
            <a:endParaRPr lang="tr-TR"/>
          </a:p>
        </p:txBody>
      </p:sp>
    </p:spTree>
    <p:extLst>
      <p:ext uri="{BB962C8B-B14F-4D97-AF65-F5344CB8AC3E}">
        <p14:creationId xmlns:p14="http://schemas.microsoft.com/office/powerpoint/2010/main" val="9034632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3EFC2-4865-B03F-A8A1-BA4AA05296D8}"/>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A12D0BF3-7967-9CE0-88B7-EC7ED97D1E42}"/>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A203A910-B011-59E0-5BE1-C0CDF0CD086C}"/>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AAF0DB05-2998-C6CF-08BE-50190B7927AC}"/>
              </a:ext>
            </a:extLst>
          </p:cNvPr>
          <p:cNvSpPr>
            <a:spLocks noGrp="1"/>
          </p:cNvSpPr>
          <p:nvPr>
            <p:ph type="sldNum" sz="quarter" idx="5"/>
          </p:nvPr>
        </p:nvSpPr>
        <p:spPr/>
        <p:txBody>
          <a:bodyPr/>
          <a:lstStyle/>
          <a:p>
            <a:fld id="{996419DB-028D-4903-B338-8B0705B20A95}" type="slidenum">
              <a:rPr lang="tr-TR" smtClean="0"/>
              <a:t>98</a:t>
            </a:fld>
            <a:endParaRPr lang="tr-TR"/>
          </a:p>
        </p:txBody>
      </p:sp>
    </p:spTree>
    <p:extLst>
      <p:ext uri="{BB962C8B-B14F-4D97-AF65-F5344CB8AC3E}">
        <p14:creationId xmlns:p14="http://schemas.microsoft.com/office/powerpoint/2010/main" val="182095209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E1BBC-257F-1F42-0115-D1250A703D94}"/>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58D3E7B8-3535-114D-0598-E62F70915DBB}"/>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7E300C12-1F09-1835-8885-B1D33EE344AF}"/>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7F5AC48A-4C3A-485F-35B7-83A2A026D372}"/>
              </a:ext>
            </a:extLst>
          </p:cNvPr>
          <p:cNvSpPr>
            <a:spLocks noGrp="1"/>
          </p:cNvSpPr>
          <p:nvPr>
            <p:ph type="sldNum" sz="quarter" idx="5"/>
          </p:nvPr>
        </p:nvSpPr>
        <p:spPr/>
        <p:txBody>
          <a:bodyPr/>
          <a:lstStyle/>
          <a:p>
            <a:fld id="{996419DB-028D-4903-B338-8B0705B20A95}" type="slidenum">
              <a:rPr lang="tr-TR" smtClean="0"/>
              <a:t>99</a:t>
            </a:fld>
            <a:endParaRPr lang="tr-TR"/>
          </a:p>
        </p:txBody>
      </p:sp>
    </p:spTree>
    <p:extLst>
      <p:ext uri="{BB962C8B-B14F-4D97-AF65-F5344CB8AC3E}">
        <p14:creationId xmlns:p14="http://schemas.microsoft.com/office/powerpoint/2010/main" val="231849673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6967C-D044-2B2F-FBCC-114F469EE482}"/>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890CE04B-F475-E508-6BB2-5A4F79268E2D}"/>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56F568D-D675-1C17-1052-93028C24E8A0}"/>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C13CB2BB-A921-D1BB-A0E0-E4E538BB59DA}"/>
              </a:ext>
            </a:extLst>
          </p:cNvPr>
          <p:cNvSpPr>
            <a:spLocks noGrp="1"/>
          </p:cNvSpPr>
          <p:nvPr>
            <p:ph type="sldNum" sz="quarter" idx="5"/>
          </p:nvPr>
        </p:nvSpPr>
        <p:spPr/>
        <p:txBody>
          <a:bodyPr/>
          <a:lstStyle/>
          <a:p>
            <a:fld id="{996419DB-028D-4903-B338-8B0705B20A95}" type="slidenum">
              <a:rPr lang="tr-TR" smtClean="0"/>
              <a:t>100</a:t>
            </a:fld>
            <a:endParaRPr lang="tr-TR"/>
          </a:p>
        </p:txBody>
      </p:sp>
    </p:spTree>
    <p:extLst>
      <p:ext uri="{BB962C8B-B14F-4D97-AF65-F5344CB8AC3E}">
        <p14:creationId xmlns:p14="http://schemas.microsoft.com/office/powerpoint/2010/main" val="340093228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52C52-4683-31EE-F47F-C8A831E8068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AC94C0AC-9122-BD13-B1B2-588DD72FF373}"/>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53768CE2-A6C0-F21F-79F6-EAC4B3AA025F}"/>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0F539AAB-ADF8-109C-F905-0E723251F42A}"/>
              </a:ext>
            </a:extLst>
          </p:cNvPr>
          <p:cNvSpPr>
            <a:spLocks noGrp="1"/>
          </p:cNvSpPr>
          <p:nvPr>
            <p:ph type="sldNum" sz="quarter" idx="5"/>
          </p:nvPr>
        </p:nvSpPr>
        <p:spPr/>
        <p:txBody>
          <a:bodyPr/>
          <a:lstStyle/>
          <a:p>
            <a:fld id="{996419DB-028D-4903-B338-8B0705B20A95}" type="slidenum">
              <a:rPr lang="tr-TR" smtClean="0"/>
              <a:t>101</a:t>
            </a:fld>
            <a:endParaRPr lang="tr-TR"/>
          </a:p>
        </p:txBody>
      </p:sp>
    </p:spTree>
    <p:extLst>
      <p:ext uri="{BB962C8B-B14F-4D97-AF65-F5344CB8AC3E}">
        <p14:creationId xmlns:p14="http://schemas.microsoft.com/office/powerpoint/2010/main" val="103186484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73638-ECD2-E39F-30F0-12035735C166}"/>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06A6E87E-6CF6-3D0B-3C66-18AE28ADD30A}"/>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5F4D8330-5806-C0EC-1BE2-547C94FCBCBF}"/>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4DA55BFA-21BE-1AD9-D2A4-FC77CC1234DE}"/>
              </a:ext>
            </a:extLst>
          </p:cNvPr>
          <p:cNvSpPr>
            <a:spLocks noGrp="1"/>
          </p:cNvSpPr>
          <p:nvPr>
            <p:ph type="sldNum" sz="quarter" idx="5"/>
          </p:nvPr>
        </p:nvSpPr>
        <p:spPr/>
        <p:txBody>
          <a:bodyPr/>
          <a:lstStyle/>
          <a:p>
            <a:fld id="{996419DB-028D-4903-B338-8B0705B20A95}" type="slidenum">
              <a:rPr lang="tr-TR" smtClean="0"/>
              <a:t>102</a:t>
            </a:fld>
            <a:endParaRPr lang="tr-TR"/>
          </a:p>
        </p:txBody>
      </p:sp>
    </p:spTree>
    <p:extLst>
      <p:ext uri="{BB962C8B-B14F-4D97-AF65-F5344CB8AC3E}">
        <p14:creationId xmlns:p14="http://schemas.microsoft.com/office/powerpoint/2010/main" val="15950823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3F7C5-3990-D581-4CBD-15FA8D3EA5B6}"/>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AEDF51CF-3E30-9EB1-66B1-C46A2F4C2868}"/>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CA5CC46E-1F88-5FD6-DE97-9CF07556C290}"/>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2CF4074D-2FDF-3A81-8F3C-24071806EE87}"/>
              </a:ext>
            </a:extLst>
          </p:cNvPr>
          <p:cNvSpPr>
            <a:spLocks noGrp="1"/>
          </p:cNvSpPr>
          <p:nvPr>
            <p:ph type="sldNum" sz="quarter" idx="5"/>
          </p:nvPr>
        </p:nvSpPr>
        <p:spPr/>
        <p:txBody>
          <a:bodyPr/>
          <a:lstStyle/>
          <a:p>
            <a:fld id="{996419DB-028D-4903-B338-8B0705B20A95}" type="slidenum">
              <a:rPr lang="tr-TR" smtClean="0"/>
              <a:t>103</a:t>
            </a:fld>
            <a:endParaRPr lang="tr-TR"/>
          </a:p>
        </p:txBody>
      </p:sp>
    </p:spTree>
    <p:extLst>
      <p:ext uri="{BB962C8B-B14F-4D97-AF65-F5344CB8AC3E}">
        <p14:creationId xmlns:p14="http://schemas.microsoft.com/office/powerpoint/2010/main" val="310896076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F28CA-D90F-7A78-4525-C551854F1ADC}"/>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39CF28D6-4471-EC63-17D9-BB53EC650782}"/>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ABDDE533-0FA3-622F-E0E3-D7AF29C7C30A}"/>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AB0C6825-FBDF-0760-5CD6-DEACED3C2BB3}"/>
              </a:ext>
            </a:extLst>
          </p:cNvPr>
          <p:cNvSpPr>
            <a:spLocks noGrp="1"/>
          </p:cNvSpPr>
          <p:nvPr>
            <p:ph type="sldNum" sz="quarter" idx="5"/>
          </p:nvPr>
        </p:nvSpPr>
        <p:spPr/>
        <p:txBody>
          <a:bodyPr/>
          <a:lstStyle/>
          <a:p>
            <a:fld id="{996419DB-028D-4903-B338-8B0705B20A95}" type="slidenum">
              <a:rPr lang="tr-TR" smtClean="0"/>
              <a:t>104</a:t>
            </a:fld>
            <a:endParaRPr lang="tr-TR"/>
          </a:p>
        </p:txBody>
      </p:sp>
    </p:spTree>
    <p:extLst>
      <p:ext uri="{BB962C8B-B14F-4D97-AF65-F5344CB8AC3E}">
        <p14:creationId xmlns:p14="http://schemas.microsoft.com/office/powerpoint/2010/main" val="188806725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17A8E-F8C2-6EBD-A569-EBDBAEBC0EB6}"/>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235C6C3E-2D39-1BF0-A28C-28ABD63F603F}"/>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A6E34AED-6D57-F835-74E9-5A77044EEE96}"/>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2A87112B-ED8D-5F0D-3875-42BA049E43A2}"/>
              </a:ext>
            </a:extLst>
          </p:cNvPr>
          <p:cNvSpPr>
            <a:spLocks noGrp="1"/>
          </p:cNvSpPr>
          <p:nvPr>
            <p:ph type="sldNum" sz="quarter" idx="5"/>
          </p:nvPr>
        </p:nvSpPr>
        <p:spPr/>
        <p:txBody>
          <a:bodyPr/>
          <a:lstStyle/>
          <a:p>
            <a:fld id="{996419DB-028D-4903-B338-8B0705B20A95}" type="slidenum">
              <a:rPr lang="tr-TR" smtClean="0"/>
              <a:t>105</a:t>
            </a:fld>
            <a:endParaRPr lang="tr-TR"/>
          </a:p>
        </p:txBody>
      </p:sp>
    </p:spTree>
    <p:extLst>
      <p:ext uri="{BB962C8B-B14F-4D97-AF65-F5344CB8AC3E}">
        <p14:creationId xmlns:p14="http://schemas.microsoft.com/office/powerpoint/2010/main" val="37973986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2F238-D8BB-B3A4-73B9-E8DFC4B98C6E}"/>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D3584B6-D9DB-6E49-01B5-E95D443FA135}"/>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476EF90D-4BEB-9017-54EC-F869627707BC}"/>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9806A5CC-4A88-AEB7-61C7-2031ADB130DD}"/>
              </a:ext>
            </a:extLst>
          </p:cNvPr>
          <p:cNvSpPr>
            <a:spLocks noGrp="1"/>
          </p:cNvSpPr>
          <p:nvPr>
            <p:ph type="sldNum" sz="quarter" idx="5"/>
          </p:nvPr>
        </p:nvSpPr>
        <p:spPr/>
        <p:txBody>
          <a:bodyPr/>
          <a:lstStyle/>
          <a:p>
            <a:fld id="{996419DB-028D-4903-B338-8B0705B20A95}" type="slidenum">
              <a:rPr lang="tr-TR" smtClean="0"/>
              <a:t>106</a:t>
            </a:fld>
            <a:endParaRPr lang="tr-TR"/>
          </a:p>
        </p:txBody>
      </p:sp>
    </p:spTree>
    <p:extLst>
      <p:ext uri="{BB962C8B-B14F-4D97-AF65-F5344CB8AC3E}">
        <p14:creationId xmlns:p14="http://schemas.microsoft.com/office/powerpoint/2010/main" val="3590378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62734-5F2E-4086-D882-499DF383D504}"/>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D6CD1A3C-5CB5-33FC-36A2-3D67AA83A21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160161F9-0826-E06C-6B2E-720E05538D83}"/>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E3D00782-57FF-C443-E99B-686D57D137DB}"/>
              </a:ext>
            </a:extLst>
          </p:cNvPr>
          <p:cNvSpPr>
            <a:spLocks noGrp="1"/>
          </p:cNvSpPr>
          <p:nvPr>
            <p:ph type="sldNum" sz="quarter" idx="5"/>
          </p:nvPr>
        </p:nvSpPr>
        <p:spPr/>
        <p:txBody>
          <a:bodyPr/>
          <a:lstStyle/>
          <a:p>
            <a:fld id="{996419DB-028D-4903-B338-8B0705B20A95}" type="slidenum">
              <a:rPr lang="tr-TR" smtClean="0"/>
              <a:t>107</a:t>
            </a:fld>
            <a:endParaRPr lang="tr-TR"/>
          </a:p>
        </p:txBody>
      </p:sp>
    </p:spTree>
    <p:extLst>
      <p:ext uri="{BB962C8B-B14F-4D97-AF65-F5344CB8AC3E}">
        <p14:creationId xmlns:p14="http://schemas.microsoft.com/office/powerpoint/2010/main" val="312499481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0CFD3-A865-6F6E-56B5-B72FAB47E719}"/>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55C12828-6F5B-06EE-8EEA-3FFB2BCE311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619146C4-BA7F-9EB0-725F-234602D1ABF1}"/>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5BE86797-24F7-6FE1-4A79-E2E4A846972C}"/>
              </a:ext>
            </a:extLst>
          </p:cNvPr>
          <p:cNvSpPr>
            <a:spLocks noGrp="1"/>
          </p:cNvSpPr>
          <p:nvPr>
            <p:ph type="sldNum" sz="quarter" idx="5"/>
          </p:nvPr>
        </p:nvSpPr>
        <p:spPr/>
        <p:txBody>
          <a:bodyPr/>
          <a:lstStyle/>
          <a:p>
            <a:fld id="{996419DB-028D-4903-B338-8B0705B20A95}" type="slidenum">
              <a:rPr lang="tr-TR" smtClean="0"/>
              <a:t>108</a:t>
            </a:fld>
            <a:endParaRPr lang="tr-TR"/>
          </a:p>
        </p:txBody>
      </p:sp>
    </p:spTree>
    <p:extLst>
      <p:ext uri="{BB962C8B-B14F-4D97-AF65-F5344CB8AC3E}">
        <p14:creationId xmlns:p14="http://schemas.microsoft.com/office/powerpoint/2010/main" val="207459935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E7DE2-FD93-9A65-45B7-F491E3AB4983}"/>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AD5CC6A5-48AA-2F8E-D9C8-C4E71E32B6A3}"/>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9CA6B444-71F2-34EC-FFEC-4036C5270358}"/>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F9A0C209-46ED-DA4A-B399-F64FD53F35B3}"/>
              </a:ext>
            </a:extLst>
          </p:cNvPr>
          <p:cNvSpPr>
            <a:spLocks noGrp="1"/>
          </p:cNvSpPr>
          <p:nvPr>
            <p:ph type="sldNum" sz="quarter" idx="5"/>
          </p:nvPr>
        </p:nvSpPr>
        <p:spPr/>
        <p:txBody>
          <a:bodyPr/>
          <a:lstStyle/>
          <a:p>
            <a:fld id="{996419DB-028D-4903-B338-8B0705B20A95}" type="slidenum">
              <a:rPr lang="tr-TR" smtClean="0"/>
              <a:t>109</a:t>
            </a:fld>
            <a:endParaRPr lang="tr-TR"/>
          </a:p>
        </p:txBody>
      </p:sp>
    </p:spTree>
    <p:extLst>
      <p:ext uri="{BB962C8B-B14F-4D97-AF65-F5344CB8AC3E}">
        <p14:creationId xmlns:p14="http://schemas.microsoft.com/office/powerpoint/2010/main" val="15654228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2">
        <a:schemeClr val="bg1"/>
      </p:bgRef>
    </p:bg>
    <p:spTree>
      <p:nvGrpSpPr>
        <p:cNvPr id="1" name=""/>
        <p:cNvGrpSpPr/>
        <p:nvPr/>
      </p:nvGrpSpPr>
      <p:grpSpPr>
        <a:xfrm>
          <a:off x="0" y="0"/>
          <a:ext cx="0" cy="0"/>
          <a:chOff x="0" y="0"/>
          <a:chExt cx="0" cy="0"/>
        </a:xfrm>
      </p:grpSpPr>
      <p:sp>
        <p:nvSpPr>
          <p:cNvPr id="8" name="Dikdörtgen 7"/>
          <p:cNvSpPr/>
          <p:nvPr/>
        </p:nvSpPr>
        <p:spPr>
          <a:xfrm flipH="1">
            <a:off x="3556000" y="0"/>
            <a:ext cx="8636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9" name="Düz Bağlayıcı 8"/>
          <p:cNvSpPr>
            <a:spLocks noChangeShapeType="1"/>
          </p:cNvSpPr>
          <p:nvPr/>
        </p:nvSpPr>
        <p:spPr bwMode="auto">
          <a:xfrm rot="16200000">
            <a:off x="127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lang="en-US" sz="1800">
              <a:solidFill>
                <a:prstClr val="black"/>
              </a:solidFill>
            </a:endParaRPr>
          </a:p>
        </p:txBody>
      </p:sp>
      <p:sp>
        <p:nvSpPr>
          <p:cNvPr id="12" name="Başlık 11"/>
          <p:cNvSpPr>
            <a:spLocks noGrp="1"/>
          </p:cNvSpPr>
          <p:nvPr>
            <p:ph type="ctrTitle"/>
          </p:nvPr>
        </p:nvSpPr>
        <p:spPr>
          <a:xfrm>
            <a:off x="4489157" y="533400"/>
            <a:ext cx="6807200" cy="2868168"/>
          </a:xfrm>
        </p:spPr>
        <p:txBody>
          <a:bodyPr lIns="45720" tIns="0" rIns="45720">
            <a:noAutofit/>
          </a:bodyPr>
          <a:lstStyle>
            <a:lvl1pPr algn="r">
              <a:defRPr sz="4200" b="1"/>
            </a:lvl1pPr>
            <a:extLst/>
          </a:lstStyle>
          <a:p>
            <a:r>
              <a:rPr kumimoji="0" lang="tr-TR"/>
              <a:t>Asıl başlık stili için tıklatın</a:t>
            </a:r>
            <a:endParaRPr kumimoji="0" lang="en-US"/>
          </a:p>
        </p:txBody>
      </p:sp>
      <p:sp>
        <p:nvSpPr>
          <p:cNvPr id="25" name="Alt Başlık 24"/>
          <p:cNvSpPr>
            <a:spLocks noGrp="1"/>
          </p:cNvSpPr>
          <p:nvPr>
            <p:ph type="subTitle" idx="1"/>
          </p:nvPr>
        </p:nvSpPr>
        <p:spPr>
          <a:xfrm>
            <a:off x="4472589" y="3539864"/>
            <a:ext cx="6819704"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tr-TR"/>
              <a:t>Asıl alt başlık stilini düzenlemek için tıklatın</a:t>
            </a:r>
            <a:endParaRPr kumimoji="0" lang="en-US"/>
          </a:p>
        </p:txBody>
      </p:sp>
      <p:sp>
        <p:nvSpPr>
          <p:cNvPr id="31" name="Veri Yer Tutucusu 30"/>
          <p:cNvSpPr>
            <a:spLocks noGrp="1"/>
          </p:cNvSpPr>
          <p:nvPr>
            <p:ph type="dt" sz="half" idx="10"/>
          </p:nvPr>
        </p:nvSpPr>
        <p:spPr>
          <a:xfrm>
            <a:off x="7828299" y="6557946"/>
            <a:ext cx="2669952" cy="226902"/>
          </a:xfrm>
        </p:spPr>
        <p:txBody>
          <a:bodyPr/>
          <a:lstStyle>
            <a:lvl1pPr>
              <a:defRPr lang="en-US" smtClean="0">
                <a:solidFill>
                  <a:srgbClr val="FFFFFF"/>
                </a:solidFill>
              </a:defRPr>
            </a:lvl1pPr>
            <a:extLst/>
          </a:lstStyle>
          <a:p>
            <a:fld id="{75C01C49-90F4-4F88-B55D-6F1BD26A4F6A}" type="datetimeFigureOut">
              <a:rPr lang="tr-TR"/>
              <a:pPr/>
              <a:t>15.04.2026</a:t>
            </a:fld>
            <a:endParaRPr lang="tr-TR"/>
          </a:p>
        </p:txBody>
      </p:sp>
      <p:sp>
        <p:nvSpPr>
          <p:cNvPr id="18" name="Altbilgi Yer Tutucusu 17"/>
          <p:cNvSpPr>
            <a:spLocks noGrp="1"/>
          </p:cNvSpPr>
          <p:nvPr>
            <p:ph type="ftr" sz="quarter" idx="11"/>
          </p:nvPr>
        </p:nvSpPr>
        <p:spPr>
          <a:xfrm>
            <a:off x="3759200" y="6557946"/>
            <a:ext cx="3903629" cy="228600"/>
          </a:xfrm>
        </p:spPr>
        <p:txBody>
          <a:bodyPr/>
          <a:lstStyle>
            <a:lvl1pPr>
              <a:defRPr lang="en-US" dirty="0">
                <a:solidFill>
                  <a:srgbClr val="FFFFFF"/>
                </a:solidFill>
              </a:defRPr>
            </a:lvl1pPr>
            <a:extLst/>
          </a:lstStyle>
          <a:p>
            <a:endParaRPr lang="tr-TR"/>
          </a:p>
        </p:txBody>
      </p:sp>
      <p:sp>
        <p:nvSpPr>
          <p:cNvPr id="29" name="Slayt Numarası Yer Tutucusu 28"/>
          <p:cNvSpPr>
            <a:spLocks noGrp="1"/>
          </p:cNvSpPr>
          <p:nvPr>
            <p:ph type="sldNum" sz="quarter" idx="12"/>
          </p:nvPr>
        </p:nvSpPr>
        <p:spPr>
          <a:xfrm>
            <a:off x="10507845" y="6556248"/>
            <a:ext cx="784448" cy="228600"/>
          </a:xfrm>
        </p:spPr>
        <p:txBody>
          <a:bodyPr/>
          <a:lstStyle>
            <a:lvl1pPr>
              <a:defRPr lang="en-US" smtClean="0">
                <a:solidFill>
                  <a:srgbClr val="FFFFFF"/>
                </a:solidFill>
              </a:defRPr>
            </a:lvl1pPr>
            <a:extLst/>
          </a:lstStyle>
          <a:p>
            <a:fld id="{FAA56EE2-4799-4384-9DE6-737D3E3A077F}" type="slidenum">
              <a:rPr lang="tr-TR"/>
              <a:pPr/>
              <a:t>‹#›</a:t>
            </a:fld>
            <a:endParaRPr lang="tr-TR"/>
          </a:p>
        </p:txBody>
      </p:sp>
    </p:spTree>
    <p:extLst>
      <p:ext uri="{BB962C8B-B14F-4D97-AF65-F5344CB8AC3E}">
        <p14:creationId xmlns:p14="http://schemas.microsoft.com/office/powerpoint/2010/main" val="233992584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3" name="İçerik Yer Tutucusu 2"/>
          <p:cNvSpPr>
            <a:spLocks noGrp="1"/>
          </p:cNvSpPr>
          <p:nvPr>
            <p:ph idx="1"/>
          </p:nvPr>
        </p:nvSpPr>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Veri Yer Tutucusu 3"/>
          <p:cNvSpPr>
            <a:spLocks noGrp="1"/>
          </p:cNvSpPr>
          <p:nvPr>
            <p:ph type="dt" sz="half" idx="10"/>
          </p:nvPr>
        </p:nvSpPr>
        <p:spPr/>
        <p:txBody>
          <a:bodyPr/>
          <a:lstStyle/>
          <a:p>
            <a:fld id="{75C01C49-90F4-4F88-B55D-6F1BD26A4F6A}" type="datetimeFigureOut">
              <a:rPr lang="tr-TR" smtClean="0">
                <a:solidFill>
                  <a:srgbClr val="B13F9A"/>
                </a:solidFill>
              </a:rPr>
              <a:pPr/>
              <a:t>15.04.2026</a:t>
            </a:fld>
            <a:endParaRPr lang="tr-TR">
              <a:solidFill>
                <a:srgbClr val="B13F9A"/>
              </a:solidFill>
            </a:endParaRPr>
          </a:p>
        </p:txBody>
      </p:sp>
      <p:sp>
        <p:nvSpPr>
          <p:cNvPr id="5" name="Altbilgi Yer Tutucusu 4"/>
          <p:cNvSpPr>
            <a:spLocks noGrp="1"/>
          </p:cNvSpPr>
          <p:nvPr>
            <p:ph type="ftr" sz="quarter" idx="11"/>
          </p:nvPr>
        </p:nvSpPr>
        <p:spPr/>
        <p:txBody>
          <a:bodyPr/>
          <a:lstStyle/>
          <a:p>
            <a:endParaRPr lang="tr-TR">
              <a:solidFill>
                <a:srgbClr val="B13F9A"/>
              </a:solidFill>
            </a:endParaRPr>
          </a:p>
        </p:txBody>
      </p:sp>
      <p:sp>
        <p:nvSpPr>
          <p:cNvPr id="6" name="Slayt Numarası Yer Tutucusu 5"/>
          <p:cNvSpPr>
            <a:spLocks noGrp="1"/>
          </p:cNvSpPr>
          <p:nvPr>
            <p:ph type="sldNum" sz="quarter" idx="12"/>
          </p:nvPr>
        </p:nvSpPr>
        <p:spPr/>
        <p:txBody>
          <a:bodyPr/>
          <a:lstStyle/>
          <a:p>
            <a:fld id="{FAA56EE2-4799-4384-9DE6-737D3E3A077F}" type="slidenum">
              <a:rPr lang="tr-TR" smtClean="0">
                <a:solidFill>
                  <a:srgbClr val="B13F9A"/>
                </a:solidFill>
              </a:rPr>
              <a:pPr/>
              <a:t>‹#›</a:t>
            </a:fld>
            <a:endParaRPr lang="tr-TR">
              <a:solidFill>
                <a:srgbClr val="B13F9A"/>
              </a:solidFill>
            </a:endParaRPr>
          </a:p>
        </p:txBody>
      </p:sp>
    </p:spTree>
    <p:extLst>
      <p:ext uri="{BB962C8B-B14F-4D97-AF65-F5344CB8AC3E}">
        <p14:creationId xmlns:p14="http://schemas.microsoft.com/office/powerpoint/2010/main" val="1320919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bg>
      <p:bgRef idx="1001">
        <a:schemeClr val="bg1"/>
      </p:bgRef>
    </p:bg>
    <p:spTree>
      <p:nvGrpSpPr>
        <p:cNvPr id="1" name=""/>
        <p:cNvGrpSpPr/>
        <p:nvPr/>
      </p:nvGrpSpPr>
      <p:grpSpPr>
        <a:xfrm>
          <a:off x="0" y="0"/>
          <a:ext cx="0" cy="0"/>
          <a:chOff x="0" y="0"/>
          <a:chExt cx="0" cy="0"/>
        </a:xfrm>
      </p:grpSpPr>
      <p:sp>
        <p:nvSpPr>
          <p:cNvPr id="2" name="Başlık 1"/>
          <p:cNvSpPr>
            <a:spLocks noGrp="1"/>
          </p:cNvSpPr>
          <p:nvPr>
            <p:ph type="title"/>
          </p:nvPr>
        </p:nvSpPr>
        <p:spPr>
          <a:xfrm>
            <a:off x="1422400" y="2821838"/>
            <a:ext cx="8340651" cy="1362075"/>
          </a:xfrm>
        </p:spPr>
        <p:txBody>
          <a:bodyPr tIns="0" anchor="t"/>
          <a:lstStyle>
            <a:lvl1pPr algn="r">
              <a:buNone/>
              <a:defRPr sz="4200" b="1" cap="all"/>
            </a:lvl1pPr>
            <a:extLst/>
          </a:lstStyle>
          <a:p>
            <a:r>
              <a:rPr kumimoji="0" lang="tr-TR"/>
              <a:t>Asıl başlık stili için tıklatın</a:t>
            </a:r>
            <a:endParaRPr kumimoji="0" lang="en-US"/>
          </a:p>
        </p:txBody>
      </p:sp>
      <p:sp>
        <p:nvSpPr>
          <p:cNvPr id="3" name="Metin Yer Tutucusu 2"/>
          <p:cNvSpPr>
            <a:spLocks noGrp="1"/>
          </p:cNvSpPr>
          <p:nvPr>
            <p:ph type="body" idx="1"/>
          </p:nvPr>
        </p:nvSpPr>
        <p:spPr>
          <a:xfrm>
            <a:off x="1422400" y="1905001"/>
            <a:ext cx="8340651"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tr-TR"/>
              <a:t>Asıl metin stillerini düzenlemek için tıklatın</a:t>
            </a:r>
          </a:p>
        </p:txBody>
      </p:sp>
      <p:sp>
        <p:nvSpPr>
          <p:cNvPr id="4" name="Veri Yer Tutucusu 3"/>
          <p:cNvSpPr>
            <a:spLocks noGrp="1"/>
          </p:cNvSpPr>
          <p:nvPr>
            <p:ph type="dt" sz="half" idx="10"/>
          </p:nvPr>
        </p:nvSpPr>
        <p:spPr>
          <a:xfrm>
            <a:off x="6298984" y="6556810"/>
            <a:ext cx="2669952" cy="226902"/>
          </a:xfrm>
        </p:spPr>
        <p:txBody>
          <a:bodyPr bIns="0" anchor="b"/>
          <a:lstStyle>
            <a:lvl1pPr>
              <a:defRPr>
                <a:solidFill>
                  <a:schemeClr val="tx2"/>
                </a:solidFill>
              </a:defRPr>
            </a:lvl1pPr>
            <a:extLst/>
          </a:lstStyle>
          <a:p>
            <a:fld id="{75C01C49-90F4-4F88-B55D-6F1BD26A4F6A}" type="datetimeFigureOut">
              <a:rPr lang="tr-TR" smtClean="0">
                <a:solidFill>
                  <a:srgbClr val="B13F9A"/>
                </a:solidFill>
              </a:rPr>
              <a:pPr/>
              <a:t>15.04.2026</a:t>
            </a:fld>
            <a:endParaRPr lang="tr-TR">
              <a:solidFill>
                <a:srgbClr val="B13F9A"/>
              </a:solidFill>
            </a:endParaRPr>
          </a:p>
        </p:txBody>
      </p:sp>
      <p:sp>
        <p:nvSpPr>
          <p:cNvPr id="5" name="Altbilgi Yer Tutucusu 4"/>
          <p:cNvSpPr>
            <a:spLocks noGrp="1"/>
          </p:cNvSpPr>
          <p:nvPr>
            <p:ph type="ftr" sz="quarter" idx="11"/>
          </p:nvPr>
        </p:nvSpPr>
        <p:spPr>
          <a:xfrm>
            <a:off x="2313811" y="6556810"/>
            <a:ext cx="3860800" cy="228600"/>
          </a:xfrm>
        </p:spPr>
        <p:txBody>
          <a:bodyPr bIns="0" anchor="b"/>
          <a:lstStyle>
            <a:lvl1pPr>
              <a:defRPr>
                <a:solidFill>
                  <a:schemeClr val="tx2"/>
                </a:solidFill>
              </a:defRPr>
            </a:lvl1pPr>
            <a:extLst/>
          </a:lstStyle>
          <a:p>
            <a:endParaRPr lang="tr-TR">
              <a:solidFill>
                <a:srgbClr val="B13F9A"/>
              </a:solidFill>
            </a:endParaRPr>
          </a:p>
        </p:txBody>
      </p:sp>
      <p:sp>
        <p:nvSpPr>
          <p:cNvPr id="6" name="Slayt Numarası Yer Tutucusu 5"/>
          <p:cNvSpPr>
            <a:spLocks noGrp="1"/>
          </p:cNvSpPr>
          <p:nvPr>
            <p:ph type="sldNum" sz="quarter" idx="12"/>
          </p:nvPr>
        </p:nvSpPr>
        <p:spPr>
          <a:xfrm>
            <a:off x="8978603" y="6555112"/>
            <a:ext cx="784448" cy="228600"/>
          </a:xfrm>
        </p:spPr>
        <p:txBody>
          <a:bodyPr/>
          <a:lstStyle/>
          <a:p>
            <a:fld id="{FAA56EE2-4799-4384-9DE6-737D3E3A077F}" type="slidenum">
              <a:rPr lang="tr-TR" smtClean="0">
                <a:solidFill>
                  <a:srgbClr val="B13F9A"/>
                </a:solidFill>
              </a:rPr>
              <a:pPr/>
              <a:t>‹#›</a:t>
            </a:fld>
            <a:endParaRPr lang="tr-TR">
              <a:solidFill>
                <a:srgbClr val="B13F9A"/>
              </a:solidFill>
            </a:endParaRPr>
          </a:p>
        </p:txBody>
      </p:sp>
    </p:spTree>
    <p:extLst>
      <p:ext uri="{BB962C8B-B14F-4D97-AF65-F5344CB8AC3E}">
        <p14:creationId xmlns:p14="http://schemas.microsoft.com/office/powerpoint/2010/main" val="12939787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a:xfrm>
            <a:off x="609600" y="320040"/>
            <a:ext cx="9656064" cy="1143000"/>
          </a:xfrm>
        </p:spPr>
        <p:txBody>
          <a:bodyPr/>
          <a:lstStyle/>
          <a:p>
            <a:r>
              <a:rPr kumimoji="0" lang="tr-TR"/>
              <a:t>Asıl başlık stili için tıklatın</a:t>
            </a:r>
            <a:endParaRPr kumimoji="0" lang="en-US"/>
          </a:p>
        </p:txBody>
      </p:sp>
      <p:sp>
        <p:nvSpPr>
          <p:cNvPr id="3" name="İçerik Yer Tutucusu 2"/>
          <p:cNvSpPr>
            <a:spLocks noGrp="1"/>
          </p:cNvSpPr>
          <p:nvPr>
            <p:ph sz="half" idx="1"/>
          </p:nvPr>
        </p:nvSpPr>
        <p:spPr>
          <a:xfrm>
            <a:off x="609600" y="1600201"/>
            <a:ext cx="469392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İçerik Yer Tutucusu 3"/>
          <p:cNvSpPr>
            <a:spLocks noGrp="1"/>
          </p:cNvSpPr>
          <p:nvPr>
            <p:ph sz="half" idx="2"/>
          </p:nvPr>
        </p:nvSpPr>
        <p:spPr>
          <a:xfrm>
            <a:off x="5571744" y="1600201"/>
            <a:ext cx="469392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5" name="Veri Yer Tutucusu 4"/>
          <p:cNvSpPr>
            <a:spLocks noGrp="1"/>
          </p:cNvSpPr>
          <p:nvPr>
            <p:ph type="dt" sz="half" idx="10"/>
          </p:nvPr>
        </p:nvSpPr>
        <p:spPr/>
        <p:txBody>
          <a:bodyPr/>
          <a:lstStyle/>
          <a:p>
            <a:fld id="{75C01C49-90F4-4F88-B55D-6F1BD26A4F6A}" type="datetimeFigureOut">
              <a:rPr lang="tr-TR" smtClean="0">
                <a:solidFill>
                  <a:srgbClr val="B13F9A"/>
                </a:solidFill>
              </a:rPr>
              <a:pPr/>
              <a:t>15.04.2026</a:t>
            </a:fld>
            <a:endParaRPr lang="tr-TR">
              <a:solidFill>
                <a:srgbClr val="B13F9A"/>
              </a:solidFill>
            </a:endParaRPr>
          </a:p>
        </p:txBody>
      </p:sp>
      <p:sp>
        <p:nvSpPr>
          <p:cNvPr id="6" name="Altbilgi Yer Tutucusu 5"/>
          <p:cNvSpPr>
            <a:spLocks noGrp="1"/>
          </p:cNvSpPr>
          <p:nvPr>
            <p:ph type="ftr" sz="quarter" idx="11"/>
          </p:nvPr>
        </p:nvSpPr>
        <p:spPr/>
        <p:txBody>
          <a:bodyPr/>
          <a:lstStyle/>
          <a:p>
            <a:endParaRPr lang="tr-TR">
              <a:solidFill>
                <a:srgbClr val="B13F9A"/>
              </a:solidFill>
            </a:endParaRPr>
          </a:p>
        </p:txBody>
      </p:sp>
      <p:sp>
        <p:nvSpPr>
          <p:cNvPr id="7" name="Slayt Numarası Yer Tutucusu 6"/>
          <p:cNvSpPr>
            <a:spLocks noGrp="1"/>
          </p:cNvSpPr>
          <p:nvPr>
            <p:ph type="sldNum" sz="quarter" idx="12"/>
          </p:nvPr>
        </p:nvSpPr>
        <p:spPr/>
        <p:txBody>
          <a:bodyPr/>
          <a:lstStyle/>
          <a:p>
            <a:fld id="{FAA56EE2-4799-4384-9DE6-737D3E3A077F}" type="slidenum">
              <a:rPr lang="tr-TR" smtClean="0">
                <a:solidFill>
                  <a:srgbClr val="B13F9A"/>
                </a:solidFill>
              </a:rPr>
              <a:pPr/>
              <a:t>‹#›</a:t>
            </a:fld>
            <a:endParaRPr lang="tr-TR">
              <a:solidFill>
                <a:srgbClr val="B13F9A"/>
              </a:solidFill>
            </a:endParaRPr>
          </a:p>
        </p:txBody>
      </p:sp>
    </p:spTree>
    <p:extLst>
      <p:ext uri="{BB962C8B-B14F-4D97-AF65-F5344CB8AC3E}">
        <p14:creationId xmlns:p14="http://schemas.microsoft.com/office/powerpoint/2010/main" val="3133077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609600" y="320040"/>
            <a:ext cx="9656064" cy="1143000"/>
          </a:xfrm>
        </p:spPr>
        <p:txBody>
          <a:bodyPr anchor="b"/>
          <a:lstStyle>
            <a:lvl1pPr>
              <a:defRPr/>
            </a:lvl1pPr>
            <a:extLst/>
          </a:lstStyle>
          <a:p>
            <a:r>
              <a:rPr kumimoji="0" lang="tr-TR"/>
              <a:t>Asıl başlık stili için tıklatın</a:t>
            </a:r>
            <a:endParaRPr kumimoji="0" lang="en-US"/>
          </a:p>
        </p:txBody>
      </p:sp>
      <p:sp>
        <p:nvSpPr>
          <p:cNvPr id="3" name="Metin Yer Tutucusu 2"/>
          <p:cNvSpPr>
            <a:spLocks noGrp="1"/>
          </p:cNvSpPr>
          <p:nvPr>
            <p:ph type="body" idx="1"/>
          </p:nvPr>
        </p:nvSpPr>
        <p:spPr>
          <a:xfrm>
            <a:off x="609600" y="5867400"/>
            <a:ext cx="469392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tr-TR"/>
              <a:t>Asıl metin stillerini düzenlemek için tıklatın</a:t>
            </a:r>
          </a:p>
        </p:txBody>
      </p:sp>
      <p:sp>
        <p:nvSpPr>
          <p:cNvPr id="4" name="Metin Yer Tutucusu 3"/>
          <p:cNvSpPr>
            <a:spLocks noGrp="1"/>
          </p:cNvSpPr>
          <p:nvPr>
            <p:ph type="body" sz="half" idx="3"/>
          </p:nvPr>
        </p:nvSpPr>
        <p:spPr>
          <a:xfrm>
            <a:off x="5571744" y="5867400"/>
            <a:ext cx="469392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tr-TR"/>
              <a:t>Asıl metin stillerini düzenlemek için tıklatın</a:t>
            </a:r>
          </a:p>
        </p:txBody>
      </p:sp>
      <p:sp>
        <p:nvSpPr>
          <p:cNvPr id="5" name="İçerik Yer Tutucusu 4"/>
          <p:cNvSpPr>
            <a:spLocks noGrp="1"/>
          </p:cNvSpPr>
          <p:nvPr>
            <p:ph sz="quarter" idx="2"/>
          </p:nvPr>
        </p:nvSpPr>
        <p:spPr>
          <a:xfrm>
            <a:off x="609600" y="1711840"/>
            <a:ext cx="469392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6" name="İçerik Yer Tutucusu 5"/>
          <p:cNvSpPr>
            <a:spLocks noGrp="1"/>
          </p:cNvSpPr>
          <p:nvPr>
            <p:ph sz="quarter" idx="4"/>
          </p:nvPr>
        </p:nvSpPr>
        <p:spPr>
          <a:xfrm>
            <a:off x="5571744" y="1711840"/>
            <a:ext cx="469392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7" name="Veri Yer Tutucusu 6"/>
          <p:cNvSpPr>
            <a:spLocks noGrp="1"/>
          </p:cNvSpPr>
          <p:nvPr>
            <p:ph type="dt" sz="half" idx="10"/>
          </p:nvPr>
        </p:nvSpPr>
        <p:spPr/>
        <p:txBody>
          <a:bodyPr/>
          <a:lstStyle/>
          <a:p>
            <a:fld id="{75C01C49-90F4-4F88-B55D-6F1BD26A4F6A}" type="datetimeFigureOut">
              <a:rPr lang="tr-TR" smtClean="0">
                <a:solidFill>
                  <a:srgbClr val="B13F9A"/>
                </a:solidFill>
              </a:rPr>
              <a:pPr/>
              <a:t>15.04.2026</a:t>
            </a:fld>
            <a:endParaRPr lang="tr-TR">
              <a:solidFill>
                <a:srgbClr val="B13F9A"/>
              </a:solidFill>
            </a:endParaRPr>
          </a:p>
        </p:txBody>
      </p:sp>
      <p:sp>
        <p:nvSpPr>
          <p:cNvPr id="8" name="Altbilgi Yer Tutucusu 7"/>
          <p:cNvSpPr>
            <a:spLocks noGrp="1"/>
          </p:cNvSpPr>
          <p:nvPr>
            <p:ph type="ftr" sz="quarter" idx="11"/>
          </p:nvPr>
        </p:nvSpPr>
        <p:spPr/>
        <p:txBody>
          <a:bodyPr/>
          <a:lstStyle/>
          <a:p>
            <a:endParaRPr lang="tr-TR">
              <a:solidFill>
                <a:srgbClr val="B13F9A"/>
              </a:solidFill>
            </a:endParaRPr>
          </a:p>
        </p:txBody>
      </p:sp>
      <p:sp>
        <p:nvSpPr>
          <p:cNvPr id="9" name="Slayt Numarası Yer Tutucusu 8"/>
          <p:cNvSpPr>
            <a:spLocks noGrp="1"/>
          </p:cNvSpPr>
          <p:nvPr>
            <p:ph type="sldNum" sz="quarter" idx="12"/>
          </p:nvPr>
        </p:nvSpPr>
        <p:spPr/>
        <p:txBody>
          <a:bodyPr/>
          <a:lstStyle/>
          <a:p>
            <a:fld id="{FAA56EE2-4799-4384-9DE6-737D3E3A077F}" type="slidenum">
              <a:rPr lang="tr-TR" smtClean="0">
                <a:solidFill>
                  <a:srgbClr val="B13F9A"/>
                </a:solidFill>
              </a:rPr>
              <a:pPr/>
              <a:t>‹#›</a:t>
            </a:fld>
            <a:endParaRPr lang="tr-TR">
              <a:solidFill>
                <a:srgbClr val="B13F9A"/>
              </a:solidFill>
            </a:endParaRPr>
          </a:p>
        </p:txBody>
      </p:sp>
    </p:spTree>
    <p:extLst>
      <p:ext uri="{BB962C8B-B14F-4D97-AF65-F5344CB8AC3E}">
        <p14:creationId xmlns:p14="http://schemas.microsoft.com/office/powerpoint/2010/main" val="3799569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a:xfrm>
            <a:off x="609600" y="320040"/>
            <a:ext cx="9656064" cy="1143000"/>
          </a:xfrm>
        </p:spPr>
        <p:txBody>
          <a:bodyPr/>
          <a:lstStyle/>
          <a:p>
            <a:r>
              <a:rPr kumimoji="0" lang="tr-TR"/>
              <a:t>Asıl başlık stili için tıklatın</a:t>
            </a:r>
            <a:endParaRPr kumimoji="0" lang="en-US"/>
          </a:p>
        </p:txBody>
      </p:sp>
      <p:sp>
        <p:nvSpPr>
          <p:cNvPr id="3" name="Veri Yer Tutucusu 2"/>
          <p:cNvSpPr>
            <a:spLocks noGrp="1"/>
          </p:cNvSpPr>
          <p:nvPr>
            <p:ph type="dt" sz="half" idx="10"/>
          </p:nvPr>
        </p:nvSpPr>
        <p:spPr/>
        <p:txBody>
          <a:bodyPr/>
          <a:lstStyle/>
          <a:p>
            <a:fld id="{75C01C49-90F4-4F88-B55D-6F1BD26A4F6A}" type="datetimeFigureOut">
              <a:rPr lang="tr-TR" smtClean="0">
                <a:solidFill>
                  <a:srgbClr val="B13F9A"/>
                </a:solidFill>
              </a:rPr>
              <a:pPr/>
              <a:t>15.04.2026</a:t>
            </a:fld>
            <a:endParaRPr lang="tr-TR">
              <a:solidFill>
                <a:srgbClr val="B13F9A"/>
              </a:solidFill>
            </a:endParaRPr>
          </a:p>
        </p:txBody>
      </p:sp>
      <p:sp>
        <p:nvSpPr>
          <p:cNvPr id="4" name="Altbilgi Yer Tutucusu 3"/>
          <p:cNvSpPr>
            <a:spLocks noGrp="1"/>
          </p:cNvSpPr>
          <p:nvPr>
            <p:ph type="ftr" sz="quarter" idx="11"/>
          </p:nvPr>
        </p:nvSpPr>
        <p:spPr/>
        <p:txBody>
          <a:bodyPr/>
          <a:lstStyle/>
          <a:p>
            <a:endParaRPr lang="tr-TR">
              <a:solidFill>
                <a:srgbClr val="B13F9A"/>
              </a:solidFill>
            </a:endParaRPr>
          </a:p>
        </p:txBody>
      </p:sp>
      <p:sp>
        <p:nvSpPr>
          <p:cNvPr id="5" name="Slayt Numarası Yer Tutucusu 4"/>
          <p:cNvSpPr>
            <a:spLocks noGrp="1"/>
          </p:cNvSpPr>
          <p:nvPr>
            <p:ph type="sldNum" sz="quarter" idx="12"/>
          </p:nvPr>
        </p:nvSpPr>
        <p:spPr/>
        <p:txBody>
          <a:bodyPr/>
          <a:lstStyle/>
          <a:p>
            <a:fld id="{FAA56EE2-4799-4384-9DE6-737D3E3A077F}" type="slidenum">
              <a:rPr lang="tr-TR" smtClean="0">
                <a:solidFill>
                  <a:srgbClr val="B13F9A"/>
                </a:solidFill>
              </a:rPr>
              <a:pPr/>
              <a:t>‹#›</a:t>
            </a:fld>
            <a:endParaRPr lang="tr-TR">
              <a:solidFill>
                <a:srgbClr val="B13F9A"/>
              </a:solidFill>
            </a:endParaRPr>
          </a:p>
        </p:txBody>
      </p:sp>
    </p:spTree>
    <p:extLst>
      <p:ext uri="{BB962C8B-B14F-4D97-AF65-F5344CB8AC3E}">
        <p14:creationId xmlns:p14="http://schemas.microsoft.com/office/powerpoint/2010/main" val="1864777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lvl1pPr>
              <a:defRPr>
                <a:solidFill>
                  <a:schemeClr val="tx2"/>
                </a:solidFill>
              </a:defRPr>
            </a:lvl1pPr>
            <a:extLst/>
          </a:lstStyle>
          <a:p>
            <a:fld id="{75C01C49-90F4-4F88-B55D-6F1BD26A4F6A}" type="datetimeFigureOut">
              <a:rPr lang="tr-TR" smtClean="0">
                <a:solidFill>
                  <a:srgbClr val="B13F9A"/>
                </a:solidFill>
              </a:rPr>
              <a:pPr/>
              <a:t>15.04.2026</a:t>
            </a:fld>
            <a:endParaRPr lang="tr-TR">
              <a:solidFill>
                <a:srgbClr val="B13F9A"/>
              </a:solidFill>
            </a:endParaRPr>
          </a:p>
        </p:txBody>
      </p:sp>
      <p:sp>
        <p:nvSpPr>
          <p:cNvPr id="3" name="Altbilgi Yer Tutucusu 2"/>
          <p:cNvSpPr>
            <a:spLocks noGrp="1"/>
          </p:cNvSpPr>
          <p:nvPr>
            <p:ph type="ftr" sz="quarter" idx="11"/>
          </p:nvPr>
        </p:nvSpPr>
        <p:spPr/>
        <p:txBody>
          <a:bodyPr/>
          <a:lstStyle>
            <a:lvl1pPr>
              <a:defRPr>
                <a:solidFill>
                  <a:schemeClr val="tx2"/>
                </a:solidFill>
              </a:defRPr>
            </a:lvl1pPr>
            <a:extLst/>
          </a:lstStyle>
          <a:p>
            <a:endParaRPr lang="tr-TR">
              <a:solidFill>
                <a:srgbClr val="B13F9A"/>
              </a:solidFill>
            </a:endParaRPr>
          </a:p>
        </p:txBody>
      </p:sp>
      <p:sp>
        <p:nvSpPr>
          <p:cNvPr id="4" name="Slayt Numarası Yer Tutucusu 3"/>
          <p:cNvSpPr>
            <a:spLocks noGrp="1"/>
          </p:cNvSpPr>
          <p:nvPr>
            <p:ph type="sldNum" sz="quarter" idx="12"/>
          </p:nvPr>
        </p:nvSpPr>
        <p:spPr/>
        <p:txBody>
          <a:bodyPr/>
          <a:lstStyle/>
          <a:p>
            <a:fld id="{FAA56EE2-4799-4384-9DE6-737D3E3A077F}" type="slidenum">
              <a:rPr lang="tr-TR" smtClean="0">
                <a:solidFill>
                  <a:srgbClr val="B13F9A"/>
                </a:solidFill>
              </a:rPr>
              <a:pPr/>
              <a:t>‹#›</a:t>
            </a:fld>
            <a:endParaRPr lang="tr-TR">
              <a:solidFill>
                <a:srgbClr val="B13F9A"/>
              </a:solidFill>
            </a:endParaRPr>
          </a:p>
        </p:txBody>
      </p:sp>
    </p:spTree>
    <p:extLst>
      <p:ext uri="{BB962C8B-B14F-4D97-AF65-F5344CB8AC3E}">
        <p14:creationId xmlns:p14="http://schemas.microsoft.com/office/powerpoint/2010/main" val="3488917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609600" y="228600"/>
            <a:ext cx="7863840" cy="1173480"/>
          </a:xfrm>
        </p:spPr>
        <p:txBody>
          <a:bodyPr wrap="square" anchor="b"/>
          <a:lstStyle>
            <a:lvl1pPr algn="l">
              <a:buNone/>
              <a:defRPr lang="en-US" sz="2400" baseline="0" smtClean="0"/>
            </a:lvl1pPr>
            <a:extLst/>
          </a:lstStyle>
          <a:p>
            <a:r>
              <a:rPr kumimoji="0" lang="tr-TR"/>
              <a:t>Asıl başlık stili için tıklatın</a:t>
            </a:r>
            <a:endParaRPr kumimoji="0" lang="en-US"/>
          </a:p>
        </p:txBody>
      </p:sp>
      <p:sp>
        <p:nvSpPr>
          <p:cNvPr id="3" name="Metin Yer Tutucusu 2"/>
          <p:cNvSpPr>
            <a:spLocks noGrp="1"/>
          </p:cNvSpPr>
          <p:nvPr>
            <p:ph type="body" idx="2"/>
          </p:nvPr>
        </p:nvSpPr>
        <p:spPr>
          <a:xfrm>
            <a:off x="609600" y="1497416"/>
            <a:ext cx="786384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tr-TR"/>
              <a:t>Asıl metin stillerini düzenlemek için tıklatın</a:t>
            </a:r>
          </a:p>
        </p:txBody>
      </p:sp>
      <p:sp>
        <p:nvSpPr>
          <p:cNvPr id="4" name="İçerik Yer Tutucusu 3"/>
          <p:cNvSpPr>
            <a:spLocks noGrp="1"/>
          </p:cNvSpPr>
          <p:nvPr>
            <p:ph sz="half" idx="1"/>
          </p:nvPr>
        </p:nvSpPr>
        <p:spPr>
          <a:xfrm>
            <a:off x="609600" y="2133600"/>
            <a:ext cx="9652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5" name="Veri Yer Tutucusu 4"/>
          <p:cNvSpPr>
            <a:spLocks noGrp="1"/>
          </p:cNvSpPr>
          <p:nvPr>
            <p:ph type="dt" sz="half" idx="10"/>
          </p:nvPr>
        </p:nvSpPr>
        <p:spPr/>
        <p:txBody>
          <a:bodyPr/>
          <a:lstStyle/>
          <a:p>
            <a:fld id="{75C01C49-90F4-4F88-B55D-6F1BD26A4F6A}" type="datetimeFigureOut">
              <a:rPr lang="tr-TR" smtClean="0">
                <a:solidFill>
                  <a:srgbClr val="B13F9A"/>
                </a:solidFill>
              </a:rPr>
              <a:pPr/>
              <a:t>15.04.2026</a:t>
            </a:fld>
            <a:endParaRPr lang="tr-TR">
              <a:solidFill>
                <a:srgbClr val="B13F9A"/>
              </a:solidFill>
            </a:endParaRPr>
          </a:p>
        </p:txBody>
      </p:sp>
      <p:sp>
        <p:nvSpPr>
          <p:cNvPr id="6" name="Altbilgi Yer Tutucusu 5"/>
          <p:cNvSpPr>
            <a:spLocks noGrp="1"/>
          </p:cNvSpPr>
          <p:nvPr>
            <p:ph type="ftr" sz="quarter" idx="11"/>
          </p:nvPr>
        </p:nvSpPr>
        <p:spPr/>
        <p:txBody>
          <a:bodyPr/>
          <a:lstStyle/>
          <a:p>
            <a:endParaRPr lang="tr-TR">
              <a:solidFill>
                <a:srgbClr val="B13F9A"/>
              </a:solidFill>
            </a:endParaRPr>
          </a:p>
        </p:txBody>
      </p:sp>
      <p:sp>
        <p:nvSpPr>
          <p:cNvPr id="7" name="Slayt Numarası Yer Tutucusu 6"/>
          <p:cNvSpPr>
            <a:spLocks noGrp="1"/>
          </p:cNvSpPr>
          <p:nvPr>
            <p:ph type="sldNum" sz="quarter" idx="12"/>
          </p:nvPr>
        </p:nvSpPr>
        <p:spPr/>
        <p:txBody>
          <a:bodyPr/>
          <a:lstStyle/>
          <a:p>
            <a:fld id="{FAA56EE2-4799-4384-9DE6-737D3E3A077F}" type="slidenum">
              <a:rPr lang="tr-TR" smtClean="0">
                <a:solidFill>
                  <a:srgbClr val="B13F9A"/>
                </a:solidFill>
              </a:rPr>
              <a:pPr/>
              <a:t>‹#›</a:t>
            </a:fld>
            <a:endParaRPr lang="tr-TR">
              <a:solidFill>
                <a:srgbClr val="B13F9A"/>
              </a:solidFill>
            </a:endParaRPr>
          </a:p>
        </p:txBody>
      </p:sp>
    </p:spTree>
    <p:extLst>
      <p:ext uri="{BB962C8B-B14F-4D97-AF65-F5344CB8AC3E}">
        <p14:creationId xmlns:p14="http://schemas.microsoft.com/office/powerpoint/2010/main" val="23725840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bg>
      <p:bgRef idx="1002">
        <a:schemeClr val="bg2"/>
      </p:bgRef>
    </p:bg>
    <p:spTree>
      <p:nvGrpSpPr>
        <p:cNvPr id="1" name=""/>
        <p:cNvGrpSpPr/>
        <p:nvPr/>
      </p:nvGrpSpPr>
      <p:grpSpPr>
        <a:xfrm>
          <a:off x="0" y="0"/>
          <a:ext cx="0" cy="0"/>
          <a:chOff x="0" y="0"/>
          <a:chExt cx="0" cy="0"/>
        </a:xfrm>
      </p:grpSpPr>
      <p:sp>
        <p:nvSpPr>
          <p:cNvPr id="8" name="Dikdörtgen 7"/>
          <p:cNvSpPr/>
          <p:nvPr/>
        </p:nvSpPr>
        <p:spPr>
          <a:xfrm rot="21240000">
            <a:off x="797292" y="1004669"/>
            <a:ext cx="5759369"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9" name="Dikdörtgen 8"/>
          <p:cNvSpPr/>
          <p:nvPr/>
        </p:nvSpPr>
        <p:spPr>
          <a:xfrm rot="21420000">
            <a:off x="795609" y="998817"/>
            <a:ext cx="5759369"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2" name="Başlık 1"/>
          <p:cNvSpPr>
            <a:spLocks noGrp="1"/>
          </p:cNvSpPr>
          <p:nvPr>
            <p:ph type="title"/>
          </p:nvPr>
        </p:nvSpPr>
        <p:spPr>
          <a:xfrm>
            <a:off x="7185464" y="1143000"/>
            <a:ext cx="4572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tr-TR"/>
              <a:t>Asıl başlık stili için tıklatın</a:t>
            </a:r>
            <a:endParaRPr kumimoji="0" lang="en-US" dirty="0"/>
          </a:p>
        </p:txBody>
      </p:sp>
      <p:sp>
        <p:nvSpPr>
          <p:cNvPr id="4" name="Metin Yer Tutucusu 3"/>
          <p:cNvSpPr>
            <a:spLocks noGrp="1"/>
          </p:cNvSpPr>
          <p:nvPr>
            <p:ph type="body" sz="half" idx="2"/>
          </p:nvPr>
        </p:nvSpPr>
        <p:spPr>
          <a:xfrm>
            <a:off x="7185464" y="3283634"/>
            <a:ext cx="4572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tr-TR"/>
              <a:t>Asıl metin stillerini düzenlemek için tıklatın</a:t>
            </a:r>
          </a:p>
        </p:txBody>
      </p:sp>
      <p:sp>
        <p:nvSpPr>
          <p:cNvPr id="5" name="Veri Yer Tutucusu 4"/>
          <p:cNvSpPr>
            <a:spLocks noGrp="1"/>
          </p:cNvSpPr>
          <p:nvPr>
            <p:ph type="dt" sz="half" idx="10"/>
          </p:nvPr>
        </p:nvSpPr>
        <p:spPr/>
        <p:txBody>
          <a:bodyPr/>
          <a:lstStyle/>
          <a:p>
            <a:fld id="{75C01C49-90F4-4F88-B55D-6F1BD26A4F6A}" type="datetimeFigureOut">
              <a:rPr lang="tr-TR" smtClean="0">
                <a:solidFill>
                  <a:srgbClr val="F4E7ED"/>
                </a:solidFill>
              </a:rPr>
              <a:pPr/>
              <a:t>15.04.2026</a:t>
            </a:fld>
            <a:endParaRPr lang="tr-TR">
              <a:solidFill>
                <a:srgbClr val="F4E7ED"/>
              </a:solidFill>
            </a:endParaRPr>
          </a:p>
        </p:txBody>
      </p:sp>
      <p:sp>
        <p:nvSpPr>
          <p:cNvPr id="6" name="Altbilgi Yer Tutucusu 5"/>
          <p:cNvSpPr>
            <a:spLocks noGrp="1"/>
          </p:cNvSpPr>
          <p:nvPr>
            <p:ph type="ftr" sz="quarter" idx="11"/>
          </p:nvPr>
        </p:nvSpPr>
        <p:spPr/>
        <p:txBody>
          <a:bodyPr/>
          <a:lstStyle/>
          <a:p>
            <a:endParaRPr lang="tr-TR">
              <a:solidFill>
                <a:srgbClr val="F4E7ED"/>
              </a:solidFill>
            </a:endParaRPr>
          </a:p>
        </p:txBody>
      </p:sp>
      <p:sp>
        <p:nvSpPr>
          <p:cNvPr id="7" name="Slayt Numarası Yer Tutucusu 6"/>
          <p:cNvSpPr>
            <a:spLocks noGrp="1"/>
          </p:cNvSpPr>
          <p:nvPr>
            <p:ph type="sldNum" sz="quarter" idx="12"/>
          </p:nvPr>
        </p:nvSpPr>
        <p:spPr/>
        <p:txBody>
          <a:bodyPr/>
          <a:lstStyle/>
          <a:p>
            <a:fld id="{FAA56EE2-4799-4384-9DE6-737D3E3A077F}" type="slidenum">
              <a:rPr lang="tr-TR" smtClean="0">
                <a:solidFill>
                  <a:srgbClr val="F4E7ED"/>
                </a:solidFill>
              </a:rPr>
              <a:pPr/>
              <a:t>‹#›</a:t>
            </a:fld>
            <a:endParaRPr lang="tr-TR">
              <a:solidFill>
                <a:srgbClr val="F4E7ED"/>
              </a:solidFill>
            </a:endParaRPr>
          </a:p>
        </p:txBody>
      </p:sp>
      <p:sp>
        <p:nvSpPr>
          <p:cNvPr id="10" name="Resim Yer Tutucusu 9"/>
          <p:cNvSpPr>
            <a:spLocks noGrp="1"/>
          </p:cNvSpPr>
          <p:nvPr>
            <p:ph type="pic" idx="1"/>
          </p:nvPr>
        </p:nvSpPr>
        <p:spPr>
          <a:xfrm>
            <a:off x="884909" y="1041002"/>
            <a:ext cx="560832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tr-TR"/>
              <a:t>Resim eklemek için simgeyi tıklatın</a:t>
            </a:r>
            <a:endParaRPr kumimoji="0" lang="en-US" dirty="0"/>
          </a:p>
        </p:txBody>
      </p:sp>
    </p:spTree>
    <p:extLst>
      <p:ext uri="{BB962C8B-B14F-4D97-AF65-F5344CB8AC3E}">
        <p14:creationId xmlns:p14="http://schemas.microsoft.com/office/powerpoint/2010/main" val="3704636200"/>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3" name="Dikey Metin Yer Tutucusu 2"/>
          <p:cNvSpPr>
            <a:spLocks noGrp="1"/>
          </p:cNvSpPr>
          <p:nvPr>
            <p:ph type="body" orient="vert" idx="1"/>
          </p:nvPr>
        </p:nvSpPr>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Veri Yer Tutucusu 3"/>
          <p:cNvSpPr>
            <a:spLocks noGrp="1"/>
          </p:cNvSpPr>
          <p:nvPr>
            <p:ph type="dt" sz="half" idx="10"/>
          </p:nvPr>
        </p:nvSpPr>
        <p:spPr/>
        <p:txBody>
          <a:bodyPr/>
          <a:lstStyle/>
          <a:p>
            <a:fld id="{75C01C49-90F4-4F88-B55D-6F1BD26A4F6A}" type="datetimeFigureOut">
              <a:rPr lang="tr-TR" smtClean="0">
                <a:solidFill>
                  <a:srgbClr val="B13F9A"/>
                </a:solidFill>
              </a:rPr>
              <a:pPr/>
              <a:t>15.04.2026</a:t>
            </a:fld>
            <a:endParaRPr lang="tr-TR">
              <a:solidFill>
                <a:srgbClr val="B13F9A"/>
              </a:solidFill>
            </a:endParaRPr>
          </a:p>
        </p:txBody>
      </p:sp>
      <p:sp>
        <p:nvSpPr>
          <p:cNvPr id="5" name="Altbilgi Yer Tutucusu 4"/>
          <p:cNvSpPr>
            <a:spLocks noGrp="1"/>
          </p:cNvSpPr>
          <p:nvPr>
            <p:ph type="ftr" sz="quarter" idx="11"/>
          </p:nvPr>
        </p:nvSpPr>
        <p:spPr/>
        <p:txBody>
          <a:bodyPr/>
          <a:lstStyle/>
          <a:p>
            <a:endParaRPr lang="tr-TR">
              <a:solidFill>
                <a:srgbClr val="B13F9A"/>
              </a:solidFill>
            </a:endParaRPr>
          </a:p>
        </p:txBody>
      </p:sp>
      <p:sp>
        <p:nvSpPr>
          <p:cNvPr id="6" name="Slayt Numarası Yer Tutucusu 5"/>
          <p:cNvSpPr>
            <a:spLocks noGrp="1"/>
          </p:cNvSpPr>
          <p:nvPr>
            <p:ph type="sldNum" sz="quarter" idx="12"/>
          </p:nvPr>
        </p:nvSpPr>
        <p:spPr/>
        <p:txBody>
          <a:bodyPr/>
          <a:lstStyle/>
          <a:p>
            <a:fld id="{FAA56EE2-4799-4384-9DE6-737D3E3A077F}" type="slidenum">
              <a:rPr lang="tr-TR" smtClean="0">
                <a:solidFill>
                  <a:srgbClr val="B13F9A"/>
                </a:solidFill>
              </a:rPr>
              <a:pPr/>
              <a:t>‹#›</a:t>
            </a:fld>
            <a:endParaRPr lang="tr-TR">
              <a:solidFill>
                <a:srgbClr val="B13F9A"/>
              </a:solidFill>
            </a:endParaRPr>
          </a:p>
        </p:txBody>
      </p:sp>
    </p:spTree>
    <p:extLst>
      <p:ext uri="{BB962C8B-B14F-4D97-AF65-F5344CB8AC3E}">
        <p14:creationId xmlns:p14="http://schemas.microsoft.com/office/powerpoint/2010/main" val="437388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37600" y="274956"/>
            <a:ext cx="2032000" cy="5851525"/>
          </a:xfrm>
        </p:spPr>
        <p:txBody>
          <a:bodyPr vert="eaVert" anchor="t"/>
          <a:lstStyle/>
          <a:p>
            <a:r>
              <a:rPr kumimoji="0" lang="tr-TR"/>
              <a:t>Asıl başlık stili için tıklatın</a:t>
            </a:r>
            <a:endParaRPr kumimoji="0" lang="en-US"/>
          </a:p>
        </p:txBody>
      </p:sp>
      <p:sp>
        <p:nvSpPr>
          <p:cNvPr id="3" name="Dikey Metin Yer Tutucusu 2"/>
          <p:cNvSpPr>
            <a:spLocks noGrp="1"/>
          </p:cNvSpPr>
          <p:nvPr>
            <p:ph type="body" orient="vert" idx="1"/>
          </p:nvPr>
        </p:nvSpPr>
        <p:spPr>
          <a:xfrm>
            <a:off x="609600" y="274643"/>
            <a:ext cx="8026400" cy="5851525"/>
          </a:xfrm>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Veri Yer Tutucusu 3"/>
          <p:cNvSpPr>
            <a:spLocks noGrp="1"/>
          </p:cNvSpPr>
          <p:nvPr>
            <p:ph type="dt" sz="half" idx="10"/>
          </p:nvPr>
        </p:nvSpPr>
        <p:spPr>
          <a:xfrm>
            <a:off x="5657088" y="6557946"/>
            <a:ext cx="2669952" cy="226902"/>
          </a:xfrm>
        </p:spPr>
        <p:txBody>
          <a:bodyPr/>
          <a:lstStyle/>
          <a:p>
            <a:fld id="{75C01C49-90F4-4F88-B55D-6F1BD26A4F6A}" type="datetimeFigureOut">
              <a:rPr lang="tr-TR" smtClean="0">
                <a:solidFill>
                  <a:srgbClr val="B13F9A"/>
                </a:solidFill>
              </a:rPr>
              <a:pPr/>
              <a:t>15.04.2026</a:t>
            </a:fld>
            <a:endParaRPr lang="tr-TR">
              <a:solidFill>
                <a:srgbClr val="B13F9A"/>
              </a:solidFill>
            </a:endParaRPr>
          </a:p>
        </p:txBody>
      </p:sp>
      <p:sp>
        <p:nvSpPr>
          <p:cNvPr id="5" name="Altbilgi Yer Tutucusu 4"/>
          <p:cNvSpPr>
            <a:spLocks noGrp="1"/>
          </p:cNvSpPr>
          <p:nvPr>
            <p:ph type="ftr" sz="quarter" idx="11"/>
          </p:nvPr>
        </p:nvSpPr>
        <p:spPr>
          <a:xfrm>
            <a:off x="609600" y="6556248"/>
            <a:ext cx="4876800" cy="228600"/>
          </a:xfrm>
        </p:spPr>
        <p:txBody>
          <a:bodyPr/>
          <a:lstStyle/>
          <a:p>
            <a:endParaRPr lang="tr-TR">
              <a:solidFill>
                <a:srgbClr val="B13F9A"/>
              </a:solidFill>
            </a:endParaRPr>
          </a:p>
        </p:txBody>
      </p:sp>
      <p:sp>
        <p:nvSpPr>
          <p:cNvPr id="6" name="Slayt Numarası Yer Tutucusu 5"/>
          <p:cNvSpPr>
            <a:spLocks noGrp="1"/>
          </p:cNvSpPr>
          <p:nvPr>
            <p:ph type="sldNum" sz="quarter" idx="12"/>
          </p:nvPr>
        </p:nvSpPr>
        <p:spPr>
          <a:xfrm>
            <a:off x="8339328" y="6553200"/>
            <a:ext cx="784448" cy="228600"/>
          </a:xfrm>
        </p:spPr>
        <p:txBody>
          <a:bodyPr/>
          <a:lstStyle>
            <a:lvl1pPr>
              <a:defRPr>
                <a:solidFill>
                  <a:schemeClr val="tx2"/>
                </a:solidFill>
              </a:defRPr>
            </a:lvl1pPr>
            <a:extLst/>
          </a:lstStyle>
          <a:p>
            <a:fld id="{FAA56EE2-4799-4384-9DE6-737D3E3A077F}" type="slidenum">
              <a:rPr lang="tr-TR" smtClean="0">
                <a:solidFill>
                  <a:srgbClr val="B13F9A"/>
                </a:solidFill>
              </a:rPr>
              <a:pPr/>
              <a:t>‹#›</a:t>
            </a:fld>
            <a:endParaRPr lang="tr-TR">
              <a:solidFill>
                <a:srgbClr val="B13F9A"/>
              </a:solidFill>
            </a:endParaRPr>
          </a:p>
        </p:txBody>
      </p:sp>
    </p:spTree>
    <p:extLst>
      <p:ext uri="{BB962C8B-B14F-4D97-AF65-F5344CB8AC3E}">
        <p14:creationId xmlns:p14="http://schemas.microsoft.com/office/powerpoint/2010/main" val="4267329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Dikdörtgen 8"/>
          <p:cNvSpPr/>
          <p:nvPr/>
        </p:nvSpPr>
        <p:spPr>
          <a:xfrm flipH="1">
            <a:off x="10871200" y="0"/>
            <a:ext cx="13208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a:solidFill>
                <a:prstClr val="white"/>
              </a:solidFill>
            </a:endParaRPr>
          </a:p>
        </p:txBody>
      </p:sp>
      <p:sp>
        <p:nvSpPr>
          <p:cNvPr id="3" name="Başlık Yer Tutucusu 2"/>
          <p:cNvSpPr>
            <a:spLocks noGrp="1"/>
          </p:cNvSpPr>
          <p:nvPr>
            <p:ph type="title"/>
          </p:nvPr>
        </p:nvSpPr>
        <p:spPr>
          <a:xfrm>
            <a:off x="609600" y="320040"/>
            <a:ext cx="9652000" cy="1143000"/>
          </a:xfrm>
          <a:prstGeom prst="rect">
            <a:avLst/>
          </a:prstGeom>
        </p:spPr>
        <p:txBody>
          <a:bodyPr vert="horz" lIns="45720" tIns="0" rIns="45720" bIns="0" anchor="b" anchorCtr="0">
            <a:normAutofit/>
          </a:bodyPr>
          <a:lstStyle/>
          <a:p>
            <a:r>
              <a:rPr kumimoji="0" lang="tr-TR"/>
              <a:t>Asıl başlık stili için tıklatın</a:t>
            </a:r>
            <a:endParaRPr kumimoji="0" lang="en-US"/>
          </a:p>
        </p:txBody>
      </p:sp>
      <p:sp>
        <p:nvSpPr>
          <p:cNvPr id="31" name="Metin Yer Tutucusu 30"/>
          <p:cNvSpPr>
            <a:spLocks noGrp="1"/>
          </p:cNvSpPr>
          <p:nvPr>
            <p:ph type="body" idx="1"/>
          </p:nvPr>
        </p:nvSpPr>
        <p:spPr>
          <a:xfrm>
            <a:off x="609600" y="1609416"/>
            <a:ext cx="9652000" cy="4846320"/>
          </a:xfrm>
          <a:prstGeom prst="rect">
            <a:avLst/>
          </a:prstGeom>
        </p:spPr>
        <p:txBody>
          <a:bodyPr vert="horz">
            <a:normAutofit/>
          </a:bodyPr>
          <a:lstStyle/>
          <a:p>
            <a:pPr lvl="0" eaLnBrk="1" latinLnBrk="0" hangingPunct="1"/>
            <a:r>
              <a:rPr kumimoji="0" lang="tr-TR"/>
              <a:t>Asıl metin stillerini düzenlemek için tıklatın</a:t>
            </a:r>
          </a:p>
          <a:p>
            <a:pPr lvl="1" eaLnBrk="1" latinLnBrk="0" hangingPunct="1"/>
            <a:r>
              <a:rPr kumimoji="0" lang="tr-TR"/>
              <a:t>İkinci düzey</a:t>
            </a:r>
          </a:p>
          <a:p>
            <a:pPr lvl="2" eaLnBrk="1" latinLnBrk="0" hangingPunct="1"/>
            <a:r>
              <a:rPr kumimoji="0" lang="tr-TR"/>
              <a:t>Üçüncü düzey</a:t>
            </a:r>
          </a:p>
          <a:p>
            <a:pPr lvl="3" eaLnBrk="1" latinLnBrk="0" hangingPunct="1"/>
            <a:r>
              <a:rPr kumimoji="0" lang="tr-TR"/>
              <a:t>Dördüncü düzey</a:t>
            </a:r>
          </a:p>
          <a:p>
            <a:pPr lvl="4" eaLnBrk="1" latinLnBrk="0" hangingPunct="1"/>
            <a:r>
              <a:rPr kumimoji="0" lang="tr-TR"/>
              <a:t>Beşinci düzey</a:t>
            </a:r>
            <a:endParaRPr kumimoji="0" lang="en-US"/>
          </a:p>
        </p:txBody>
      </p:sp>
      <p:sp>
        <p:nvSpPr>
          <p:cNvPr id="27" name="Veri Yer Tutucusu 26"/>
          <p:cNvSpPr>
            <a:spLocks noGrp="1"/>
          </p:cNvSpPr>
          <p:nvPr>
            <p:ph type="dt" sz="half" idx="2"/>
          </p:nvPr>
        </p:nvSpPr>
        <p:spPr>
          <a:xfrm>
            <a:off x="5661248" y="6557946"/>
            <a:ext cx="2669952" cy="226902"/>
          </a:xfrm>
          <a:prstGeom prst="rect">
            <a:avLst/>
          </a:prstGeom>
        </p:spPr>
        <p:txBody>
          <a:bodyPr vert="horz" tIns="0" bIns="0" anchor="b"/>
          <a:lstStyle>
            <a:lvl1pPr algn="l" eaLnBrk="1" latinLnBrk="0" hangingPunct="1">
              <a:defRPr kumimoji="0" sz="1000">
                <a:solidFill>
                  <a:schemeClr val="tx2"/>
                </a:solidFill>
              </a:defRPr>
            </a:lvl1pPr>
            <a:extLst/>
          </a:lstStyle>
          <a:p>
            <a:fld id="{75C01C49-90F4-4F88-B55D-6F1BD26A4F6A}" type="datetimeFigureOut">
              <a:rPr lang="tr-TR" smtClean="0">
                <a:solidFill>
                  <a:srgbClr val="B13F9A"/>
                </a:solidFill>
              </a:rPr>
              <a:pPr/>
              <a:t>15.04.2026</a:t>
            </a:fld>
            <a:endParaRPr lang="tr-TR">
              <a:solidFill>
                <a:srgbClr val="B13F9A"/>
              </a:solidFill>
            </a:endParaRPr>
          </a:p>
        </p:txBody>
      </p:sp>
      <p:sp>
        <p:nvSpPr>
          <p:cNvPr id="4" name="Altbilgi Yer Tutucusu 3"/>
          <p:cNvSpPr>
            <a:spLocks noGrp="1"/>
          </p:cNvSpPr>
          <p:nvPr>
            <p:ph type="ftr" sz="quarter" idx="3"/>
          </p:nvPr>
        </p:nvSpPr>
        <p:spPr>
          <a:xfrm>
            <a:off x="609600" y="6557946"/>
            <a:ext cx="48768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tr-TR">
              <a:solidFill>
                <a:srgbClr val="B13F9A"/>
              </a:solidFill>
            </a:endParaRPr>
          </a:p>
        </p:txBody>
      </p:sp>
      <p:sp>
        <p:nvSpPr>
          <p:cNvPr id="16" name="Slayt Numarası Yer Tutucusu 15"/>
          <p:cNvSpPr>
            <a:spLocks noGrp="1"/>
          </p:cNvSpPr>
          <p:nvPr>
            <p:ph type="sldNum" sz="quarter" idx="4"/>
          </p:nvPr>
        </p:nvSpPr>
        <p:spPr>
          <a:xfrm>
            <a:off x="8335264" y="6556248"/>
            <a:ext cx="784448"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FAA56EE2-4799-4384-9DE6-737D3E3A077F}" type="slidenum">
              <a:rPr lang="tr-TR" smtClean="0">
                <a:solidFill>
                  <a:srgbClr val="B13F9A"/>
                </a:solidFill>
              </a:rPr>
              <a:pPr/>
              <a:t>‹#›</a:t>
            </a:fld>
            <a:endParaRPr lang="tr-TR">
              <a:solidFill>
                <a:srgbClr val="B13F9A"/>
              </a:solidFill>
            </a:endParaRPr>
          </a:p>
        </p:txBody>
      </p:sp>
    </p:spTree>
    <p:extLst>
      <p:ext uri="{BB962C8B-B14F-4D97-AF65-F5344CB8AC3E}">
        <p14:creationId xmlns:p14="http://schemas.microsoft.com/office/powerpoint/2010/main" val="1761506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AC98E-5923-30B1-7EB8-7972590BE26A}"/>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21B90806-3FED-E618-D159-72BB83F5B52D}"/>
              </a:ext>
            </a:extLst>
          </p:cNvPr>
          <p:cNvSpPr>
            <a:spLocks noGrp="1"/>
          </p:cNvSpPr>
          <p:nvPr>
            <p:ph type="title"/>
          </p:nvPr>
        </p:nvSpPr>
        <p:spPr>
          <a:xfrm>
            <a:off x="609600" y="676195"/>
            <a:ext cx="9652000" cy="938595"/>
          </a:xfrm>
        </p:spPr>
        <p:txBody>
          <a:bodyPr>
            <a:normAutofit fontScale="90000"/>
          </a:bodyPr>
          <a:lstStyle/>
          <a:p>
            <a:pPr algn="ctr"/>
            <a:r>
              <a:rPr lang="tr-TR" sz="4000" dirty="0">
                <a:solidFill>
                  <a:schemeClr val="tx2"/>
                </a:solidFill>
                <a:latin typeface="Calibri" panose="020F0502020204030204" pitchFamily="34" charset="0"/>
                <a:cs typeface="Calibri" panose="020F0502020204030204" pitchFamily="34" charset="0"/>
              </a:rPr>
              <a:t>İLERİ PROMPT STRATEJİLERİ</a:t>
            </a:r>
            <a:br>
              <a:rPr lang="tr-TR" sz="4000" dirty="0">
                <a:solidFill>
                  <a:schemeClr val="tx2"/>
                </a:solidFill>
                <a:latin typeface="Calibri" panose="020F0502020204030204" pitchFamily="34" charset="0"/>
                <a:cs typeface="Calibri" panose="020F0502020204030204" pitchFamily="34" charset="0"/>
              </a:rPr>
            </a:br>
            <a:r>
              <a:rPr lang="tr-TR" sz="2800" dirty="0">
                <a:solidFill>
                  <a:schemeClr val="tx2"/>
                </a:solidFill>
                <a:latin typeface="Calibri" panose="020F0502020204030204" pitchFamily="34" charset="0"/>
                <a:cs typeface="Calibri" panose="020F0502020204030204" pitchFamily="34" charset="0"/>
              </a:rPr>
              <a:t>PROF. DR. MEHMET KESİM</a:t>
            </a:r>
            <a:endParaRPr lang="tr-TR" sz="2700" dirty="0">
              <a:solidFill>
                <a:schemeClr val="tx2"/>
              </a:solidFill>
              <a:latin typeface="Calibri" panose="020F0502020204030204" pitchFamily="34" charset="0"/>
              <a:cs typeface="Calibri" panose="020F0502020204030204" pitchFamily="34" charset="0"/>
            </a:endParaRPr>
          </a:p>
        </p:txBody>
      </p:sp>
      <p:pic>
        <p:nvPicPr>
          <p:cNvPr id="6" name="İçerik Yer Tutucusu 5">
            <a:extLst>
              <a:ext uri="{FF2B5EF4-FFF2-40B4-BE49-F238E27FC236}">
                <a16:creationId xmlns:a16="http://schemas.microsoft.com/office/drawing/2014/main" id="{8981BAB0-C1A6-9DD9-D405-5CD4E7830778}"/>
              </a:ext>
            </a:extLst>
          </p:cNvPr>
          <p:cNvPicPr>
            <a:picLocks noGrp="1" noChangeAspect="1"/>
          </p:cNvPicPr>
          <p:nvPr>
            <p:ph idx="1"/>
          </p:nvPr>
        </p:nvPicPr>
        <p:blipFill>
          <a:blip r:embed="rId3"/>
          <a:stretch>
            <a:fillRect/>
          </a:stretch>
        </p:blipFill>
        <p:spPr>
          <a:xfrm>
            <a:off x="609600" y="2315182"/>
            <a:ext cx="9639300" cy="3562266"/>
          </a:xfrm>
          <a:prstGeom prst="rect">
            <a:avLst/>
          </a:prstGeom>
        </p:spPr>
      </p:pic>
    </p:spTree>
    <p:extLst>
      <p:ext uri="{BB962C8B-B14F-4D97-AF65-F5344CB8AC3E}">
        <p14:creationId xmlns:p14="http://schemas.microsoft.com/office/powerpoint/2010/main" val="3156400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91BDF-3A91-1560-0AB4-6D8099F5BA49}"/>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617D46F3-4DC4-ACD2-8CF0-AD9D40F2E877}"/>
              </a:ext>
            </a:extLst>
          </p:cNvPr>
          <p:cNvSpPr txBox="1"/>
          <p:nvPr/>
        </p:nvSpPr>
        <p:spPr>
          <a:xfrm>
            <a:off x="1527243" y="1360453"/>
            <a:ext cx="7986408" cy="4666662"/>
          </a:xfrm>
          <a:prstGeom prst="rect">
            <a:avLst/>
          </a:prstGeom>
          <a:noFill/>
        </p:spPr>
        <p:txBody>
          <a:bodyPr wrap="square">
            <a:spAutoFit/>
          </a:bodyPr>
          <a:lstStyle/>
          <a:p>
            <a:pPr>
              <a:lnSpc>
                <a:spcPct val="107000"/>
              </a:lnSpc>
              <a:spcAft>
                <a:spcPts val="800"/>
              </a:spcAft>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1. Neden İleri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Prompt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Stratejileri</a:t>
            </a:r>
          </a:p>
          <a:p>
            <a:pPr>
              <a:lnSpc>
                <a:spcPct val="107000"/>
              </a:lnSpc>
              <a:spcAft>
                <a:spcPts val="800"/>
              </a:spcAft>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Bu sunumda özellikle </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“ileri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prompt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teknikleri” </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yerine </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“ileri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prompt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stratejileri</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ifadesini kullanılmıştır. Çünkü burada yalnızca tekil uygulama adımlarından değil, modelin nasıl düşündüğü, nasıl karar verdiği, hangi bilgiyi kullandığı ve çıktıyı nasıl eyleme dönüştürdüğü gibi daha üst düzey bilişsel süreçlerden söz edilmektedir. </a:t>
            </a:r>
          </a:p>
          <a:p>
            <a:pPr>
              <a:lnSpc>
                <a:spcPct val="107000"/>
              </a:lnSpc>
              <a:spcAft>
                <a:spcPts val="800"/>
              </a:spcAft>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“Teknik” </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daha çok tek bir uygulama biçimini anlatırken, </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“strateji” </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farklı teknikleri, bağlamı, doğrulama yollarını ve karar mekanizmalarını birlikte kapsayan daha geniş bir çerçevedir. Zero-</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shot</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CoT</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ReAct</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RAG ve CAG gibi yapılar yalnızca yazım yöntemi değil; akademik doğruluk, tutarlılık ve süreç yönetimi sağlayan bütüncül düşünme yaklaşımlarıdır. </a:t>
            </a:r>
          </a:p>
          <a:p>
            <a:pPr>
              <a:lnSpc>
                <a:spcPct val="107000"/>
              </a:lnSpc>
              <a:spcAft>
                <a:spcPts val="800"/>
              </a:spcAft>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Bu nedenle </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“strateji” </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ifadesi, açıklanan taksonominin kapsamını çok daha doğru yansıtmaktadır.</a:t>
            </a:r>
          </a:p>
        </p:txBody>
      </p:sp>
    </p:spTree>
    <p:extLst>
      <p:ext uri="{BB962C8B-B14F-4D97-AF65-F5344CB8AC3E}">
        <p14:creationId xmlns:p14="http://schemas.microsoft.com/office/powerpoint/2010/main" val="1086049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a:extLst>
              <a:ext uri="{FF2B5EF4-FFF2-40B4-BE49-F238E27FC236}">
                <a16:creationId xmlns:a16="http://schemas.microsoft.com/office/drawing/2014/main" id="{0914C0EB-A3E1-A21A-436A-0AB7900EBF4E}"/>
              </a:ext>
            </a:extLst>
          </p:cNvPr>
          <p:cNvSpPr txBox="1"/>
          <p:nvPr/>
        </p:nvSpPr>
        <p:spPr>
          <a:xfrm>
            <a:off x="1527243" y="1360453"/>
            <a:ext cx="7986408" cy="3576107"/>
          </a:xfrm>
          <a:prstGeom prst="rect">
            <a:avLst/>
          </a:prstGeom>
          <a:noFill/>
        </p:spPr>
        <p:txBody>
          <a:bodyPr wrap="square">
            <a:spAutoFit/>
          </a:bodyPr>
          <a:lstStyle/>
          <a:p>
            <a:pPr marL="457200" indent="-457200">
              <a:lnSpc>
                <a:spcPct val="107000"/>
              </a:lnSpc>
              <a:spcAft>
                <a:spcPts val="800"/>
              </a:spcAft>
              <a:buAutoNum type="arabicPeriod"/>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İLERİ PROMT STRATEJİLERİ</a:t>
            </a:r>
          </a:p>
          <a:p>
            <a:pPr>
              <a:lnSpc>
                <a:spcPct val="107000"/>
              </a:lnSpc>
              <a:spcAft>
                <a:spcPts val="800"/>
              </a:spcAft>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1.1 Temel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prompt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yazımı ile ileri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prompt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stratejileri arasındaki fark </a:t>
            </a:r>
            <a:endParaRPr lang="tr-TR" sz="2000" kern="100" dirty="0">
              <a:solidFill>
                <a:schemeClr val="tx2"/>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Temel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prompt</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yazımı, modele doğrudan bir görev vererek hızlı çıktı almayı amaçlar. Bu yaklaşım özetleme, çeviri veya kısa açıklama gibi tek adımlı görevlerde oldukça etkilidir. İleri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prompt</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stratejileri ise modele yalnızca görevi değil, görevi nasıl gerçekleştireceğini de tarif eder. Örneğin “Yapay zekânın eğitimde kullanımını açıkla” temel bir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prompt</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iken, “öğretim, ölçme ve okul yönetimi boyutlarında sınıflandırarak vaka örnekleriyle açıkla” ileri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prompting</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örneğidir. Bu nedenle temel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prompting</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sonuç odaklı,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advanced</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prompting</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ise düşünme süreci odaklıdır.</a:t>
            </a:r>
          </a:p>
        </p:txBody>
      </p:sp>
    </p:spTree>
    <p:extLst>
      <p:ext uri="{BB962C8B-B14F-4D97-AF65-F5344CB8AC3E}">
        <p14:creationId xmlns:p14="http://schemas.microsoft.com/office/powerpoint/2010/main" val="2450980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42A80-78A8-D727-425E-76CE00102E3B}"/>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C47EA3EA-5A2F-84C9-4ABF-C38E0BBE5D5B}"/>
              </a:ext>
            </a:extLst>
          </p:cNvPr>
          <p:cNvSpPr txBox="1"/>
          <p:nvPr/>
        </p:nvSpPr>
        <p:spPr>
          <a:xfrm>
            <a:off x="1546697" y="2013626"/>
            <a:ext cx="7966953" cy="2814873"/>
          </a:xfrm>
          <a:prstGeom prst="rect">
            <a:avLst/>
          </a:prstGeom>
          <a:noFill/>
        </p:spPr>
        <p:txBody>
          <a:bodyPr wrap="square">
            <a:spAutoFit/>
          </a:bodyPr>
          <a:lstStyle/>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1.2 “Tek soru sormak” ile “düşünmeyi yönlendirmek” arasındaki ayrım </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Tek soru sormak, modelden doğrudan bir cevap istemektir. Düşünmeyi yönlendirmek ise modelin hangi sırayla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reasoning</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(akıl yürütme, muhakeme, çıkarımsal düşünme) yapacağını belirlemektir. Örneğin “Öğrenci devamsızlığı neden artar?” tek sorudur. Buna karşılık “önce bireysel, sonra aile, sonra okul iklimi açısından analiz et” ifadesi düşünme akışını tasarlar. Böylece çıktı daha sistematik, açıklanabilir ve akademik olarak daha güçlü hâle gelir.</a:t>
            </a:r>
          </a:p>
        </p:txBody>
      </p:sp>
    </p:spTree>
    <p:extLst>
      <p:ext uri="{BB962C8B-B14F-4D97-AF65-F5344CB8AC3E}">
        <p14:creationId xmlns:p14="http://schemas.microsoft.com/office/powerpoint/2010/main" val="4190271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34871-C3CC-9FC4-D2B0-CA214DC97D84}"/>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14D5019B-7A3C-AF38-27F8-4F82EFDD93B8}"/>
              </a:ext>
            </a:extLst>
          </p:cNvPr>
          <p:cNvSpPr txBox="1"/>
          <p:nvPr/>
        </p:nvSpPr>
        <p:spPr>
          <a:xfrm>
            <a:off x="1546697" y="2013626"/>
            <a:ext cx="7966953" cy="3144194"/>
          </a:xfrm>
          <a:prstGeom prst="rect">
            <a:avLst/>
          </a:prstGeom>
          <a:noFill/>
        </p:spPr>
        <p:txBody>
          <a:bodyPr wrap="square">
            <a:spAutoFit/>
          </a:bodyPr>
          <a:lstStyle/>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1.3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LLM’lerde</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muhakeme, araç kullanımı ve bağlam derinliği ihtiyacı </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Modern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LLM’ler</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artık sadece metin üretmekle sınırlı değildir. Aynı zamanda muhakeme yapabilir, araç çağırabilir ve önceki bağlamı kullanarak derinlemesine analiz üretebilir. Örneğin bir modelden hem dünya üniversitelerindeki ders örneklerini inceleyip hem de yeni bir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syllabus</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(izlence) oluşturması istenebilir. Bu tür görevler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reasoning</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retrieval</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(erişim, geri çağırma) ve bağlam yönetimini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context</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management</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aynı anda gerektirir. Bu yüzden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advanced</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prompting</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LLM’lerin</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gerçek kapasitesini ortaya çıkaran temel strateji hâline gelmiştir.</a:t>
            </a:r>
          </a:p>
        </p:txBody>
      </p:sp>
    </p:spTree>
    <p:extLst>
      <p:ext uri="{BB962C8B-B14F-4D97-AF65-F5344CB8AC3E}">
        <p14:creationId xmlns:p14="http://schemas.microsoft.com/office/powerpoint/2010/main" val="4013528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D5F96-7283-2571-8D82-67A8FECC91E9}"/>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2DADE876-C76D-85FA-A612-6908FF25554D}"/>
              </a:ext>
            </a:extLst>
          </p:cNvPr>
          <p:cNvSpPr txBox="1"/>
          <p:nvPr/>
        </p:nvSpPr>
        <p:spPr>
          <a:xfrm>
            <a:off x="1546697" y="2013626"/>
            <a:ext cx="7966953" cy="3144194"/>
          </a:xfrm>
          <a:prstGeom prst="rect">
            <a:avLst/>
          </a:prstGeom>
          <a:noFill/>
        </p:spPr>
        <p:txBody>
          <a:bodyPr wrap="square">
            <a:spAutoFit/>
          </a:bodyPr>
          <a:lstStyle/>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1.4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Agentic</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AI ve çok adımlı görevlerde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prompting’in</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kritik rolü </a:t>
            </a:r>
          </a:p>
          <a:p>
            <a:pPr>
              <a:lnSpc>
                <a:spcPct val="107000"/>
              </a:lnSpc>
              <a:spcAft>
                <a:spcPts val="800"/>
              </a:spcAft>
              <a:buNone/>
            </a:pP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Agentic</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AI sistemleri tek adımlı cevap üretmek yerine hedefe ulaşmak için çok aşamalı bir iş akışı kurar. Bu süreçte hedef belirleme, alt görev oluşturma, araç kullanma ve sonuçları yeniden değerlendirme adımları bulunur. Örneğin bir üniversite için yeni bir yüksek lisans programı tasarlama görevi, araştırma, planlama ve revizyon aşamalarını içerir. Bu aşamaların her biri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prompting</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ile yönlendirilir. Dolayısıyla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prompting</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Agentic</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AI’ın</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karar verme ve eylem altyapısını oluşturan çekirdek mekanizmadır.</a:t>
            </a:r>
          </a:p>
        </p:txBody>
      </p:sp>
    </p:spTree>
    <p:extLst>
      <p:ext uri="{BB962C8B-B14F-4D97-AF65-F5344CB8AC3E}">
        <p14:creationId xmlns:p14="http://schemas.microsoft.com/office/powerpoint/2010/main" val="1553599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F1766-4CC6-CFFF-8888-2B1558891EB9}"/>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4E764BE5-5067-F308-5F07-786909863F8D}"/>
              </a:ext>
            </a:extLst>
          </p:cNvPr>
          <p:cNvSpPr txBox="1"/>
          <p:nvPr/>
        </p:nvSpPr>
        <p:spPr>
          <a:xfrm>
            <a:off x="1478605" y="1284052"/>
            <a:ext cx="8035046" cy="4337341"/>
          </a:xfrm>
          <a:prstGeom prst="rect">
            <a:avLst/>
          </a:prstGeom>
          <a:noFill/>
        </p:spPr>
        <p:txBody>
          <a:bodyPr wrap="square">
            <a:spAutoFit/>
          </a:bodyPr>
          <a:lstStyle/>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1.5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Prompting’in</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artık bir “tasarım stratejisi” hâline gelmesi </a:t>
            </a:r>
          </a:p>
          <a:p>
            <a:pPr>
              <a:lnSpc>
                <a:spcPct val="107000"/>
              </a:lnSpc>
              <a:spcAft>
                <a:spcPts val="800"/>
              </a:spcAft>
              <a:buNone/>
            </a:pP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Prompting</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artık yalnızca komut yazmak değil, yapay zekâ ile kurulacak düşünme mimarisini tasarlamaktır. Kullanıcı burada çıktı formatını,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reasoning</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sırasını, araç zincirini ve kalite kriterlerini belirler. Örneğin bir makale özeti isterken amaç, yöntem, bulgular ve tartışma başlıklarını önceden tanımlamak bu tasarım yaklaşımına girer. Böylece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prompt</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bilgi mimarisi ve çıktı standardı oluşturan bir tasarım katmanına dönüşür. Bu nedenle modern AI sistemlerinde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prompting</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teknik bir beceriden çok stratejik bir tasarım disiplini olarak görülmektedir.</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Ana mesaj:</a:t>
            </a:r>
          </a:p>
          <a:p>
            <a:pPr>
              <a:lnSpc>
                <a:spcPct val="107000"/>
              </a:lnSpc>
              <a:spcAft>
                <a:spcPts val="800"/>
              </a:spcAft>
              <a:buNone/>
            </a:pP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Prompt</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artık sadece komut değil, modelin düşünme mimarisini şekillendiren bilişsel bir arayüzdür.</a:t>
            </a:r>
          </a:p>
        </p:txBody>
      </p:sp>
    </p:spTree>
    <p:extLst>
      <p:ext uri="{BB962C8B-B14F-4D97-AF65-F5344CB8AC3E}">
        <p14:creationId xmlns:p14="http://schemas.microsoft.com/office/powerpoint/2010/main" val="2837651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19605-BD47-B1C7-F774-0AC38ACF3862}"/>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F4E7395D-E10B-AF33-9093-06ECBD551221}"/>
              </a:ext>
            </a:extLst>
          </p:cNvPr>
          <p:cNvSpPr txBox="1"/>
          <p:nvPr/>
        </p:nvSpPr>
        <p:spPr>
          <a:xfrm>
            <a:off x="1186774" y="593388"/>
            <a:ext cx="8326877" cy="6885731"/>
          </a:xfrm>
          <a:prstGeom prst="rect">
            <a:avLst/>
          </a:prstGeom>
          <a:noFill/>
        </p:spPr>
        <p:txBody>
          <a:bodyPr wrap="square">
            <a:spAutoFit/>
          </a:bodyPr>
          <a:lstStyle/>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2. İLERİ PROMPT STRATEJİLERİ TAKSONOMİSİ </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2.1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Reasoning-based</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2.1.1 Zero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shot</a:t>
            </a:r>
            <a:endPar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2.1.2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One</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shot</a:t>
            </a:r>
            <a:endPar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2.1.2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Few</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shot</a:t>
            </a:r>
            <a:endPar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2.1.3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Chain</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of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Thought</a:t>
            </a:r>
            <a:endPar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2.1.4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Tree</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of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Thought</a:t>
            </a:r>
            <a:endPar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2.2 Action-</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based</a:t>
            </a:r>
            <a:endPar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2.2.1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ReAct</a:t>
            </a:r>
            <a:endPar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2.2.2 PAL</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2.3 Knowledge-</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based</a:t>
            </a:r>
            <a:endPar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2.3.1 RAG</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2.3.2 CAG</a:t>
            </a:r>
          </a:p>
          <a:p>
            <a:pPr>
              <a:lnSpc>
                <a:spcPct val="107000"/>
              </a:lnSpc>
              <a:spcAft>
                <a:spcPts val="800"/>
              </a:spcAft>
              <a:buNone/>
            </a:pPr>
            <a:endPar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endPar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endPar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38240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58121-71C0-D4E7-B4FF-8CBC46315AAD}"/>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502545C0-0B41-4771-ABC9-5D8C29C41DCE}"/>
              </a:ext>
            </a:extLst>
          </p:cNvPr>
          <p:cNvSpPr txBox="1"/>
          <p:nvPr/>
        </p:nvSpPr>
        <p:spPr>
          <a:xfrm>
            <a:off x="1264596" y="1293779"/>
            <a:ext cx="8249055" cy="4315797"/>
          </a:xfrm>
          <a:prstGeom prst="rect">
            <a:avLst/>
          </a:prstGeom>
          <a:noFill/>
        </p:spPr>
        <p:txBody>
          <a:bodyPr wrap="square">
            <a:spAutoFit/>
          </a:bodyPr>
          <a:lstStyle/>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2. İLERİ PROMPT STRATEJİLERİ TAKSONOMİSİ</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Akademik Çıktılarda Tutarlılık ve Doğruluk Stratejileri</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Akademik üretimde yapay zekâ kullanımında en kritik iki kalite ölçütü </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tutarlılık</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ve </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doğruluktur.</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Tutarlılık</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kavramların, argümanların, yöntemsel çizginin ve terminolojinin metin boyunca aynı mantıksal düzlemde sürdürülmesini ifade eder.</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Doğruluk</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ise hem olgusal bilgi düzeyinde hem de metodolojik uygunluk bakımından üretilen çıktının güvenilirliğini gösterir. </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İleri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prompt</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stratejileri bu iki kaliteyi sistematik biçimde artırmak için üç ana eksende sınıflandırılabilir: </a:t>
            </a:r>
          </a:p>
          <a:p>
            <a:pPr>
              <a:lnSpc>
                <a:spcPct val="107000"/>
              </a:lnSpc>
              <a:spcAft>
                <a:spcPts val="800"/>
              </a:spcAft>
              <a:buNone/>
            </a:pP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Reasoning-based</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Action-</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based</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ve Knowledge-</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based</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a:t>
            </a:r>
          </a:p>
        </p:txBody>
      </p:sp>
    </p:spTree>
    <p:extLst>
      <p:ext uri="{BB962C8B-B14F-4D97-AF65-F5344CB8AC3E}">
        <p14:creationId xmlns:p14="http://schemas.microsoft.com/office/powerpoint/2010/main" val="2672683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60360-AAF8-7328-2781-159487A3B3D4}"/>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4F0FDC2A-3539-E4D6-DC56-0DF5BEED88FD}"/>
              </a:ext>
            </a:extLst>
          </p:cNvPr>
          <p:cNvSpPr txBox="1"/>
          <p:nvPr/>
        </p:nvSpPr>
        <p:spPr>
          <a:xfrm>
            <a:off x="1332689" y="992222"/>
            <a:ext cx="8180963" cy="4645118"/>
          </a:xfrm>
          <a:prstGeom prst="rect">
            <a:avLst/>
          </a:prstGeom>
          <a:noFill/>
        </p:spPr>
        <p:txBody>
          <a:bodyPr wrap="square">
            <a:spAutoFit/>
          </a:bodyPr>
          <a:lstStyle/>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2.1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Reasoning-based</a:t>
            </a:r>
            <a:endPar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Reasoning-based</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prompt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stratejileri, </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akademik araştırmalarda yapay zekâdan alınan çıktının mantıksal tutarlılığını, yöntemsel doğruluğunu ve kavramsal derinliğini artırmak için kullanılan düşünme odaklı yaklaşımlardır. Bu stratejilerde amaç, modelin yalnızca sonuç üretmesi değil, sonuca hangi zihinsel adımlarla ulaştığını yapılandırılmış biçimde kurmasıdır. </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Özellikle:</a:t>
            </a:r>
          </a:p>
          <a:p>
            <a:pPr>
              <a:lnSpc>
                <a:spcPct val="107000"/>
              </a:lnSpc>
              <a:spcAft>
                <a:spcPts val="800"/>
              </a:spcAft>
              <a:buNone/>
            </a:pPr>
            <a:r>
              <a:rPr lang="tr-TR" sz="2000" b="1" kern="100" dirty="0">
                <a:solidFill>
                  <a:schemeClr val="tx2"/>
                </a:solidFill>
                <a:latin typeface="Calibri" panose="020F0502020204030204" pitchFamily="34" charset="0"/>
                <a:ea typeface="Calibri" panose="020F0502020204030204" pitchFamily="34" charset="0"/>
                <a:cs typeface="Arial" panose="020B0604020202020204" pitchFamily="34" charset="0"/>
              </a:rPr>
              <a:t>A</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raştırma problemi belirleme,</a:t>
            </a:r>
          </a:p>
          <a:p>
            <a:pPr>
              <a:lnSpc>
                <a:spcPct val="107000"/>
              </a:lnSpc>
              <a:spcAft>
                <a:spcPts val="800"/>
              </a:spcAft>
              <a:buNone/>
            </a:pPr>
            <a:r>
              <a:rPr lang="tr-TR" sz="2000" b="1" kern="100" dirty="0">
                <a:solidFill>
                  <a:schemeClr val="tx2"/>
                </a:solidFill>
                <a:latin typeface="Calibri" panose="020F0502020204030204" pitchFamily="34" charset="0"/>
                <a:ea typeface="Calibri" panose="020F0502020204030204" pitchFamily="34" charset="0"/>
                <a:cs typeface="Arial" panose="020B0604020202020204" pitchFamily="34" charset="0"/>
              </a:rPr>
              <a:t>K</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uramsal çerçeve oluşturma, </a:t>
            </a:r>
          </a:p>
          <a:p>
            <a:pPr>
              <a:lnSpc>
                <a:spcPct val="107000"/>
              </a:lnSpc>
              <a:spcAft>
                <a:spcPts val="800"/>
              </a:spcAft>
              <a:buNone/>
            </a:pPr>
            <a:r>
              <a:rPr lang="tr-TR" sz="2000" b="1" kern="100" dirty="0">
                <a:solidFill>
                  <a:schemeClr val="tx2"/>
                </a:solidFill>
                <a:latin typeface="Calibri" panose="020F0502020204030204" pitchFamily="34" charset="0"/>
                <a:ea typeface="Calibri" panose="020F0502020204030204" pitchFamily="34" charset="0"/>
                <a:cs typeface="Arial" panose="020B0604020202020204" pitchFamily="34" charset="0"/>
              </a:rPr>
              <a:t>Y</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öntem seçimi, </a:t>
            </a:r>
          </a:p>
          <a:p>
            <a:pPr>
              <a:lnSpc>
                <a:spcPct val="107000"/>
              </a:lnSpc>
              <a:spcAft>
                <a:spcPts val="800"/>
              </a:spcAft>
              <a:buNone/>
            </a:pPr>
            <a:r>
              <a:rPr lang="tr-TR" sz="2000" b="1" kern="100" dirty="0">
                <a:solidFill>
                  <a:schemeClr val="tx2"/>
                </a:solidFill>
                <a:latin typeface="Calibri" panose="020F0502020204030204" pitchFamily="34" charset="0"/>
                <a:ea typeface="Calibri" panose="020F0502020204030204" pitchFamily="34" charset="0"/>
                <a:cs typeface="Arial" panose="020B0604020202020204" pitchFamily="34" charset="0"/>
              </a:rPr>
              <a:t>V</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eri analizi yorumlama ve sonuçların tartışılması </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gibi akademik süreçlerde yüksek değer üretir. </a:t>
            </a:r>
          </a:p>
        </p:txBody>
      </p:sp>
    </p:spTree>
    <p:extLst>
      <p:ext uri="{BB962C8B-B14F-4D97-AF65-F5344CB8AC3E}">
        <p14:creationId xmlns:p14="http://schemas.microsoft.com/office/powerpoint/2010/main" val="2137686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E4F47-0CFF-E6F8-9B00-D4937B71EE14}"/>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249B54A9-78B3-695A-F419-EF90C6E43861}"/>
              </a:ext>
            </a:extLst>
          </p:cNvPr>
          <p:cNvSpPr txBox="1"/>
          <p:nvPr/>
        </p:nvSpPr>
        <p:spPr>
          <a:xfrm>
            <a:off x="1031132" y="894945"/>
            <a:ext cx="8482520" cy="4769254"/>
          </a:xfrm>
          <a:prstGeom prst="rect">
            <a:avLst/>
          </a:prstGeom>
          <a:noFill/>
        </p:spPr>
        <p:txBody>
          <a:bodyPr wrap="square">
            <a:spAutoFit/>
          </a:bodyPr>
          <a:lstStyle/>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2.1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Reasoning-based</a:t>
            </a:r>
            <a:endPar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Zero-</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shot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yaklaşımı</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doğrudan akademik görev tanımıyla hızlı çıktı sağlarken;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one-shot</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ve </a:t>
            </a:r>
            <a:r>
              <a:rPr lang="tr-TR" sz="2000" b="1" kern="100" dirty="0" err="1">
                <a:solidFill>
                  <a:schemeClr val="tx2"/>
                </a:solidFill>
                <a:latin typeface="Calibri" panose="020F0502020204030204" pitchFamily="34" charset="0"/>
                <a:ea typeface="Calibri" panose="020F0502020204030204" pitchFamily="34" charset="0"/>
                <a:cs typeface="Arial" panose="020B0604020202020204" pitchFamily="34" charset="0"/>
              </a:rPr>
              <a:t>F</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ew-shot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teknikleri örnekler üzerinden araştırma dilinin, kavramsal üslubun ve metodolojik çizginin korunmasına yardımcı olur. </a:t>
            </a:r>
          </a:p>
          <a:p>
            <a:pPr>
              <a:lnSpc>
                <a:spcPct val="107000"/>
              </a:lnSpc>
              <a:spcAft>
                <a:spcPts val="800"/>
              </a:spcAft>
              <a:buNone/>
            </a:pP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Chain</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of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Thought</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araştırma sorusundan yönteme, bulgulardan yoruma kadar mantık zincirini adım adım kurarak özellikle nitel analiz, </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SEM </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yorumlama ve hakem raporu yazımında güçlü sonuçlar verir.</a:t>
            </a:r>
          </a:p>
          <a:p>
            <a:pPr>
              <a:lnSpc>
                <a:spcPct val="107000"/>
              </a:lnSpc>
              <a:spcAft>
                <a:spcPts val="800"/>
              </a:spcAft>
              <a:buNone/>
            </a:pP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Tree</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of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Thought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ise birden fazla olası düşünce yolunu aynı anda değerlendirerek farklı teori, yöntem veya örneklem seçenekleri arasında en uygun akademik tasarımın seçilmesini sağlar. </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Bu nedenle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r</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easoning-based</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stratejiler, yapay zekâyı akademik yazımda yalnızca bir metin üreticisi değil, araştırma muhakemesini destekleyen bilişsel bir ortak hâline dönüştürmektedir.</a:t>
            </a:r>
          </a:p>
        </p:txBody>
      </p:sp>
    </p:spTree>
    <p:extLst>
      <p:ext uri="{BB962C8B-B14F-4D97-AF65-F5344CB8AC3E}">
        <p14:creationId xmlns:p14="http://schemas.microsoft.com/office/powerpoint/2010/main" val="2482261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F6D37-C35E-736E-B865-166150154462}"/>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87EB853D-0A85-0A6F-3BF2-83FEA747E71C}"/>
              </a:ext>
            </a:extLst>
          </p:cNvPr>
          <p:cNvSpPr txBox="1"/>
          <p:nvPr/>
        </p:nvSpPr>
        <p:spPr>
          <a:xfrm>
            <a:off x="1070043" y="1293778"/>
            <a:ext cx="8443608" cy="4110612"/>
          </a:xfrm>
          <a:prstGeom prst="rect">
            <a:avLst/>
          </a:prstGeom>
          <a:noFill/>
        </p:spPr>
        <p:txBody>
          <a:bodyPr wrap="square">
            <a:spAutoFit/>
          </a:bodyPr>
          <a:lstStyle/>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SEM</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SEM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Structural</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Equation</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Modeling</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 Yapısal Eşitlik Modellemesi)</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bir araştırmada yer alan değişkenler arasındaki doğrudan, dolaylı ve gizil ilişkileri aynı model içinde test etmeyi sağlayan ileri düzey istatistiksel analiz tekniğidir.</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SEM</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hem faktör analizi hem de regresyon analizini birleştirir. Böylece araştırmacı yalnızca </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“değişkenler ilişkili mi?” </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sorusunu değil, aynı zamanda </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“hangi değişken hangisini ne kadar etkiliyor, arada aracılık var mı, kuramsal model veriye uyuyor mu?” </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sorularını da inceleyebilir.</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Özellikle eğitim, psikoloji, işletme ve sosyal bilimlerde çok kullanılır. </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SEM, değişkenler arasındaki karmaşık nedensel ilişkileri kuramsal modele göre test eden güçlü bir analiz tekniğidir.</a:t>
            </a:r>
          </a:p>
        </p:txBody>
      </p:sp>
    </p:spTree>
    <p:extLst>
      <p:ext uri="{BB962C8B-B14F-4D97-AF65-F5344CB8AC3E}">
        <p14:creationId xmlns:p14="http://schemas.microsoft.com/office/powerpoint/2010/main" val="3086545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95347-CC53-4B82-294A-B7BD03675D97}"/>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0F69FFC6-1CCF-3E89-AAC5-5120348EDC55}"/>
              </a:ext>
            </a:extLst>
          </p:cNvPr>
          <p:cNvSpPr txBox="1"/>
          <p:nvPr/>
        </p:nvSpPr>
        <p:spPr>
          <a:xfrm>
            <a:off x="1381328" y="1974715"/>
            <a:ext cx="8132322" cy="3122650"/>
          </a:xfrm>
          <a:prstGeom prst="rect">
            <a:avLst/>
          </a:prstGeom>
          <a:noFill/>
        </p:spPr>
        <p:txBody>
          <a:bodyPr wrap="square">
            <a:spAutoFit/>
          </a:bodyPr>
          <a:lstStyle/>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2.1.1 Zero-</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shot</a:t>
            </a:r>
            <a:endPar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Zero-</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shot</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prompting</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modele herhangi bir örnek göstermeden yalnızca görev tanımı verilerek çıktı alınan en temel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reasoning-based</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stratejidir. </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Akademik çalışmalarda özellikle </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hızlı taslak üretimi, ilk fikir oluşturma v</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e düşünceyi başlatma açısından oldukça etkilidir. </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Ancak örnek verilmediği için terminoloji, üslup ve bölüm standardı bazen değişkenlik gösterebilir.</a:t>
            </a:r>
          </a:p>
          <a:p>
            <a:pPr>
              <a:lnSpc>
                <a:spcPct val="107000"/>
              </a:lnSpc>
              <a:spcAft>
                <a:spcPts val="800"/>
              </a:spcAft>
              <a:buNone/>
            </a:pPr>
            <a:endPar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914588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A129E-B525-79C5-4B40-7EFE9092740F}"/>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216684F3-FD90-A2AB-FE9B-E125400E7E84}"/>
              </a:ext>
            </a:extLst>
          </p:cNvPr>
          <p:cNvSpPr txBox="1"/>
          <p:nvPr/>
        </p:nvSpPr>
        <p:spPr>
          <a:xfrm>
            <a:off x="1254868" y="982494"/>
            <a:ext cx="8258782" cy="5940857"/>
          </a:xfrm>
          <a:prstGeom prst="rect">
            <a:avLst/>
          </a:prstGeom>
          <a:noFill/>
        </p:spPr>
        <p:txBody>
          <a:bodyPr wrap="square">
            <a:spAutoFit/>
          </a:bodyPr>
          <a:lstStyle/>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2.1.1 Zero-</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shot</a:t>
            </a:r>
            <a:endPar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Makale özeti üretme</a:t>
            </a:r>
          </a:p>
          <a:p>
            <a:pPr>
              <a:lnSpc>
                <a:spcPct val="107000"/>
              </a:lnSpc>
              <a:spcAft>
                <a:spcPts val="800"/>
              </a:spcAft>
              <a:buNone/>
            </a:pP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Prompt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“Bu makalenin yöntem bölümünü 200 kelimede özetle.”</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Açıklama ve Yorum</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Bu kullanım, özellikle kullanıcı uzun bir makaleyi hızlıca anlamak istediğinde çok etkilidir. Model burada yöntem bölümündeki araştırma deseni, örneklem, veri toplama araçları ve analiz tekniklerini seçerek yoğunlaştırılmış bir akademik özet üretir.</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Özellikle hakemlik, literatür taraması ve tez danışmanlığı süreçlerinde zaman kazandırır.</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Ancak yöntem dili bazen ayrıntı kaybedebilir; örneğin fenomenoloji ile durum çalışması karışabilir.</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Bu nedenle hızlı ilk okuma için güçlü, </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nihai rapor için kontrol gerektirir.</a:t>
            </a:r>
          </a:p>
          <a:p>
            <a:pPr>
              <a:lnSpc>
                <a:spcPct val="107000"/>
              </a:lnSpc>
              <a:spcAft>
                <a:spcPts val="800"/>
              </a:spcAft>
              <a:buNone/>
            </a:pPr>
            <a:endPar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160130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E4223-D75A-28AA-E719-57CC0F63DB6B}"/>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5FAE9AA3-BBCB-27E7-15D2-2B1556A38CA9}"/>
              </a:ext>
            </a:extLst>
          </p:cNvPr>
          <p:cNvSpPr txBox="1"/>
          <p:nvPr/>
        </p:nvSpPr>
        <p:spPr>
          <a:xfrm>
            <a:off x="1254868" y="982494"/>
            <a:ext cx="8258782" cy="5611536"/>
          </a:xfrm>
          <a:prstGeom prst="rect">
            <a:avLst/>
          </a:prstGeom>
          <a:noFill/>
        </p:spPr>
        <p:txBody>
          <a:bodyPr wrap="square">
            <a:spAutoFit/>
          </a:bodyPr>
          <a:lstStyle/>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2.1.1 Zero-</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shot</a:t>
            </a:r>
            <a:endPar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Araştırma sorusu üretme</a:t>
            </a:r>
          </a:p>
          <a:p>
            <a:pPr>
              <a:lnSpc>
                <a:spcPct val="107000"/>
              </a:lnSpc>
              <a:spcAft>
                <a:spcPts val="800"/>
              </a:spcAft>
              <a:buNone/>
            </a:pP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Prompt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“Yapay zekâ çağında okul liderliği üzerine üç araştırma sorusu yaz.”</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Açıklama ve Yorum</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Bu </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prompt</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araştırma tasarımının başlangıç aşamasında oldukça yararlıdır. Model, geniş kavramsal alanı daraltarak ölçülebilir veya nitel olarak araştırılabilir sorular üretmeye çalışır.</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Örneğin liderlik rolleri, veri temelli karar verme veya etik yönetim gibi alt alanlara yönlendirebilir.</a:t>
            </a:r>
          </a:p>
          <a:p>
            <a:pPr>
              <a:lnSpc>
                <a:spcPct val="107000"/>
              </a:lnSpc>
              <a:spcAft>
                <a:spcPts val="800"/>
              </a:spcAft>
              <a:buNone/>
            </a:pPr>
            <a:r>
              <a:rPr lang="tr-TR" sz="2000" b="1" kern="100" dirty="0">
                <a:solidFill>
                  <a:srgbClr val="0070C0"/>
                </a:solidFill>
                <a:latin typeface="Calibri" panose="020F0502020204030204" pitchFamily="34" charset="0"/>
                <a:ea typeface="Calibri" panose="020F0502020204030204" pitchFamily="34" charset="0"/>
                <a:cs typeface="Arial" panose="020B0604020202020204" pitchFamily="34" charset="0"/>
              </a:rPr>
              <a:t>Ö</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zellikle öğretmen görüşleri temelli nitel araştırmalarda güçlü bir başlangıç sağlar.</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Ancak araştırma bağlamı verilmezse sorular fazla genel kalabilir.</a:t>
            </a:r>
          </a:p>
          <a:p>
            <a:pPr>
              <a:lnSpc>
                <a:spcPct val="107000"/>
              </a:lnSpc>
              <a:spcAft>
                <a:spcPts val="800"/>
              </a:spcAft>
              <a:buNone/>
            </a:pPr>
            <a:endPar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264842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58100-AB81-D3A2-24F9-058745BC48C4}"/>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1998C46E-F96C-CDDC-7516-57BDBD667EFE}"/>
              </a:ext>
            </a:extLst>
          </p:cNvPr>
          <p:cNvSpPr txBox="1"/>
          <p:nvPr/>
        </p:nvSpPr>
        <p:spPr>
          <a:xfrm>
            <a:off x="1254868" y="982494"/>
            <a:ext cx="8258782" cy="5611536"/>
          </a:xfrm>
          <a:prstGeom prst="rect">
            <a:avLst/>
          </a:prstGeom>
          <a:noFill/>
        </p:spPr>
        <p:txBody>
          <a:bodyPr wrap="square">
            <a:spAutoFit/>
          </a:bodyPr>
          <a:lstStyle/>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2.1.1 Zero-</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shot</a:t>
            </a:r>
            <a:endPar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Kuramsal açıklama</a:t>
            </a:r>
          </a:p>
          <a:p>
            <a:pPr>
              <a:lnSpc>
                <a:spcPct val="107000"/>
              </a:lnSpc>
              <a:spcAft>
                <a:spcPts val="800"/>
              </a:spcAft>
              <a:buNone/>
            </a:pP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Prompt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“Dağıtık liderlik kuramını eğitim yönetimi bağlamında açıkla.”</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Açıklama ve Yorum</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Bu kullanım, özellikle kitap bölümü, kuramsal çerçeve veya ders notu üretiminde etkilidir. Model, kuramın temel varsayımlarını eğitim kurumlarıyla ilişkilendirerek açıklama yapar.</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Örneğin karar verme süreçlerinin okul müdürü, öğretmen liderler ve teknoloji koordinatörleri arasında paylaşılması gibi bağlamsal örnekler üretebilir.</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Bu, kuramı soyut düzeyden uygulamaya taşır.</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Risk ise bazı kuramcı isimlerinin eksik veya yüzeysel verilmesidir.</a:t>
            </a:r>
          </a:p>
          <a:p>
            <a:pPr>
              <a:lnSpc>
                <a:spcPct val="107000"/>
              </a:lnSpc>
              <a:spcAft>
                <a:spcPts val="800"/>
              </a:spcAft>
              <a:buNone/>
            </a:pPr>
            <a:endPar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838076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A06B5-A25B-8217-E78E-F674CFD8E554}"/>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1EEF850D-D6E1-8C9D-9F9B-BBB7C54ED84A}"/>
              </a:ext>
            </a:extLst>
          </p:cNvPr>
          <p:cNvSpPr txBox="1"/>
          <p:nvPr/>
        </p:nvSpPr>
        <p:spPr>
          <a:xfrm>
            <a:off x="1128409" y="447472"/>
            <a:ext cx="8385241" cy="6372770"/>
          </a:xfrm>
          <a:prstGeom prst="rect">
            <a:avLst/>
          </a:prstGeom>
          <a:noFill/>
        </p:spPr>
        <p:txBody>
          <a:bodyPr wrap="square">
            <a:spAutoFit/>
          </a:bodyPr>
          <a:lstStyle/>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2.1.1 Zero-</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shot</a:t>
            </a:r>
            <a:endPar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Kavram karşılaştırma (Daha güçlü akademik bir örnek)</a:t>
            </a:r>
          </a:p>
          <a:p>
            <a:pPr>
              <a:lnSpc>
                <a:spcPct val="107000"/>
              </a:lnSpc>
              <a:spcAft>
                <a:spcPts val="800"/>
              </a:spcAft>
              <a:buNone/>
            </a:pP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Prompt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“Nitel araştırma ile karma yöntem araştırmasını yöntemsel uygunluk, veri toplama ve analiz süreçleri açısından akademik dilde karşılaştır.”</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Açıklama ve Yorum</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Bu örnek, akademik araştırmalarda çok daha işlevseldir çünkü araştırmacının doğrudan yöntem seçimi kararını destekler.</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Model burada araştırmanın amacı, veri türü, analiz mantığı ve genellenebilirlik açısından iki yaklaşımı karşılaştırır.</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Özellikle doktora tezlerinde veya makale yöntem kısmında hangi yaklaşımın seçileceğini belirlemek için güçlüdür.</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Zero-</a:t>
            </a:r>
            <a:r>
              <a:rPr lang="tr-TR" sz="2000" b="1" kern="100" dirty="0" err="1">
                <a:solidFill>
                  <a:srgbClr val="0070C0"/>
                </a:solidFill>
                <a:effectLst/>
                <a:latin typeface="Calibri" panose="020F0502020204030204" pitchFamily="34" charset="0"/>
                <a:ea typeface="Calibri" panose="020F0502020204030204" pitchFamily="34" charset="0"/>
                <a:cs typeface="Arial" panose="020B0604020202020204" pitchFamily="34" charset="0"/>
              </a:rPr>
              <a:t>shot</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ile hızlı bir karar matrisi üretilebilir.</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Fakat bağlama göre yöntem tercihi yine araştırmacı tarafından doğrulanmalıdır.</a:t>
            </a:r>
          </a:p>
          <a:p>
            <a:pPr>
              <a:lnSpc>
                <a:spcPct val="107000"/>
              </a:lnSpc>
              <a:spcAft>
                <a:spcPts val="800"/>
              </a:spcAft>
              <a:buNone/>
            </a:pPr>
            <a:endPar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056432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5D971-EB08-F297-9CD2-7BBA9B979214}"/>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01B25C23-5009-6277-048A-658F3604D666}"/>
              </a:ext>
            </a:extLst>
          </p:cNvPr>
          <p:cNvSpPr txBox="1"/>
          <p:nvPr/>
        </p:nvSpPr>
        <p:spPr>
          <a:xfrm>
            <a:off x="1128409" y="447472"/>
            <a:ext cx="8385241" cy="5611536"/>
          </a:xfrm>
          <a:prstGeom prst="rect">
            <a:avLst/>
          </a:prstGeom>
          <a:noFill/>
        </p:spPr>
        <p:txBody>
          <a:bodyPr wrap="square">
            <a:spAutoFit/>
          </a:bodyPr>
          <a:lstStyle/>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2.1.1 Zero-</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shot</a:t>
            </a:r>
            <a:endPar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Sonuç paragrafı yazımı</a:t>
            </a:r>
          </a:p>
          <a:p>
            <a:pPr>
              <a:lnSpc>
                <a:spcPct val="107000"/>
              </a:lnSpc>
              <a:spcAft>
                <a:spcPts val="800"/>
              </a:spcAft>
              <a:buNone/>
            </a:pP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Prompt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“Nitel araştırma sonuç bölümüne uygun akademik bir sonuç paragrafı oluştur.”</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Açıklama ve Yorum</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Bu kullanım, özellikle makale veya tez yazımında tıkanılan noktalarda çok işe yarar. Model bulguların genel eğilimini toparlayan yüksek akademik tonda bir kapanış paragrafı üretir.</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Örneğin öğretmenlerin yapay zekâ çağında veri okuryazarlığı liderliğine vurgu yaptığını sentezleyebilir.</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Bu, yazım akışını hızlandırır.</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Ancak sonuç ile tartışma bölümünün karışmamasına dikkat edilmelidir.</a:t>
            </a:r>
          </a:p>
          <a:p>
            <a:pPr>
              <a:lnSpc>
                <a:spcPct val="107000"/>
              </a:lnSpc>
              <a:spcAft>
                <a:spcPts val="800"/>
              </a:spcAft>
              <a:buNone/>
            </a:pPr>
            <a:endPar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3090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4D0A6-67FC-9099-E90E-039B9FB12C69}"/>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BD08F978-17D6-6183-AB59-9D7A7795D189}"/>
              </a:ext>
            </a:extLst>
          </p:cNvPr>
          <p:cNvSpPr txBox="1"/>
          <p:nvPr/>
        </p:nvSpPr>
        <p:spPr>
          <a:xfrm>
            <a:off x="1128409" y="447472"/>
            <a:ext cx="8385241" cy="6351226"/>
          </a:xfrm>
          <a:prstGeom prst="rect">
            <a:avLst/>
          </a:prstGeom>
          <a:noFill/>
        </p:spPr>
        <p:txBody>
          <a:bodyPr wrap="square">
            <a:spAutoFit/>
          </a:bodyPr>
          <a:lstStyle/>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2.1.1 Zero-</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shot</a:t>
            </a:r>
            <a:endPar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Genel Değerlendirme</a:t>
            </a:r>
          </a:p>
          <a:p>
            <a:pPr>
              <a:lnSpc>
                <a:spcPct val="107000"/>
              </a:lnSpc>
              <a:spcAft>
                <a:spcPts val="800"/>
              </a:spcAft>
              <a:buNone/>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Zero-</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shot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özellikle şu durumlarda güçlüdür:</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Hızlı taslak üretimi </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İlk araştırma fikri oluşturma </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Kuramsal çerçeve başlatma </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Soru havuzu oluşturma </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 Bölüm yazımında blokaj aşma </a:t>
            </a:r>
          </a:p>
          <a:p>
            <a:pPr>
              <a:lnSpc>
                <a:spcPct val="107000"/>
              </a:lnSpc>
              <a:spcAft>
                <a:spcPts val="800"/>
              </a:spcAft>
              <a:buNone/>
            </a:pPr>
            <a:r>
              <a:rPr lang="tr-TR" sz="2000" b="1" kern="100" dirty="0">
                <a:solidFill>
                  <a:srgbClr val="0070C0"/>
                </a:solidFill>
                <a:latin typeface="Calibri" panose="020F0502020204030204" pitchFamily="34" charset="0"/>
                <a:ea typeface="Calibri" panose="020F0502020204030204" pitchFamily="34" charset="0"/>
                <a:cs typeface="Arial" panose="020B0604020202020204" pitchFamily="34" charset="0"/>
              </a:rPr>
              <a:t>K</a:t>
            </a: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itap bölümü ve akademik makale standardı yüksek üretim yapan araştırmacılar için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zero-shot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çoğu zaman tek başına yeterli değildir.</a:t>
            </a:r>
          </a:p>
          <a:p>
            <a:pPr>
              <a:lnSpc>
                <a:spcPct val="107000"/>
              </a:lnSpc>
              <a:spcAft>
                <a:spcPts val="800"/>
              </a:spcAft>
              <a:buNone/>
            </a:pPr>
            <a:r>
              <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En iyi kullanım genellikle:</a:t>
            </a:r>
          </a:p>
          <a:p>
            <a:pPr>
              <a:lnSpc>
                <a:spcPct val="107000"/>
              </a:lnSpc>
              <a:spcAft>
                <a:spcPts val="800"/>
              </a:spcAft>
            </a:pP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Zero-</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shot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Few-shot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 </a:t>
            </a:r>
            <a:r>
              <a:rPr lang="tr-TR" sz="2000" b="1" kern="100" dirty="0" err="1">
                <a:solidFill>
                  <a:schemeClr val="tx2"/>
                </a:solidFill>
                <a:effectLst/>
                <a:latin typeface="Calibri" panose="020F0502020204030204" pitchFamily="34" charset="0"/>
                <a:ea typeface="Calibri" panose="020F0502020204030204" pitchFamily="34" charset="0"/>
                <a:cs typeface="Arial" panose="020B0604020202020204" pitchFamily="34" charset="0"/>
              </a:rPr>
              <a:t>CoT</a:t>
            </a:r>
            <a:r>
              <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rPr>
              <a:t> </a:t>
            </a:r>
            <a:r>
              <a:rPr lang="tr-TR" sz="2000" b="1" dirty="0">
                <a:solidFill>
                  <a:schemeClr val="tx2"/>
                </a:solidFill>
                <a:latin typeface="Calibri" panose="020F0502020204030204" pitchFamily="34" charset="0"/>
                <a:cs typeface="Calibri" panose="020F0502020204030204" pitchFamily="34" charset="0"/>
              </a:rPr>
              <a:t>şeklindeki aşamalı akademik yazım zinciridir.</a:t>
            </a:r>
          </a:p>
          <a:p>
            <a:pPr>
              <a:lnSpc>
                <a:spcPct val="107000"/>
              </a:lnSpc>
              <a:spcAft>
                <a:spcPts val="800"/>
              </a:spcAft>
              <a:buNone/>
            </a:pPr>
            <a:endParaRPr lang="tr-TR" sz="2000" b="1" kern="1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buNone/>
            </a:pPr>
            <a:endParaRPr lang="tr-TR" sz="2000" b="1" kern="100" dirty="0">
              <a:solidFill>
                <a:schemeClr val="tx2"/>
              </a:solidFill>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buNone/>
            </a:pPr>
            <a:endParaRPr lang="tr-TR" sz="20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030805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83DC6-1A56-5E4D-3F80-5EA79858D206}"/>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647CE96D-68B1-3608-A322-1B8FBC563F61}"/>
              </a:ext>
            </a:extLst>
          </p:cNvPr>
          <p:cNvSpPr txBox="1"/>
          <p:nvPr/>
        </p:nvSpPr>
        <p:spPr>
          <a:xfrm>
            <a:off x="1371600" y="2062264"/>
            <a:ext cx="8142050" cy="3020058"/>
          </a:xfrm>
          <a:prstGeom prst="rect">
            <a:avLst/>
          </a:prstGeom>
          <a:noFill/>
        </p:spPr>
        <p:txBody>
          <a:bodyPr wrap="square">
            <a:spAutoFit/>
          </a:bodyPr>
          <a:lstStyle/>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2.1.2 </a:t>
            </a:r>
            <a:r>
              <a:rPr lang="tr-TR" sz="2000" b="1" dirty="0" err="1">
                <a:solidFill>
                  <a:schemeClr val="tx2"/>
                </a:solidFill>
                <a:latin typeface="Calibri" panose="020F0502020204030204" pitchFamily="34" charset="0"/>
                <a:cs typeface="Calibri" panose="020F0502020204030204" pitchFamily="34" charset="0"/>
              </a:rPr>
              <a:t>One-shot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err="1">
                <a:solidFill>
                  <a:schemeClr val="tx2"/>
                </a:solidFill>
                <a:latin typeface="Calibri" panose="020F0502020204030204" pitchFamily="34" charset="0"/>
                <a:cs typeface="Calibri" panose="020F0502020204030204" pitchFamily="34" charset="0"/>
              </a:rPr>
              <a:t>One-shot</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prompting</a:t>
            </a:r>
            <a:r>
              <a:rPr lang="tr-TR" sz="2000" b="1" dirty="0">
                <a:solidFill>
                  <a:schemeClr val="tx2"/>
                </a:solidFill>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modele yalnızca tek bir örnek çıktı göstererek benzer biçim, üslup ve mantıkta yeni bir akademik çıktı üretmesini sağlayan </a:t>
            </a:r>
            <a:r>
              <a:rPr lang="tr-TR" sz="2000" b="1" dirty="0" err="1">
                <a:solidFill>
                  <a:srgbClr val="0070C0"/>
                </a:solidFill>
                <a:latin typeface="Calibri" panose="020F0502020204030204" pitchFamily="34" charset="0"/>
                <a:cs typeface="Calibri" panose="020F0502020204030204" pitchFamily="34" charset="0"/>
              </a:rPr>
              <a:t>reasoning-based</a:t>
            </a:r>
            <a:r>
              <a:rPr lang="tr-TR" sz="2000" b="1" dirty="0">
                <a:solidFill>
                  <a:srgbClr val="0070C0"/>
                </a:solidFill>
                <a:latin typeface="Calibri" panose="020F0502020204030204" pitchFamily="34" charset="0"/>
                <a:cs typeface="Calibri" panose="020F0502020204030204" pitchFamily="34" charset="0"/>
              </a:rPr>
              <a:t> bir stratejidir. </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Zero-</a:t>
            </a:r>
            <a:r>
              <a:rPr lang="tr-TR" sz="2000" b="1" dirty="0" err="1">
                <a:solidFill>
                  <a:schemeClr val="tx2"/>
                </a:solidFill>
                <a:latin typeface="Calibri" panose="020F0502020204030204" pitchFamily="34" charset="0"/>
                <a:cs typeface="Calibri" panose="020F0502020204030204" pitchFamily="34" charset="0"/>
              </a:rPr>
              <a:t>shot’a</a:t>
            </a:r>
            <a:r>
              <a:rPr lang="tr-TR" sz="2000" b="1" dirty="0">
                <a:solidFill>
                  <a:schemeClr val="tx2"/>
                </a:solidFill>
                <a:latin typeface="Calibri" panose="020F0502020204030204" pitchFamily="34" charset="0"/>
                <a:cs typeface="Calibri" panose="020F0502020204030204" pitchFamily="34" charset="0"/>
              </a:rPr>
              <a:t> göre en büyük avantajı, </a:t>
            </a:r>
            <a:r>
              <a:rPr lang="tr-TR" sz="2000" b="1" dirty="0">
                <a:solidFill>
                  <a:srgbClr val="0070C0"/>
                </a:solidFill>
                <a:latin typeface="Calibri" panose="020F0502020204030204" pitchFamily="34" charset="0"/>
                <a:cs typeface="Calibri" panose="020F0502020204030204" pitchFamily="34" charset="0"/>
              </a:rPr>
              <a:t>biçimsel tutarlılığı ve bölüm standardını artırmasıdır. </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Özellikle tez bölümleri, makale alt başlıkları, tema yazımları, hakem raporları ve APA düzenlemelerinde yüksek verim sağlar.</a:t>
            </a:r>
          </a:p>
        </p:txBody>
      </p:sp>
    </p:spTree>
    <p:extLst>
      <p:ext uri="{BB962C8B-B14F-4D97-AF65-F5344CB8AC3E}">
        <p14:creationId xmlns:p14="http://schemas.microsoft.com/office/powerpoint/2010/main" val="2699178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7C3B8-A02B-8B80-7B2C-F0856AA42B42}"/>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B2D02501-ED74-AD25-3586-E456170AE934}"/>
              </a:ext>
            </a:extLst>
          </p:cNvPr>
          <p:cNvSpPr txBox="1"/>
          <p:nvPr/>
        </p:nvSpPr>
        <p:spPr>
          <a:xfrm>
            <a:off x="1108953" y="223736"/>
            <a:ext cx="8404697" cy="6907276"/>
          </a:xfrm>
          <a:prstGeom prst="rect">
            <a:avLst/>
          </a:prstGeom>
          <a:noFill/>
        </p:spPr>
        <p:txBody>
          <a:bodyPr wrap="square">
            <a:spAutoFit/>
          </a:bodyPr>
          <a:lstStyle/>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2.1.2 </a:t>
            </a:r>
            <a:r>
              <a:rPr lang="tr-TR" sz="2000" b="1" dirty="0" err="1">
                <a:solidFill>
                  <a:schemeClr val="tx2"/>
                </a:solidFill>
                <a:latin typeface="Calibri" panose="020F0502020204030204" pitchFamily="34" charset="0"/>
                <a:cs typeface="Calibri" panose="020F0502020204030204" pitchFamily="34" charset="0"/>
              </a:rPr>
              <a:t>One-shot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Örnek paragraf üzerinden yeni paragraf</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Örnek</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İlk tema için yazılmış şu paragrafı düşünelim:</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“Öğretmenler, yapay zekâ destekli okul yönetiminde veri temelli karar alma süreçlerinin güçlendiğini vurgulamıştır.”</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Buna dayalı </a:t>
            </a:r>
            <a:r>
              <a:rPr lang="tr-TR" sz="2000" b="1" dirty="0" err="1">
                <a:solidFill>
                  <a:schemeClr val="tx2"/>
                </a:solidFill>
                <a:latin typeface="Calibri" panose="020F0502020204030204" pitchFamily="34" charset="0"/>
                <a:cs typeface="Calibri" panose="020F0502020204030204" pitchFamily="34" charset="0"/>
              </a:rPr>
              <a:t>prompt</a:t>
            </a:r>
            <a:r>
              <a:rPr lang="tr-TR" sz="2000" b="1" dirty="0">
                <a:solidFill>
                  <a:schemeClr val="tx2"/>
                </a:solidFill>
                <a:latin typeface="Calibri" panose="020F0502020204030204" pitchFamily="34" charset="0"/>
                <a:cs typeface="Calibri" panose="020F0502020204030204" pitchFamily="34" charset="0"/>
              </a:rPr>
              <a:t>:</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“Yukarıdaki akademik üslubu kullanarak ikinci temayı yaz.”</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Bu kullanım, özellikle nitel araştırmalarda tema bazlı bulgu yazımında dil birliğini korur.</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İlk paragrafın cümle yapısı, akademik tonu ve bulgu sunuş mantığı ikinci temaya aktarılır.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Okul liderliği ve öğretmen görüşleri çalışmalarında çok güçlü sonuç verir.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Böylece her tema farklı bir yazar tarafından yazılmış gibi görünmez; metin tek sesli olur.</a:t>
            </a:r>
          </a:p>
          <a:p>
            <a:pPr>
              <a:lnSpc>
                <a:spcPct val="107000"/>
              </a:lnSpc>
              <a:spcAft>
                <a:spcPts val="800"/>
              </a:spcAft>
              <a:buNone/>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414323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798F7-6FE3-03ED-B313-3BF3A9548B71}"/>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72950C16-9E9C-8926-197A-5EEE6B3BAB58}"/>
              </a:ext>
            </a:extLst>
          </p:cNvPr>
          <p:cNvSpPr txBox="1"/>
          <p:nvPr/>
        </p:nvSpPr>
        <p:spPr>
          <a:xfrm>
            <a:off x="1079771" y="729574"/>
            <a:ext cx="8433880" cy="5282215"/>
          </a:xfrm>
          <a:prstGeom prst="rect">
            <a:avLst/>
          </a:prstGeom>
          <a:noFill/>
        </p:spPr>
        <p:txBody>
          <a:bodyPr wrap="square">
            <a:spAutoFit/>
          </a:bodyPr>
          <a:lstStyle/>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2.1.2 </a:t>
            </a:r>
            <a:r>
              <a:rPr lang="tr-TR" sz="2000" b="1" dirty="0" err="1">
                <a:solidFill>
                  <a:schemeClr val="tx2"/>
                </a:solidFill>
                <a:latin typeface="Calibri" panose="020F0502020204030204" pitchFamily="34" charset="0"/>
                <a:cs typeface="Calibri" panose="020F0502020204030204" pitchFamily="34" charset="0"/>
              </a:rPr>
              <a:t>One-shot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Hakem raporu şablonuna göre ikinci rapor</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“Aşağıdaki hakem raporu üslubunu kullanarak bu yeni makale için ikinci bir değerlendirme raporu oluştur.”</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Bu strateji özellikle hakemlik süreçlerinde yüksek kalite sağlar.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Model ilk rapordaki yapıcı eleştiri dili, metodolojik hassasiyet ve öneri sıralamasını yeni çalışmaya taşır.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Örneğin önce güçlü yönler, sonra yöntemsel sınırlılıklar, sonra yayın önerisi şeklindeki yapı korunur.</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Hakem raporlarında bu yaklaşım hem hız hem de standart sağlar.</a:t>
            </a:r>
          </a:p>
          <a:p>
            <a:pPr>
              <a:lnSpc>
                <a:spcPct val="107000"/>
              </a:lnSpc>
              <a:spcAft>
                <a:spcPts val="800"/>
              </a:spcAft>
              <a:buNone/>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603749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9A225-4925-9038-96C7-C8B149286842}"/>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FBA6C616-72FE-23C3-59C5-BA6EAA8D5581}"/>
              </a:ext>
            </a:extLst>
          </p:cNvPr>
          <p:cNvSpPr txBox="1"/>
          <p:nvPr/>
        </p:nvSpPr>
        <p:spPr>
          <a:xfrm>
            <a:off x="1079771" y="729574"/>
            <a:ext cx="8433880" cy="4952894"/>
          </a:xfrm>
          <a:prstGeom prst="rect">
            <a:avLst/>
          </a:prstGeom>
          <a:noFill/>
        </p:spPr>
        <p:txBody>
          <a:bodyPr wrap="square">
            <a:spAutoFit/>
          </a:bodyPr>
          <a:lstStyle/>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2.1.2 </a:t>
            </a:r>
            <a:r>
              <a:rPr lang="tr-TR" sz="2000" b="1" dirty="0" err="1">
                <a:solidFill>
                  <a:schemeClr val="tx2"/>
                </a:solidFill>
                <a:latin typeface="Calibri" panose="020F0502020204030204" pitchFamily="34" charset="0"/>
                <a:cs typeface="Calibri" panose="020F0502020204030204" pitchFamily="34" charset="0"/>
              </a:rPr>
              <a:t>One-shot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APA 7 referans örneğine göre yeni kaynakça</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“Aşağıdaki APA 7 örneğini temel alarak bu kitabın kaynakçasını aynı formatta yaz.”</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Akademik yazımda biçimsel hata en çok kaynakçada görülür.</a:t>
            </a:r>
          </a:p>
          <a:p>
            <a:pPr>
              <a:lnSpc>
                <a:spcPct val="107000"/>
              </a:lnSpc>
              <a:spcAft>
                <a:spcPts val="800"/>
              </a:spcAft>
              <a:buNone/>
            </a:pPr>
            <a:r>
              <a:rPr lang="tr-TR" sz="2000" b="1" dirty="0" err="1">
                <a:solidFill>
                  <a:srgbClr val="0070C0"/>
                </a:solidFill>
                <a:latin typeface="Calibri" panose="020F0502020204030204" pitchFamily="34" charset="0"/>
                <a:cs typeface="Calibri" panose="020F0502020204030204" pitchFamily="34" charset="0"/>
              </a:rPr>
              <a:t>One-shot</a:t>
            </a:r>
            <a:r>
              <a:rPr lang="tr-TR" sz="2000" b="1" dirty="0">
                <a:solidFill>
                  <a:srgbClr val="0070C0"/>
                </a:solidFill>
                <a:latin typeface="Calibri" panose="020F0502020204030204" pitchFamily="34" charset="0"/>
                <a:cs typeface="Calibri" panose="020F0502020204030204" pitchFamily="34" charset="0"/>
              </a:rPr>
              <a:t> burada çok değerlidir çünkü model tek örnekten yazar sırası, italik kullanım, DOI gösterimi ve noktalama düzenini öğrenir.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Özellikle kitap bölümü ve tez kaynakçalarında stil bütünlüğü sağlar.</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Dergiye gönderim öncesi </a:t>
            </a:r>
            <a:r>
              <a:rPr lang="tr-TR" sz="2000" b="1" dirty="0" err="1">
                <a:solidFill>
                  <a:schemeClr val="tx2"/>
                </a:solidFill>
                <a:latin typeface="Calibri" panose="020F0502020204030204" pitchFamily="34" charset="0"/>
                <a:cs typeface="Calibri" panose="020F0502020204030204" pitchFamily="34" charset="0"/>
              </a:rPr>
              <a:t>editöryal</a:t>
            </a:r>
            <a:r>
              <a:rPr lang="tr-TR" sz="2000" b="1" dirty="0">
                <a:solidFill>
                  <a:schemeClr val="tx2"/>
                </a:solidFill>
                <a:latin typeface="Calibri" panose="020F0502020204030204" pitchFamily="34" charset="0"/>
                <a:cs typeface="Calibri" panose="020F0502020204030204" pitchFamily="34" charset="0"/>
              </a:rPr>
              <a:t> kaliteyi artırır.</a:t>
            </a:r>
          </a:p>
          <a:p>
            <a:pPr>
              <a:lnSpc>
                <a:spcPct val="107000"/>
              </a:lnSpc>
              <a:spcAft>
                <a:spcPts val="800"/>
              </a:spcAft>
              <a:buNone/>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14178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72639-0BAD-18ED-C61D-D6AD07972E24}"/>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503584A3-5D0C-13DF-EF14-DF0AC32B445C}"/>
              </a:ext>
            </a:extLst>
          </p:cNvPr>
          <p:cNvSpPr txBox="1"/>
          <p:nvPr/>
        </p:nvSpPr>
        <p:spPr>
          <a:xfrm>
            <a:off x="1079771" y="729574"/>
            <a:ext cx="8433880" cy="4952894"/>
          </a:xfrm>
          <a:prstGeom prst="rect">
            <a:avLst/>
          </a:prstGeom>
          <a:noFill/>
        </p:spPr>
        <p:txBody>
          <a:bodyPr wrap="square">
            <a:spAutoFit/>
          </a:bodyPr>
          <a:lstStyle/>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2.1.2 </a:t>
            </a:r>
            <a:r>
              <a:rPr lang="tr-TR" sz="2000" b="1" dirty="0" err="1">
                <a:solidFill>
                  <a:schemeClr val="tx2"/>
                </a:solidFill>
                <a:latin typeface="Calibri" panose="020F0502020204030204" pitchFamily="34" charset="0"/>
                <a:cs typeface="Calibri" panose="020F0502020204030204" pitchFamily="34" charset="0"/>
              </a:rPr>
              <a:t>One-shot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Verilen tema örneğine göre yeni tema</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“Aşağıdaki ana tema ve alt tema yapısını kullanarak ikinci görüşme sorusuna ait yeni temayı oluştur.”</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Bu kullanım nitel analiz süreçlerinde çok güçlüdür.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Örneğin ilk görüşme sorusunda “Dijital Liderlik” ana teması altında kodlar nasıl kurulduysa, model ikinci soruda da aynı analitik mantığı sürdürür.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Bu, kodlama güvenilirliğini ve tema mimarisini güçlendirir.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Özellikle </a:t>
            </a:r>
            <a:r>
              <a:rPr lang="tr-TR" sz="2000" b="1" dirty="0">
                <a:solidFill>
                  <a:schemeClr val="tx2"/>
                </a:solidFill>
                <a:latin typeface="Calibri" panose="020F0502020204030204" pitchFamily="34" charset="0"/>
                <a:cs typeface="Calibri" panose="020F0502020204030204" pitchFamily="34" charset="0"/>
              </a:rPr>
              <a:t>MAXQDA/</a:t>
            </a:r>
            <a:r>
              <a:rPr lang="tr-TR" sz="2000" b="1" dirty="0" err="1">
                <a:solidFill>
                  <a:schemeClr val="tx2"/>
                </a:solidFill>
                <a:latin typeface="Calibri" panose="020F0502020204030204" pitchFamily="34" charset="0"/>
                <a:cs typeface="Calibri" panose="020F0502020204030204" pitchFamily="34" charset="0"/>
              </a:rPr>
              <a:t>NVivo</a:t>
            </a:r>
            <a:r>
              <a:rPr lang="tr-TR" sz="2000" b="1" dirty="0">
                <a:solidFill>
                  <a:schemeClr val="tx2"/>
                </a:solidFill>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sonrası yazım aşamasında mükemmel çalışır.</a:t>
            </a:r>
          </a:p>
          <a:p>
            <a:pPr>
              <a:lnSpc>
                <a:spcPct val="107000"/>
              </a:lnSpc>
              <a:spcAft>
                <a:spcPts val="800"/>
              </a:spcAft>
              <a:buNone/>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2784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CC50B-6EDD-EF9E-BA08-9BC1E9929DEA}"/>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B3EA349B-1B07-E022-28EC-0F86075DB9D2}"/>
              </a:ext>
            </a:extLst>
          </p:cNvPr>
          <p:cNvSpPr txBox="1"/>
          <p:nvPr/>
        </p:nvSpPr>
        <p:spPr>
          <a:xfrm>
            <a:off x="1079770" y="1215957"/>
            <a:ext cx="8433881" cy="4337341"/>
          </a:xfrm>
          <a:prstGeom prst="rect">
            <a:avLst/>
          </a:prstGeom>
          <a:noFill/>
        </p:spPr>
        <p:txBody>
          <a:bodyPr wrap="square">
            <a:spAutoFit/>
          </a:bodyPr>
          <a:lstStyle/>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2.1.2 </a:t>
            </a:r>
            <a:r>
              <a:rPr lang="tr-TR" sz="2000" b="1" dirty="0" err="1">
                <a:solidFill>
                  <a:schemeClr val="tx2"/>
                </a:solidFill>
                <a:latin typeface="Calibri" panose="020F0502020204030204" pitchFamily="34" charset="0"/>
                <a:cs typeface="Calibri" panose="020F0502020204030204" pitchFamily="34" charset="0"/>
              </a:rPr>
              <a:t>One-shot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MAXQDA ve </a:t>
            </a:r>
            <a:r>
              <a:rPr lang="tr-TR" sz="2000" b="1" dirty="0" err="1">
                <a:solidFill>
                  <a:schemeClr val="tx2"/>
                </a:solidFill>
                <a:latin typeface="Calibri" panose="020F0502020204030204" pitchFamily="34" charset="0"/>
                <a:cs typeface="Calibri" panose="020F0502020204030204" pitchFamily="34" charset="0"/>
              </a:rPr>
              <a:t>NVivo</a:t>
            </a:r>
            <a:r>
              <a:rPr lang="tr-TR" sz="2000" b="1" dirty="0">
                <a:solidFill>
                  <a:schemeClr val="tx2"/>
                </a:solidFill>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özellikle nitel araştırmalarda veri analizi için kullanılan profesyonel yazılımlardır. Görüşme kayıtları, odak grup dökümleri, açık uçlu anket yanıtları, belge ve görseller gibi verileri sistematik biçimde kodlama, tema oluşturma, kategori geliştirme ve görselleştirme amacıyla kullanılır.</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 Araştırmacı bu yazılımlar sayesinde büyük veri yığınlarını düzenli biçimde analiz ederek tekrar eden örüntüleri daha kolay görebilir. Ayrıca kod sıklıkları, tema haritaları, kelime bulutları ve ilişki ağları oluşturulabilir. </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Öğretmen görüşleri, okul liderliği ve yapay zekâ çağındaki nitel çalışmalarınızda </a:t>
            </a:r>
            <a:r>
              <a:rPr lang="tr-TR" sz="2000" b="1" dirty="0">
                <a:solidFill>
                  <a:schemeClr val="tx2"/>
                </a:solidFill>
                <a:latin typeface="Calibri" panose="020F0502020204030204" pitchFamily="34" charset="0"/>
                <a:cs typeface="Calibri" panose="020F0502020204030204" pitchFamily="34" charset="0"/>
              </a:rPr>
              <a:t>MAXQDA/</a:t>
            </a:r>
            <a:r>
              <a:rPr lang="tr-TR" sz="2000" b="1" dirty="0" err="1">
                <a:solidFill>
                  <a:schemeClr val="tx2"/>
                </a:solidFill>
                <a:latin typeface="Calibri" panose="020F0502020204030204" pitchFamily="34" charset="0"/>
                <a:cs typeface="Calibri" panose="020F0502020204030204" pitchFamily="34" charset="0"/>
              </a:rPr>
              <a:t>NVivo</a:t>
            </a:r>
            <a:r>
              <a:rPr lang="tr-TR" sz="2000" b="1" dirty="0">
                <a:solidFill>
                  <a:schemeClr val="tx2"/>
                </a:solidFill>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bulguların güvenilir, izlenebilir ve akademik olarak savunulabilir biçimde yapılandırılmasını sağlayan güçlü analiz araçlarıdır.</a:t>
            </a:r>
          </a:p>
        </p:txBody>
      </p:sp>
    </p:spTree>
    <p:extLst>
      <p:ext uri="{BB962C8B-B14F-4D97-AF65-F5344CB8AC3E}">
        <p14:creationId xmlns:p14="http://schemas.microsoft.com/office/powerpoint/2010/main" val="186824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1895A-910F-6F5E-4087-90FBD77EEB1D}"/>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DB6CDC6F-037A-71EA-3FDD-20DEE3F33E25}"/>
              </a:ext>
            </a:extLst>
          </p:cNvPr>
          <p:cNvSpPr txBox="1"/>
          <p:nvPr/>
        </p:nvSpPr>
        <p:spPr>
          <a:xfrm>
            <a:off x="1079770" y="1215957"/>
            <a:ext cx="8433881" cy="5282215"/>
          </a:xfrm>
          <a:prstGeom prst="rect">
            <a:avLst/>
          </a:prstGeom>
          <a:noFill/>
        </p:spPr>
        <p:txBody>
          <a:bodyPr wrap="square">
            <a:spAutoFit/>
          </a:bodyPr>
          <a:lstStyle/>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2.1.2 </a:t>
            </a:r>
            <a:r>
              <a:rPr lang="tr-TR" sz="2000" b="1" dirty="0" err="1">
                <a:solidFill>
                  <a:schemeClr val="tx2"/>
                </a:solidFill>
                <a:latin typeface="Calibri" panose="020F0502020204030204" pitchFamily="34" charset="0"/>
                <a:cs typeface="Calibri" panose="020F0502020204030204" pitchFamily="34" charset="0"/>
              </a:rPr>
              <a:t>One-shot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Örnek bulgu tablosuna göre yeni tablo</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“Aşağıdaki bulgu tablosunun sütun yapısını koruyarak ikinci tema için tablo oluştur.”</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Bu kullanım özellikle tez ve makalelerde tablo standardizasyonu açısından kritik önemdedir.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İlk tabloda sütunlar </a:t>
            </a:r>
            <a:r>
              <a:rPr lang="tr-TR" sz="2000" b="1" dirty="0">
                <a:solidFill>
                  <a:schemeClr val="tx2"/>
                </a:solidFill>
                <a:latin typeface="Calibri" panose="020F0502020204030204" pitchFamily="34" charset="0"/>
                <a:cs typeface="Calibri" panose="020F0502020204030204" pitchFamily="34" charset="0"/>
              </a:rPr>
              <a:t>“Tema – Alt Tema – Kod – Doğrudan Alıntı” </a:t>
            </a:r>
            <a:r>
              <a:rPr lang="tr-TR" sz="2000" b="1" dirty="0">
                <a:solidFill>
                  <a:srgbClr val="0070C0"/>
                </a:solidFill>
                <a:latin typeface="Calibri" panose="020F0502020204030204" pitchFamily="34" charset="0"/>
                <a:cs typeface="Calibri" panose="020F0502020204030204" pitchFamily="34" charset="0"/>
              </a:rPr>
              <a:t>şeklindeyse,</a:t>
            </a:r>
            <a:r>
              <a:rPr lang="tr-TR" sz="2000" b="1" dirty="0">
                <a:solidFill>
                  <a:schemeClr val="tx2"/>
                </a:solidFill>
                <a:latin typeface="Calibri" panose="020F0502020204030204" pitchFamily="34" charset="0"/>
                <a:cs typeface="Calibri" panose="020F0502020204030204" pitchFamily="34" charset="0"/>
              </a:rPr>
              <a:t> model ikinci tabloyu aynı mantıkta üretir.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Böylece görsel akademik düzen korunur.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Özellikle uzun tezlerde okuyucu deneyimini iyileştirir.</a:t>
            </a:r>
          </a:p>
          <a:p>
            <a:pPr>
              <a:lnSpc>
                <a:spcPct val="107000"/>
              </a:lnSpc>
              <a:spcAft>
                <a:spcPts val="800"/>
              </a:spcAft>
              <a:buNone/>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35335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14998-2D94-80A2-04AD-C858321CB3BB}"/>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DB097580-2E98-2721-1157-B5C32F48B5B4}"/>
              </a:ext>
            </a:extLst>
          </p:cNvPr>
          <p:cNvSpPr txBox="1"/>
          <p:nvPr/>
        </p:nvSpPr>
        <p:spPr>
          <a:xfrm>
            <a:off x="1079770" y="1215957"/>
            <a:ext cx="8433881" cy="5055487"/>
          </a:xfrm>
          <a:prstGeom prst="rect">
            <a:avLst/>
          </a:prstGeom>
          <a:noFill/>
        </p:spPr>
        <p:txBody>
          <a:bodyPr wrap="square">
            <a:spAutoFit/>
          </a:bodyPr>
          <a:lstStyle/>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2.1.2 </a:t>
            </a:r>
            <a:r>
              <a:rPr lang="tr-TR" sz="2000" b="1" dirty="0" err="1">
                <a:solidFill>
                  <a:schemeClr val="tx2"/>
                </a:solidFill>
                <a:latin typeface="Calibri" panose="020F0502020204030204" pitchFamily="34" charset="0"/>
                <a:cs typeface="Calibri" panose="020F0502020204030204" pitchFamily="34" charset="0"/>
              </a:rPr>
              <a:t>One-shot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Genel Değerlendirme</a:t>
            </a:r>
          </a:p>
          <a:p>
            <a:pPr>
              <a:lnSpc>
                <a:spcPct val="107000"/>
              </a:lnSpc>
              <a:spcAft>
                <a:spcPts val="800"/>
              </a:spcAft>
              <a:buNone/>
            </a:pPr>
            <a:r>
              <a:rPr lang="tr-TR" sz="2000" b="1" dirty="0" err="1">
                <a:solidFill>
                  <a:schemeClr val="tx2"/>
                </a:solidFill>
                <a:latin typeface="Calibri" panose="020F0502020204030204" pitchFamily="34" charset="0"/>
                <a:cs typeface="Calibri" panose="020F0502020204030204" pitchFamily="34" charset="0"/>
              </a:rPr>
              <a:t>One-shot’ın</a:t>
            </a:r>
            <a:r>
              <a:rPr lang="tr-TR" sz="2000" b="1" dirty="0">
                <a:solidFill>
                  <a:schemeClr val="tx2"/>
                </a:solidFill>
                <a:latin typeface="Calibri" panose="020F0502020204030204" pitchFamily="34" charset="0"/>
                <a:cs typeface="Calibri" panose="020F0502020204030204" pitchFamily="34" charset="0"/>
              </a:rPr>
              <a:t> en güçlü olduğu alanlar: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•Tez bul </a:t>
            </a:r>
            <a:r>
              <a:rPr lang="tr-TR" sz="2000" b="1" dirty="0" err="1">
                <a:solidFill>
                  <a:srgbClr val="0070C0"/>
                </a:solidFill>
                <a:latin typeface="Calibri" panose="020F0502020204030204" pitchFamily="34" charset="0"/>
                <a:cs typeface="Calibri" panose="020F0502020204030204" pitchFamily="34" charset="0"/>
              </a:rPr>
              <a:t>gularında</a:t>
            </a:r>
            <a:r>
              <a:rPr lang="tr-TR" sz="2000" b="1" dirty="0">
                <a:solidFill>
                  <a:srgbClr val="0070C0"/>
                </a:solidFill>
                <a:latin typeface="Calibri" panose="020F0502020204030204" pitchFamily="34" charset="0"/>
                <a:cs typeface="Calibri" panose="020F0502020204030204" pitchFamily="34" charset="0"/>
              </a:rPr>
              <a:t> tema standardı </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 Hakem rapor dili </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 APA 7 kaynakça düzeni </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 Tablo şablonları </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 Ders notlarında üslup birliği </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 Kitap bölümlerinde tek sesli anlatım </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Manifesto, kitap bölümü ve çok başlıklı akademik eser üreten araştırmacılar için </a:t>
            </a:r>
            <a:r>
              <a:rPr lang="tr-TR" sz="2000" b="1" dirty="0" err="1">
                <a:solidFill>
                  <a:schemeClr val="tx2"/>
                </a:solidFill>
                <a:latin typeface="Calibri" panose="020F0502020204030204" pitchFamily="34" charset="0"/>
                <a:cs typeface="Calibri" panose="020F0502020204030204" pitchFamily="34" charset="0"/>
              </a:rPr>
              <a:t>One-shot</a:t>
            </a:r>
            <a:r>
              <a:rPr lang="tr-TR" sz="2000" b="1" dirty="0">
                <a:solidFill>
                  <a:schemeClr val="tx2"/>
                </a:solidFill>
                <a:latin typeface="Calibri" panose="020F0502020204030204" pitchFamily="34" charset="0"/>
                <a:cs typeface="Calibri" panose="020F0502020204030204" pitchFamily="34" charset="0"/>
              </a:rPr>
              <a:t> editoryal bir araç gibi çalışır.</a:t>
            </a:r>
          </a:p>
          <a:p>
            <a:pPr>
              <a:lnSpc>
                <a:spcPct val="107000"/>
              </a:lnSpc>
              <a:spcAft>
                <a:spcPts val="800"/>
              </a:spcAft>
              <a:buNone/>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877917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87877-933D-A083-5A3E-42678418E4F6}"/>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C1F57649-BF66-770E-ACE4-3AB08319588C}"/>
              </a:ext>
            </a:extLst>
          </p:cNvPr>
          <p:cNvSpPr txBox="1"/>
          <p:nvPr/>
        </p:nvSpPr>
        <p:spPr>
          <a:xfrm>
            <a:off x="1322962" y="661482"/>
            <a:ext cx="8190689" cy="5158079"/>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2.1.2 </a:t>
            </a:r>
            <a:r>
              <a:rPr lang="tr-TR" sz="2000" b="1" dirty="0" err="1">
                <a:solidFill>
                  <a:schemeClr val="tx2"/>
                </a:solidFill>
                <a:latin typeface="Calibri" panose="020F0502020204030204" pitchFamily="34" charset="0"/>
                <a:cs typeface="Calibri" panose="020F0502020204030204" pitchFamily="34" charset="0"/>
              </a:rPr>
              <a:t>One-shot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Güçlü yönleri</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Bölüm standardizasyonu sağlar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Üslup tutarlılığı verir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Tablo ve kaynakça formatını korur</a:t>
            </a:r>
          </a:p>
          <a:p>
            <a:pPr>
              <a:lnSpc>
                <a:spcPct val="107000"/>
              </a:lnSpc>
              <a:spcAft>
                <a:spcPts val="800"/>
              </a:spcAft>
              <a:buNone/>
            </a:pP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Sınırlılıkları</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Tek örnek zayıfsa hata aynı biçimde çoğalır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Bu yüzden en ideal zincir çoğu zaman:</a:t>
            </a:r>
          </a:p>
          <a:p>
            <a:pPr>
              <a:lnSpc>
                <a:spcPct val="107000"/>
              </a:lnSpc>
              <a:spcAft>
                <a:spcPts val="800"/>
              </a:spcAft>
              <a:buNone/>
            </a:pPr>
            <a:r>
              <a:rPr lang="tr-TR" sz="2000" b="1" dirty="0" err="1">
                <a:solidFill>
                  <a:schemeClr val="tx2"/>
                </a:solidFill>
                <a:latin typeface="Calibri" panose="020F0502020204030204" pitchFamily="34" charset="0"/>
                <a:cs typeface="Calibri" panose="020F0502020204030204" pitchFamily="34" charset="0"/>
              </a:rPr>
              <a:t>One-shot</a:t>
            </a:r>
            <a:r>
              <a:rPr lang="tr-TR" sz="2000" b="1" dirty="0">
                <a:solidFill>
                  <a:schemeClr val="tx2"/>
                </a:solidFill>
                <a:latin typeface="Calibri" panose="020F0502020204030204" pitchFamily="34" charset="0"/>
                <a:cs typeface="Calibri" panose="020F0502020204030204" pitchFamily="34" charset="0"/>
              </a:rPr>
              <a:t> + </a:t>
            </a:r>
            <a:r>
              <a:rPr lang="tr-TR" sz="2000" b="1" dirty="0" err="1">
                <a:solidFill>
                  <a:schemeClr val="tx2"/>
                </a:solidFill>
                <a:latin typeface="Calibri" panose="020F0502020204030204" pitchFamily="34" charset="0"/>
                <a:cs typeface="Calibri" panose="020F0502020204030204" pitchFamily="34" charset="0"/>
              </a:rPr>
              <a:t>Few-shot</a:t>
            </a:r>
            <a:r>
              <a:rPr lang="tr-TR" sz="2000" b="1" dirty="0">
                <a:solidFill>
                  <a:schemeClr val="tx2"/>
                </a:solidFill>
                <a:latin typeface="Calibri" panose="020F0502020204030204" pitchFamily="34" charset="0"/>
                <a:cs typeface="Calibri" panose="020F0502020204030204" pitchFamily="34" charset="0"/>
              </a:rPr>
              <a:t> + CAG</a:t>
            </a:r>
          </a:p>
          <a:p>
            <a:pPr>
              <a:lnSpc>
                <a:spcPct val="107000"/>
              </a:lnSpc>
              <a:spcAft>
                <a:spcPts val="800"/>
              </a:spcAft>
              <a:buNone/>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979882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FB5D8-EE44-24C9-4B11-160918F21872}"/>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C860B124-E2AA-1FB0-9C70-4F18CFFF1E36}"/>
              </a:ext>
            </a:extLst>
          </p:cNvPr>
          <p:cNvSpPr txBox="1"/>
          <p:nvPr/>
        </p:nvSpPr>
        <p:spPr>
          <a:xfrm>
            <a:off x="1498060" y="1887166"/>
            <a:ext cx="8015592" cy="2690737"/>
          </a:xfrm>
          <a:prstGeom prst="rect">
            <a:avLst/>
          </a:prstGeom>
          <a:noFill/>
        </p:spPr>
        <p:txBody>
          <a:bodyPr wrap="square">
            <a:spAutoFit/>
          </a:bodyPr>
          <a:lstStyle/>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2.1.3 </a:t>
            </a:r>
            <a:r>
              <a:rPr lang="tr-TR" sz="2000" b="1" dirty="0" err="1">
                <a:solidFill>
                  <a:schemeClr val="tx2"/>
                </a:solidFill>
                <a:latin typeface="Calibri" panose="020F0502020204030204" pitchFamily="34" charset="0"/>
                <a:cs typeface="Calibri" panose="020F0502020204030204" pitchFamily="34" charset="0"/>
              </a:rPr>
              <a:t>Few-shot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err="1">
                <a:solidFill>
                  <a:schemeClr val="tx2"/>
                </a:solidFill>
                <a:latin typeface="Calibri" panose="020F0502020204030204" pitchFamily="34" charset="0"/>
                <a:cs typeface="Calibri" panose="020F0502020204030204" pitchFamily="34" charset="0"/>
              </a:rPr>
              <a:t>Few-shot</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prompting</a:t>
            </a:r>
            <a:r>
              <a:rPr lang="tr-TR" sz="2000" b="1" dirty="0">
                <a:solidFill>
                  <a:schemeClr val="tx2"/>
                </a:solidFill>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modele aynı görev için birden fazla örnek göstererek yeni çıktının hem akademik üslup hem de yöntemsel mantık açısından daha kontrollü üretilmesini sağlayan stratejidir. </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Özellikle tez yazımı, bulgu sunumu, makale özeti, eleştirel değerlendirme ve araştırma sorusu üretiminde yüksek kalite sağlar.</a:t>
            </a:r>
          </a:p>
          <a:p>
            <a:pPr>
              <a:lnSpc>
                <a:spcPct val="107000"/>
              </a:lnSpc>
              <a:spcAft>
                <a:spcPts val="800"/>
              </a:spcAft>
              <a:buNone/>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036981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57E70-1556-7C94-ABCD-E950FA6227D1}"/>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E086EB83-91BE-C6EE-FBD7-D8825DB0F18B}"/>
              </a:ext>
            </a:extLst>
          </p:cNvPr>
          <p:cNvSpPr txBox="1"/>
          <p:nvPr/>
        </p:nvSpPr>
        <p:spPr>
          <a:xfrm>
            <a:off x="1245141" y="564204"/>
            <a:ext cx="8268512" cy="6270178"/>
          </a:xfrm>
          <a:prstGeom prst="rect">
            <a:avLst/>
          </a:prstGeom>
          <a:noFill/>
        </p:spPr>
        <p:txBody>
          <a:bodyPr wrap="square">
            <a:spAutoFit/>
          </a:bodyPr>
          <a:lstStyle/>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2.1.3 </a:t>
            </a:r>
            <a:r>
              <a:rPr lang="tr-TR" sz="2000" b="1" dirty="0" err="1">
                <a:solidFill>
                  <a:schemeClr val="tx2"/>
                </a:solidFill>
                <a:latin typeface="Calibri" panose="020F0502020204030204" pitchFamily="34" charset="0"/>
                <a:cs typeface="Calibri" panose="020F0502020204030204" pitchFamily="34" charset="0"/>
              </a:rPr>
              <a:t>Few-shot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Beş farklı tema örneği verip yeni tema yazdırma</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“Aşağıdaki beş tema örneğini incele. Aynı tema yazım mantığıyla altıncı görüşme sorusuna ait yeni bir ana tema oluştur.”</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Bu kullanım, özellikle nitel araştırmalarda tema mimarisinin korunması açısından çok güçlüdür.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Birden fazla örnek sayesinde model yalnızca dili değil, tema isimlendirme mantığını, soyutlama düzeyini ve kodlardan ana temaya yükselme biçimini öğrenir.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Okul liderliği çalışmalarında “Dijital Liderlik”, “Etik Liderlik”, “Veri Temelli Karar Alma” gibi önceki temalar üzerinden yeni temalar aynı kuramsal çizgide oluşur.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Araştırmanın bütünlüğünü ciddi biçimde artırır.</a:t>
            </a:r>
          </a:p>
          <a:p>
            <a:pPr>
              <a:lnSpc>
                <a:spcPct val="107000"/>
              </a:lnSpc>
              <a:spcAft>
                <a:spcPts val="800"/>
              </a:spcAft>
              <a:buNone/>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178227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13D3D-1B3A-37A8-7CBF-5D864DF8DCB9}"/>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D5DB3B33-8490-A42B-B27A-8B99DD71A505}"/>
              </a:ext>
            </a:extLst>
          </p:cNvPr>
          <p:cNvSpPr txBox="1"/>
          <p:nvPr/>
        </p:nvSpPr>
        <p:spPr>
          <a:xfrm>
            <a:off x="1245141" y="564204"/>
            <a:ext cx="8268512" cy="5611536"/>
          </a:xfrm>
          <a:prstGeom prst="rect">
            <a:avLst/>
          </a:prstGeom>
          <a:noFill/>
        </p:spPr>
        <p:txBody>
          <a:bodyPr wrap="square">
            <a:spAutoFit/>
          </a:bodyPr>
          <a:lstStyle/>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2.1.3 </a:t>
            </a:r>
            <a:r>
              <a:rPr lang="tr-TR" sz="2000" b="1" dirty="0" err="1">
                <a:solidFill>
                  <a:schemeClr val="tx2"/>
                </a:solidFill>
                <a:latin typeface="Calibri" panose="020F0502020204030204" pitchFamily="34" charset="0"/>
                <a:cs typeface="Calibri" panose="020F0502020204030204" pitchFamily="34" charset="0"/>
              </a:rPr>
              <a:t>Few-shot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Üç örnek araştırma sorusundan yeni soru üretme</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“Aşağıdaki üç araştırma sorusunun yapısını kullanarak dördüncü araştırma sorusunu yaz.”</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Bu strateji araştırma tasarımında çok değerlidir.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Model, önceki soruların fiil yapısını, kavramsal kapsamını, değişken ilişkisini ve bağlam düzeyini öğrenerek yeni soruyu üretir.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Örneğin öğretmen görüşleri, liderlik dönüşümü ve yapay zekâ entegrasyonu temaları korunur.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Bu da tez veya makalede araştırma soruları arasında mantıksal kopukluğu azaltır.</a:t>
            </a:r>
          </a:p>
          <a:p>
            <a:pPr>
              <a:lnSpc>
                <a:spcPct val="107000"/>
              </a:lnSpc>
              <a:spcAft>
                <a:spcPts val="800"/>
              </a:spcAft>
              <a:buNone/>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717255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5D9CA-2803-2E7B-D5C1-9D37EBA6425D}"/>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49D566A2-7F1B-7C3D-8375-5F22F655DD8B}"/>
              </a:ext>
            </a:extLst>
          </p:cNvPr>
          <p:cNvSpPr txBox="1"/>
          <p:nvPr/>
        </p:nvSpPr>
        <p:spPr>
          <a:xfrm>
            <a:off x="1245140" y="1079770"/>
            <a:ext cx="8268513" cy="4952894"/>
          </a:xfrm>
          <a:prstGeom prst="rect">
            <a:avLst/>
          </a:prstGeom>
          <a:noFill/>
        </p:spPr>
        <p:txBody>
          <a:bodyPr wrap="square">
            <a:spAutoFit/>
          </a:bodyPr>
          <a:lstStyle/>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2.1.3 </a:t>
            </a:r>
            <a:r>
              <a:rPr lang="tr-TR" sz="2000" b="1" dirty="0" err="1">
                <a:solidFill>
                  <a:schemeClr val="tx2"/>
                </a:solidFill>
                <a:latin typeface="Calibri" panose="020F0502020204030204" pitchFamily="34" charset="0"/>
                <a:cs typeface="Calibri" panose="020F0502020204030204" pitchFamily="34" charset="0"/>
              </a:rPr>
              <a:t>Few-shot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Örnek kodlardan yeni kod geliştirme</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“Aşağıdaki kod örneklerine göre yeni görüşme yanıtı için uygun kodlar üret.”</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Nitel veri analizinde en güçlü kullanım alanlarından biridir.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Önceden oluşturulmuş birkaç kod örneği modelin kodlama dilini, kavramsal soyutlama seviyesini ve kategori mantığını öğrenmesini sağlar.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Örneğin “veri okuryazarlığı”, “etik farkındalık”, “teknoloji liderliği” gibi kodların yapısı yeni veriye taşınır.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Bu, kodlama güvenilirliği açısından önemlidir.</a:t>
            </a:r>
          </a:p>
          <a:p>
            <a:pPr>
              <a:lnSpc>
                <a:spcPct val="107000"/>
              </a:lnSpc>
              <a:spcAft>
                <a:spcPts val="800"/>
              </a:spcAft>
              <a:buNone/>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377777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80F9C-2379-FE95-074C-0DC5CE8515C8}"/>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DFCEDF46-E933-E66E-76C6-61C30C18FF32}"/>
              </a:ext>
            </a:extLst>
          </p:cNvPr>
          <p:cNvSpPr txBox="1"/>
          <p:nvPr/>
        </p:nvSpPr>
        <p:spPr>
          <a:xfrm>
            <a:off x="1245140" y="1079770"/>
            <a:ext cx="8268513" cy="5282215"/>
          </a:xfrm>
          <a:prstGeom prst="rect">
            <a:avLst/>
          </a:prstGeom>
          <a:noFill/>
        </p:spPr>
        <p:txBody>
          <a:bodyPr wrap="square">
            <a:spAutoFit/>
          </a:bodyPr>
          <a:lstStyle/>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2.1.3 </a:t>
            </a:r>
            <a:r>
              <a:rPr lang="tr-TR" sz="2000" b="1" dirty="0" err="1">
                <a:solidFill>
                  <a:schemeClr val="tx2"/>
                </a:solidFill>
                <a:latin typeface="Calibri" panose="020F0502020204030204" pitchFamily="34" charset="0"/>
                <a:cs typeface="Calibri" panose="020F0502020204030204" pitchFamily="34" charset="0"/>
              </a:rPr>
              <a:t>Few-shot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Farklı </a:t>
            </a:r>
            <a:r>
              <a:rPr lang="tr-TR" sz="2000" b="1" dirty="0" err="1">
                <a:solidFill>
                  <a:schemeClr val="tx2"/>
                </a:solidFill>
                <a:latin typeface="Calibri" panose="020F0502020204030204" pitchFamily="34" charset="0"/>
                <a:cs typeface="Calibri" panose="020F0502020204030204" pitchFamily="34" charset="0"/>
              </a:rPr>
              <a:t>abstract</a:t>
            </a:r>
            <a:r>
              <a:rPr lang="tr-TR" sz="2000" b="1" dirty="0">
                <a:solidFill>
                  <a:schemeClr val="tx2"/>
                </a:solidFill>
                <a:latin typeface="Calibri" panose="020F0502020204030204" pitchFamily="34" charset="0"/>
                <a:cs typeface="Calibri" panose="020F0502020204030204" pitchFamily="34" charset="0"/>
              </a:rPr>
              <a:t> örneklerinden yeni </a:t>
            </a:r>
            <a:r>
              <a:rPr lang="tr-TR" sz="2000" b="1" dirty="0" err="1">
                <a:solidFill>
                  <a:schemeClr val="tx2"/>
                </a:solidFill>
                <a:latin typeface="Calibri" panose="020F0502020204030204" pitchFamily="34" charset="0"/>
                <a:cs typeface="Calibri" panose="020F0502020204030204" pitchFamily="34" charset="0"/>
              </a:rPr>
              <a:t>abstract</a:t>
            </a:r>
            <a:r>
              <a:rPr lang="tr-TR" sz="2000" b="1" dirty="0">
                <a:solidFill>
                  <a:schemeClr val="tx2"/>
                </a:solidFill>
                <a:latin typeface="Calibri" panose="020F0502020204030204" pitchFamily="34" charset="0"/>
                <a:cs typeface="Calibri" panose="020F0502020204030204" pitchFamily="34" charset="0"/>
              </a:rPr>
              <a:t> yazdırma</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“Aşağıdaki dört </a:t>
            </a:r>
            <a:r>
              <a:rPr lang="tr-TR" sz="2000" b="1" dirty="0" err="1">
                <a:solidFill>
                  <a:schemeClr val="tx2"/>
                </a:solidFill>
                <a:latin typeface="Calibri" panose="020F0502020204030204" pitchFamily="34" charset="0"/>
                <a:cs typeface="Calibri" panose="020F0502020204030204" pitchFamily="34" charset="0"/>
              </a:rPr>
              <a:t>abstract</a:t>
            </a:r>
            <a:r>
              <a:rPr lang="tr-TR" sz="2000" b="1" dirty="0">
                <a:solidFill>
                  <a:schemeClr val="tx2"/>
                </a:solidFill>
                <a:latin typeface="Calibri" panose="020F0502020204030204" pitchFamily="34" charset="0"/>
                <a:cs typeface="Calibri" panose="020F0502020204030204" pitchFamily="34" charset="0"/>
              </a:rPr>
              <a:t> örneğini incele ve aynı akademik yapıda bu çalışma için yeni bir </a:t>
            </a:r>
            <a:r>
              <a:rPr lang="tr-TR" sz="2000" b="1" dirty="0" err="1">
                <a:solidFill>
                  <a:schemeClr val="tx2"/>
                </a:solidFill>
                <a:latin typeface="Calibri" panose="020F0502020204030204" pitchFamily="34" charset="0"/>
                <a:cs typeface="Calibri" panose="020F0502020204030204" pitchFamily="34" charset="0"/>
              </a:rPr>
              <a:t>abstract</a:t>
            </a:r>
            <a:r>
              <a:rPr lang="tr-TR" sz="2000" b="1" dirty="0">
                <a:solidFill>
                  <a:schemeClr val="tx2"/>
                </a:solidFill>
                <a:latin typeface="Calibri" panose="020F0502020204030204" pitchFamily="34" charset="0"/>
                <a:cs typeface="Calibri" panose="020F0502020204030204" pitchFamily="34" charset="0"/>
              </a:rPr>
              <a:t> oluştur.”</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Makale yazımında </a:t>
            </a:r>
            <a:r>
              <a:rPr lang="tr-TR" sz="2000" b="1" dirty="0" err="1">
                <a:solidFill>
                  <a:srgbClr val="0070C0"/>
                </a:solidFill>
                <a:latin typeface="Calibri" panose="020F0502020204030204" pitchFamily="34" charset="0"/>
                <a:cs typeface="Calibri" panose="020F0502020204030204" pitchFamily="34" charset="0"/>
              </a:rPr>
              <a:t>abstract</a:t>
            </a:r>
            <a:r>
              <a:rPr lang="tr-TR" sz="2000" b="1" dirty="0">
                <a:solidFill>
                  <a:srgbClr val="0070C0"/>
                </a:solidFill>
                <a:latin typeface="Calibri" panose="020F0502020204030204" pitchFamily="34" charset="0"/>
                <a:cs typeface="Calibri" panose="020F0502020204030204" pitchFamily="34" charset="0"/>
              </a:rPr>
              <a:t> standardı çok kritiktir.</a:t>
            </a:r>
          </a:p>
          <a:p>
            <a:pPr>
              <a:lnSpc>
                <a:spcPct val="107000"/>
              </a:lnSpc>
              <a:spcAft>
                <a:spcPts val="800"/>
              </a:spcAft>
              <a:buNone/>
            </a:pPr>
            <a:r>
              <a:rPr lang="tr-TR" sz="2000" b="1" dirty="0" err="1">
                <a:solidFill>
                  <a:srgbClr val="0070C0"/>
                </a:solidFill>
                <a:latin typeface="Calibri" panose="020F0502020204030204" pitchFamily="34" charset="0"/>
                <a:cs typeface="Calibri" panose="020F0502020204030204" pitchFamily="34" charset="0"/>
              </a:rPr>
              <a:t>Few-shot</a:t>
            </a:r>
            <a:r>
              <a:rPr lang="tr-TR" sz="2000" b="1" dirty="0">
                <a:solidFill>
                  <a:srgbClr val="0070C0"/>
                </a:solidFill>
                <a:latin typeface="Calibri" panose="020F0502020204030204" pitchFamily="34" charset="0"/>
                <a:cs typeface="Calibri" panose="020F0502020204030204" pitchFamily="34" charset="0"/>
              </a:rPr>
              <a:t> burada modelin amaç–yöntem–bulgu–sonuç akışını daha net öğrenmesini sağlar.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Birden fazla örnek sayesinde sadece dil değil, paragraf düzeni, anahtar kavram yoğunluğu ve dergi üslubu da korunur.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Özellikle </a:t>
            </a:r>
            <a:r>
              <a:rPr lang="tr-TR" sz="2000" b="1" dirty="0">
                <a:solidFill>
                  <a:schemeClr val="tx2"/>
                </a:solidFill>
                <a:latin typeface="Calibri" panose="020F0502020204030204" pitchFamily="34" charset="0"/>
                <a:cs typeface="Calibri" panose="020F0502020204030204" pitchFamily="34" charset="0"/>
              </a:rPr>
              <a:t>SSCI/</a:t>
            </a:r>
            <a:r>
              <a:rPr lang="tr-TR" sz="2000" b="1" dirty="0" err="1">
                <a:solidFill>
                  <a:schemeClr val="tx2"/>
                </a:solidFill>
                <a:latin typeface="Calibri" panose="020F0502020204030204" pitchFamily="34" charset="0"/>
                <a:cs typeface="Calibri" panose="020F0502020204030204" pitchFamily="34" charset="0"/>
              </a:rPr>
              <a:t>Scopus</a:t>
            </a:r>
            <a:r>
              <a:rPr lang="tr-TR" sz="2000" b="1" dirty="0">
                <a:solidFill>
                  <a:schemeClr val="tx2"/>
                </a:solidFill>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makalelerinde bu yaklaşım ciddi kalite artışı sağlar.</a:t>
            </a:r>
          </a:p>
          <a:p>
            <a:pPr>
              <a:lnSpc>
                <a:spcPct val="107000"/>
              </a:lnSpc>
              <a:spcAft>
                <a:spcPts val="800"/>
              </a:spcAft>
              <a:buNone/>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373076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A0C45-0969-6D6B-33AB-EAA9CBB3D387}"/>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8B28C853-F4D6-4E30-4C25-5A2919081D40}"/>
              </a:ext>
            </a:extLst>
          </p:cNvPr>
          <p:cNvSpPr txBox="1"/>
          <p:nvPr/>
        </p:nvSpPr>
        <p:spPr>
          <a:xfrm>
            <a:off x="1245140" y="1079770"/>
            <a:ext cx="8268513" cy="6043449"/>
          </a:xfrm>
          <a:prstGeom prst="rect">
            <a:avLst/>
          </a:prstGeom>
          <a:noFill/>
        </p:spPr>
        <p:txBody>
          <a:bodyPr wrap="square">
            <a:spAutoFit/>
          </a:bodyPr>
          <a:lstStyle/>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2.1.3 </a:t>
            </a:r>
            <a:r>
              <a:rPr lang="tr-TR" sz="2000" b="1" dirty="0" err="1">
                <a:solidFill>
                  <a:schemeClr val="tx2"/>
                </a:solidFill>
                <a:latin typeface="Calibri" panose="020F0502020204030204" pitchFamily="34" charset="0"/>
                <a:cs typeface="Calibri" panose="020F0502020204030204" pitchFamily="34" charset="0"/>
              </a:rPr>
              <a:t>Few-shot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Beş örnek eleştirel inceleme paragrafıyla yeni kritik oluşturma</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“Aşağıdaki beş eleştirel değerlendirme paragrafının analitik tonunu kullanarak bu makale için yeni bir kritik yaz.”</a:t>
            </a: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Bu kullanım hakemlik ve akademik kritik yazılar için en güçlü </a:t>
            </a:r>
            <a:r>
              <a:rPr lang="tr-TR" sz="2000" b="1" dirty="0" err="1">
                <a:solidFill>
                  <a:srgbClr val="0070C0"/>
                </a:solidFill>
                <a:latin typeface="Calibri" panose="020F0502020204030204" pitchFamily="34" charset="0"/>
                <a:cs typeface="Calibri" panose="020F0502020204030204" pitchFamily="34" charset="0"/>
              </a:rPr>
              <a:t>few-shot</a:t>
            </a:r>
            <a:r>
              <a:rPr lang="tr-TR" sz="2000" b="1" dirty="0">
                <a:solidFill>
                  <a:srgbClr val="0070C0"/>
                </a:solidFill>
                <a:latin typeface="Calibri" panose="020F0502020204030204" pitchFamily="34" charset="0"/>
                <a:cs typeface="Calibri" panose="020F0502020204030204" pitchFamily="34" charset="0"/>
              </a:rPr>
              <a:t> örneklerinden biridir.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Model, önceki örneklerden eleştiri derinliğini, yapıcı üslubu, kuramsal sorgulama biçimini ve metodolojik hassasiyeti öğrenir.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Böylece yeni kritik yalnızca yüzeysel yorum değil, güçlü akademik muhakeme üretir.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Özellikle kuramsal çerçeve, yöntem ve sonuç tartışmalarında çok etkilidir.</a:t>
            </a:r>
          </a:p>
          <a:p>
            <a:pPr>
              <a:lnSpc>
                <a:spcPct val="107000"/>
              </a:lnSpc>
              <a:spcAft>
                <a:spcPts val="800"/>
              </a:spcAft>
              <a:buNone/>
            </a:pP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161465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06092-7E68-F77A-CABE-23BFB4DE1119}"/>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8D63D218-05FF-AD50-985C-E1129C5A3AEC}"/>
              </a:ext>
            </a:extLst>
          </p:cNvPr>
          <p:cNvSpPr txBox="1"/>
          <p:nvPr/>
        </p:nvSpPr>
        <p:spPr>
          <a:xfrm>
            <a:off x="1245140" y="1079770"/>
            <a:ext cx="8268513" cy="5158079"/>
          </a:xfrm>
          <a:prstGeom prst="rect">
            <a:avLst/>
          </a:prstGeom>
          <a:noFill/>
        </p:spPr>
        <p:txBody>
          <a:bodyPr wrap="square">
            <a:spAutoFit/>
          </a:bodyPr>
          <a:lstStyle/>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2.1.3 </a:t>
            </a:r>
            <a:r>
              <a:rPr lang="tr-TR" sz="2000" b="1" dirty="0" err="1">
                <a:solidFill>
                  <a:schemeClr val="tx2"/>
                </a:solidFill>
                <a:latin typeface="Calibri" panose="020F0502020204030204" pitchFamily="34" charset="0"/>
                <a:cs typeface="Calibri" panose="020F0502020204030204" pitchFamily="34" charset="0"/>
              </a:rPr>
              <a:t>Few-shot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Genel Değerlendirme</a:t>
            </a:r>
          </a:p>
          <a:p>
            <a:pPr>
              <a:lnSpc>
                <a:spcPct val="107000"/>
              </a:lnSpc>
              <a:spcAft>
                <a:spcPts val="800"/>
              </a:spcAft>
              <a:buNone/>
            </a:pPr>
            <a:r>
              <a:rPr lang="tr-TR" sz="2000" b="1" dirty="0" err="1">
                <a:solidFill>
                  <a:schemeClr val="tx2"/>
                </a:solidFill>
                <a:latin typeface="Calibri" panose="020F0502020204030204" pitchFamily="34" charset="0"/>
                <a:cs typeface="Calibri" panose="020F0502020204030204" pitchFamily="34" charset="0"/>
              </a:rPr>
              <a:t>Few-shot’ın</a:t>
            </a:r>
            <a:r>
              <a:rPr lang="tr-TR" sz="2000" b="1" dirty="0">
                <a:solidFill>
                  <a:schemeClr val="tx2"/>
                </a:solidFill>
                <a:latin typeface="Calibri" panose="020F0502020204030204" pitchFamily="34" charset="0"/>
                <a:cs typeface="Calibri" panose="020F0502020204030204" pitchFamily="34" charset="0"/>
              </a:rPr>
              <a:t> en güçlü olduğu alanlar: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 Nitel tema üretimi </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 Araştırma sorusu standardı </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 Kod geliştirme </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 </a:t>
            </a:r>
            <a:r>
              <a:rPr lang="tr-TR" sz="2000" b="1" dirty="0" err="1">
                <a:solidFill>
                  <a:srgbClr val="0070C0"/>
                </a:solidFill>
                <a:latin typeface="Calibri" panose="020F0502020204030204" pitchFamily="34" charset="0"/>
                <a:cs typeface="Calibri" panose="020F0502020204030204" pitchFamily="34" charset="0"/>
              </a:rPr>
              <a:t>Abstract</a:t>
            </a:r>
            <a:r>
              <a:rPr lang="tr-TR" sz="2000" b="1" dirty="0">
                <a:solidFill>
                  <a:srgbClr val="0070C0"/>
                </a:solidFill>
                <a:latin typeface="Calibri" panose="020F0502020204030204" pitchFamily="34" charset="0"/>
                <a:cs typeface="Calibri" panose="020F0502020204030204" pitchFamily="34" charset="0"/>
              </a:rPr>
              <a:t> yazımı </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 Hakem raporları </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 Kitap bölümlerinde tek sesli anlatım </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 Ders notu standardizasyonu </a:t>
            </a:r>
          </a:p>
          <a:p>
            <a:pPr>
              <a:lnSpc>
                <a:spcPct val="107000"/>
              </a:lnSpc>
              <a:spcAft>
                <a:spcPts val="800"/>
              </a:spcAft>
              <a:buNone/>
            </a:pP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60532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A5445-3E8C-82C9-E2F0-E5DBD1EE06A6}"/>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46858966-60B7-E55D-F737-A8817FDB8A72}"/>
              </a:ext>
            </a:extLst>
          </p:cNvPr>
          <p:cNvSpPr txBox="1"/>
          <p:nvPr/>
        </p:nvSpPr>
        <p:spPr>
          <a:xfrm>
            <a:off x="1254868" y="1215958"/>
            <a:ext cx="8258785" cy="5055487"/>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2.1.3 </a:t>
            </a:r>
            <a:r>
              <a:rPr lang="tr-TR" sz="2000" b="1" dirty="0" err="1">
                <a:solidFill>
                  <a:schemeClr val="tx2"/>
                </a:solidFill>
                <a:latin typeface="Calibri" panose="020F0502020204030204" pitchFamily="34" charset="0"/>
                <a:cs typeface="Calibri" panose="020F0502020204030204" pitchFamily="34" charset="0"/>
              </a:rPr>
              <a:t>Few-shot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chemeClr val="tx2"/>
                </a:solidFill>
                <a:latin typeface="Calibri" panose="020F0502020204030204" pitchFamily="34" charset="0"/>
                <a:cs typeface="Calibri" panose="020F0502020204030204" pitchFamily="34" charset="0"/>
              </a:rPr>
              <a:t>Güçlü yönleri</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En yüksek akademik tutarlılık</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Metodolojik çizgiyi korur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Uzun tezlerde bölüm standardı sağlar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Nitel araştırmalarda kod güvenilirliğini artırır</a:t>
            </a:r>
          </a:p>
          <a:p>
            <a:pPr>
              <a:lnSpc>
                <a:spcPct val="107000"/>
              </a:lnSpc>
              <a:spcAft>
                <a:spcPts val="800"/>
              </a:spcAft>
              <a:buNone/>
            </a:pP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err="1">
                <a:solidFill>
                  <a:schemeClr val="tx2"/>
                </a:solidFill>
                <a:latin typeface="Calibri" panose="020F0502020204030204" pitchFamily="34" charset="0"/>
                <a:cs typeface="Calibri" panose="020F0502020204030204" pitchFamily="34" charset="0"/>
              </a:rPr>
              <a:t>Sınırlılıklaerı</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Fazla örnek verilirse model gereğinden fazla kalıpçı olabilir</a:t>
            </a:r>
          </a:p>
          <a:p>
            <a:pPr>
              <a:lnSpc>
                <a:spcPct val="107000"/>
              </a:lnSpc>
              <a:spcAft>
                <a:spcPts val="800"/>
              </a:spcAft>
              <a:buNone/>
            </a:pPr>
            <a:r>
              <a:rPr lang="tr-TR" sz="2000" b="1" dirty="0">
                <a:solidFill>
                  <a:srgbClr val="0070C0"/>
                </a:solidFill>
                <a:latin typeface="Calibri" panose="020F0502020204030204" pitchFamily="34" charset="0"/>
                <a:cs typeface="Calibri" panose="020F0502020204030204" pitchFamily="34" charset="0"/>
              </a:rPr>
              <a:t>Özgünlük + akademik standardı birlikte isteyen üretimlerde en iyi kombinasyon:</a:t>
            </a:r>
          </a:p>
          <a:p>
            <a:pPr>
              <a:lnSpc>
                <a:spcPct val="107000"/>
              </a:lnSpc>
              <a:spcAft>
                <a:spcPts val="800"/>
              </a:spcAft>
              <a:buNone/>
            </a:pPr>
            <a:r>
              <a:rPr lang="tr-TR" sz="2000" b="1" dirty="0" err="1">
                <a:solidFill>
                  <a:schemeClr val="tx2"/>
                </a:solidFill>
                <a:latin typeface="Calibri" panose="020F0502020204030204" pitchFamily="34" charset="0"/>
                <a:cs typeface="Calibri" panose="020F0502020204030204" pitchFamily="34" charset="0"/>
              </a:rPr>
              <a:t>Few-shot</a:t>
            </a:r>
            <a:r>
              <a:rPr lang="tr-TR" sz="2000" b="1" dirty="0">
                <a:solidFill>
                  <a:schemeClr val="tx2"/>
                </a:solidFill>
                <a:latin typeface="Calibri" panose="020F0502020204030204" pitchFamily="34" charset="0"/>
                <a:cs typeface="Calibri" panose="020F0502020204030204" pitchFamily="34" charset="0"/>
              </a:rPr>
              <a:t> + </a:t>
            </a:r>
            <a:r>
              <a:rPr lang="tr-TR" sz="2000" b="1" dirty="0" err="1">
                <a:solidFill>
                  <a:schemeClr val="tx2"/>
                </a:solidFill>
                <a:latin typeface="Calibri" panose="020F0502020204030204" pitchFamily="34" charset="0"/>
                <a:cs typeface="Calibri" panose="020F0502020204030204" pitchFamily="34" charset="0"/>
              </a:rPr>
              <a:t>CoT</a:t>
            </a:r>
            <a:r>
              <a:rPr lang="tr-TR" sz="2000" b="1" dirty="0">
                <a:solidFill>
                  <a:schemeClr val="tx2"/>
                </a:solidFill>
                <a:latin typeface="Calibri" panose="020F0502020204030204" pitchFamily="34" charset="0"/>
                <a:cs typeface="Calibri" panose="020F0502020204030204" pitchFamily="34" charset="0"/>
              </a:rPr>
              <a:t> + CAG şeklindedir.</a:t>
            </a:r>
          </a:p>
        </p:txBody>
      </p:sp>
    </p:spTree>
    <p:extLst>
      <p:ext uri="{BB962C8B-B14F-4D97-AF65-F5344CB8AC3E}">
        <p14:creationId xmlns:p14="http://schemas.microsoft.com/office/powerpoint/2010/main" val="941072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9815E-43C3-F20B-0F00-570FE9EE9508}"/>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20AFE5CE-491D-F7AB-5730-9972CAE9B07F}"/>
              </a:ext>
            </a:extLst>
          </p:cNvPr>
          <p:cNvSpPr txBox="1"/>
          <p:nvPr/>
        </p:nvSpPr>
        <p:spPr>
          <a:xfrm>
            <a:off x="1245140" y="1994170"/>
            <a:ext cx="8268513" cy="3451971"/>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2.1.4 </a:t>
            </a:r>
            <a:r>
              <a:rPr lang="tr-TR" sz="2000" b="1" dirty="0" err="1">
                <a:solidFill>
                  <a:schemeClr val="tx2"/>
                </a:solidFill>
                <a:latin typeface="Calibri" panose="020F0502020204030204" pitchFamily="34" charset="0"/>
                <a:cs typeface="Calibri" panose="020F0502020204030204" pitchFamily="34" charset="0"/>
              </a:rPr>
              <a:t>Chain</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err="1">
                <a:solidFill>
                  <a:schemeClr val="tx2"/>
                </a:solidFill>
                <a:latin typeface="Calibri" panose="020F0502020204030204" pitchFamily="34" charset="0"/>
                <a:cs typeface="Calibri" panose="020F0502020204030204" pitchFamily="34" charset="0"/>
              </a:rPr>
              <a:t>Chain</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prompting</a:t>
            </a:r>
            <a:r>
              <a:rPr lang="tr-TR" sz="2000" b="1" dirty="0">
                <a:solidFill>
                  <a:schemeClr val="tx2"/>
                </a:solidFill>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modele bir akademik görevi adım adım düşünme düzeniyle yaptıran stratejidir.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yaklaşımda model, problem tanımından yönteme, analizden yoruma kadar ara basamakları görünür kılar.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Böylece çıktı yalnızca daha anlaşılır değil, aynı zamanda daha savunulabilir hale gelir.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Akademik bağlamda en büyük katkısı, sonuçların gerekçesiz görünmesini engellemesidir.</a:t>
            </a:r>
          </a:p>
        </p:txBody>
      </p:sp>
    </p:spTree>
    <p:extLst>
      <p:ext uri="{BB962C8B-B14F-4D97-AF65-F5344CB8AC3E}">
        <p14:creationId xmlns:p14="http://schemas.microsoft.com/office/powerpoint/2010/main" val="6510845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C1BF9-D45A-5DDF-8AA0-B82013D78557}"/>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9026C718-B7F1-641E-29A5-5B14E62282CE}"/>
              </a:ext>
            </a:extLst>
          </p:cNvPr>
          <p:cNvSpPr txBox="1"/>
          <p:nvPr/>
        </p:nvSpPr>
        <p:spPr>
          <a:xfrm>
            <a:off x="1196501" y="1468876"/>
            <a:ext cx="8239329" cy="3986476"/>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2.1.4 </a:t>
            </a:r>
            <a:r>
              <a:rPr lang="tr-TR" sz="2000" b="1" dirty="0" err="1">
                <a:solidFill>
                  <a:schemeClr val="tx2"/>
                </a:solidFill>
                <a:latin typeface="Calibri" panose="020F0502020204030204" pitchFamily="34" charset="0"/>
                <a:cs typeface="Calibri" panose="020F0502020204030204" pitchFamily="34" charset="0"/>
              </a:rPr>
              <a:t>Chain</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Tema → Kod → Alt tema → Ana tema üretimi</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“Aşağıdaki görüşme verisini incele. Önce anlamlı ifadeleri belirle, sonra bunlardan kod üret, ardından kodları alt temalarda birleştir ve son aşamada ana temayı oluştur.”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kullanım, özellikle nitel araştırmalarda </a:t>
            </a:r>
            <a:r>
              <a:rPr lang="tr-TR" sz="2000" b="1" dirty="0" err="1">
                <a:solidFill>
                  <a:srgbClr val="0070C0"/>
                </a:solidFill>
                <a:latin typeface="Calibri" panose="020F0502020204030204" pitchFamily="34" charset="0"/>
                <a:cs typeface="Calibri" panose="020F0502020204030204" pitchFamily="34" charset="0"/>
              </a:rPr>
              <a:t>CoT’nin</a:t>
            </a:r>
            <a:r>
              <a:rPr lang="tr-TR" sz="2000" b="1" dirty="0">
                <a:solidFill>
                  <a:srgbClr val="0070C0"/>
                </a:solidFill>
                <a:latin typeface="Calibri" panose="020F0502020204030204" pitchFamily="34" charset="0"/>
                <a:cs typeface="Calibri" panose="020F0502020204030204" pitchFamily="34" charset="0"/>
              </a:rPr>
              <a:t> en güçlü örneklerinden biridir.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624392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2FE23-AA12-90A2-6A6A-13F2B531BAE8}"/>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D056D93A-DF20-6486-8DEA-5E8FE1351377}"/>
              </a:ext>
            </a:extLst>
          </p:cNvPr>
          <p:cNvSpPr txBox="1"/>
          <p:nvPr/>
        </p:nvSpPr>
        <p:spPr>
          <a:xfrm>
            <a:off x="1215957" y="1147864"/>
            <a:ext cx="8219874" cy="4871847"/>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2.1.4 </a:t>
            </a:r>
            <a:r>
              <a:rPr lang="tr-TR" sz="2000" b="1" dirty="0" err="1">
                <a:solidFill>
                  <a:schemeClr val="tx2"/>
                </a:solidFill>
                <a:latin typeface="Calibri" panose="020F0502020204030204" pitchFamily="34" charset="0"/>
                <a:cs typeface="Calibri" panose="020F0502020204030204" pitchFamily="34" charset="0"/>
              </a:rPr>
              <a:t>Chain</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Tema → Kod → Alt tema → Ana tema üretimi</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Çünkü model doğrudan </a:t>
            </a:r>
            <a:r>
              <a:rPr lang="tr-TR" sz="2000" b="1" dirty="0">
                <a:solidFill>
                  <a:schemeClr val="tx2"/>
                </a:solidFill>
                <a:latin typeface="Calibri" panose="020F0502020204030204" pitchFamily="34" charset="0"/>
                <a:cs typeface="Calibri" panose="020F0502020204030204" pitchFamily="34" charset="0"/>
              </a:rPr>
              <a:t>“ana tema” </a:t>
            </a:r>
            <a:r>
              <a:rPr lang="tr-TR" sz="2000" b="1" dirty="0">
                <a:solidFill>
                  <a:srgbClr val="0070C0"/>
                </a:solidFill>
                <a:latin typeface="Calibri" panose="020F0502020204030204" pitchFamily="34" charset="0"/>
                <a:cs typeface="Calibri" panose="020F0502020204030204" pitchFamily="34" charset="0"/>
              </a:rPr>
              <a:t>yazmak yerine, önce verideki anlam birimlerini fark eder, sonra onları kodlara dönüştürür, ardından daha üst düzey kavramsal kümeler kurar. Bu süreç, araştırmacının da nitel analiz mantığına uygun biçimde ilerlemesini sağlar.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Örneğin öğretmen görüşlerinde </a:t>
            </a:r>
            <a:r>
              <a:rPr lang="tr-TR" sz="2000" b="1" dirty="0">
                <a:solidFill>
                  <a:schemeClr val="tx2"/>
                </a:solidFill>
                <a:latin typeface="Calibri" panose="020F0502020204030204" pitchFamily="34" charset="0"/>
                <a:cs typeface="Calibri" panose="020F0502020204030204" pitchFamily="34" charset="0"/>
              </a:rPr>
              <a:t>“yapay zekâ kullanımında çekingenlik”, “teknik yetersizlik” ve “mesleki kaygı” </a:t>
            </a:r>
            <a:r>
              <a:rPr lang="tr-TR" sz="2000" b="1" dirty="0">
                <a:solidFill>
                  <a:srgbClr val="0070C0"/>
                </a:solidFill>
                <a:latin typeface="Calibri" panose="020F0502020204030204" pitchFamily="34" charset="0"/>
                <a:cs typeface="Calibri" panose="020F0502020204030204" pitchFamily="34" charset="0"/>
              </a:rPr>
              <a:t>gibi ifadeler önce kodlanır. Sonra </a:t>
            </a:r>
            <a:r>
              <a:rPr lang="tr-TR" sz="2000" b="1" dirty="0">
                <a:solidFill>
                  <a:schemeClr val="tx2"/>
                </a:solidFill>
                <a:latin typeface="Calibri" panose="020F0502020204030204" pitchFamily="34" charset="0"/>
                <a:cs typeface="Calibri" panose="020F0502020204030204" pitchFamily="34" charset="0"/>
              </a:rPr>
              <a:t>“uygulama engelleri” </a:t>
            </a:r>
            <a:r>
              <a:rPr lang="tr-TR" sz="2000" b="1" dirty="0">
                <a:solidFill>
                  <a:srgbClr val="0070C0"/>
                </a:solidFill>
                <a:latin typeface="Calibri" panose="020F0502020204030204" pitchFamily="34" charset="0"/>
                <a:cs typeface="Calibri" panose="020F0502020204030204" pitchFamily="34" charset="0"/>
              </a:rPr>
              <a:t>gibi bir alt tema altında toplanabilir; en sonunda </a:t>
            </a:r>
            <a:r>
              <a:rPr lang="tr-TR" sz="2000" b="1" dirty="0">
                <a:solidFill>
                  <a:schemeClr val="tx2"/>
                </a:solidFill>
                <a:latin typeface="Calibri" panose="020F0502020204030204" pitchFamily="34" charset="0"/>
                <a:cs typeface="Calibri" panose="020F0502020204030204" pitchFamily="34" charset="0"/>
              </a:rPr>
              <a:t>“yapay zekâya uyumda yapısal ve bireysel zorluklar” </a:t>
            </a:r>
            <a:r>
              <a:rPr lang="tr-TR" sz="2000" b="1" dirty="0">
                <a:solidFill>
                  <a:srgbClr val="0070C0"/>
                </a:solidFill>
                <a:latin typeface="Calibri" panose="020F0502020204030204" pitchFamily="34" charset="0"/>
                <a:cs typeface="Calibri" panose="020F0502020204030204" pitchFamily="34" charset="0"/>
              </a:rPr>
              <a:t>gibi bir ana tema üretilebilir.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nedenle </a:t>
            </a:r>
            <a:r>
              <a:rPr lang="tr-TR" sz="2000" b="1" dirty="0" err="1">
                <a:solidFill>
                  <a:schemeClr val="tx2"/>
                </a:solidFill>
                <a:latin typeface="Calibri" panose="020F0502020204030204" pitchFamily="34" charset="0"/>
                <a:cs typeface="Calibri" panose="020F0502020204030204" pitchFamily="34" charset="0"/>
              </a:rPr>
              <a:t>CoT</a:t>
            </a:r>
            <a:r>
              <a:rPr lang="tr-TR" sz="2000" b="1" dirty="0">
                <a:solidFill>
                  <a:schemeClr val="tx2"/>
                </a:solidFill>
                <a:latin typeface="Calibri" panose="020F0502020204030204" pitchFamily="34" charset="0"/>
                <a:cs typeface="Calibri" panose="020F0502020204030204" pitchFamily="34" charset="0"/>
              </a:rPr>
              <a:t>, temaların veriden kopuk ve yapay görünmesini azaltır.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915385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2FAA9-CCFB-B147-B52C-5AA3F41D97ED}"/>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BB1FABC0-6752-FC03-2568-5E6F924FACC3}"/>
              </a:ext>
            </a:extLst>
          </p:cNvPr>
          <p:cNvSpPr txBox="1"/>
          <p:nvPr/>
        </p:nvSpPr>
        <p:spPr>
          <a:xfrm>
            <a:off x="1099226" y="1274322"/>
            <a:ext cx="8336605" cy="3986476"/>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2.1.4 </a:t>
            </a:r>
            <a:r>
              <a:rPr lang="tr-TR" sz="2000" b="1" dirty="0" err="1">
                <a:solidFill>
                  <a:schemeClr val="tx2"/>
                </a:solidFill>
                <a:latin typeface="Calibri" panose="020F0502020204030204" pitchFamily="34" charset="0"/>
                <a:cs typeface="Calibri" panose="020F0502020204030204" pitchFamily="34" charset="0"/>
              </a:rPr>
              <a:t>Chain</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Araştırma problemi → yöntem → veri analizi eşleştirmesi</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“Önce araştırma problemini tanımla, sonra bu probleme en uygun araştırma yöntemini belirle, ardından kullanılabilecek veri analiz tekniğini öner ve her seçimi kısaca gerekçelendir.”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Akademik çalışmalarda en sık yapılan hatalardan biri, araştırma problemi ile yöntemin tam uyumlu olmamasıdır.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037268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D927B-3223-77B1-6522-420081AAE344}"/>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6E52D493-9A9D-8F93-DABA-AECDE0D450E2}"/>
              </a:ext>
            </a:extLst>
          </p:cNvPr>
          <p:cNvSpPr txBox="1"/>
          <p:nvPr/>
        </p:nvSpPr>
        <p:spPr>
          <a:xfrm>
            <a:off x="1147864" y="1147864"/>
            <a:ext cx="8287967" cy="4542526"/>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2.1.4 </a:t>
            </a:r>
            <a:r>
              <a:rPr lang="tr-TR" sz="2000" b="1" dirty="0" err="1">
                <a:solidFill>
                  <a:schemeClr val="tx2"/>
                </a:solidFill>
                <a:latin typeface="Calibri" panose="020F0502020204030204" pitchFamily="34" charset="0"/>
                <a:cs typeface="Calibri" panose="020F0502020204030204" pitchFamily="34" charset="0"/>
              </a:rPr>
              <a:t>Chain</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Araştırma problemi → yöntem → veri analizi eşleştirmesi</a:t>
            </a:r>
          </a:p>
          <a:p>
            <a:pPr>
              <a:lnSpc>
                <a:spcPct val="107000"/>
              </a:lnSpc>
              <a:spcAft>
                <a:spcPts val="800"/>
              </a:spcAft>
            </a:pPr>
            <a:r>
              <a:rPr lang="tr-TR" sz="2000" b="1" dirty="0" err="1">
                <a:solidFill>
                  <a:srgbClr val="0070C0"/>
                </a:solidFill>
                <a:latin typeface="Calibri" panose="020F0502020204030204" pitchFamily="34" charset="0"/>
                <a:cs typeface="Calibri" panose="020F0502020204030204" pitchFamily="34" charset="0"/>
              </a:rPr>
              <a:t>CoT</a:t>
            </a:r>
            <a:r>
              <a:rPr lang="tr-TR" sz="2000" b="1" dirty="0">
                <a:solidFill>
                  <a:srgbClr val="0070C0"/>
                </a:solidFill>
                <a:latin typeface="Calibri" panose="020F0502020204030204" pitchFamily="34" charset="0"/>
                <a:cs typeface="Calibri" panose="020F0502020204030204" pitchFamily="34" charset="0"/>
              </a:rPr>
              <a:t> burada modelin önce problemi anlamasını, sonra probleme göre yöntem önermesini, daha sonra da o yönteme uygun analiz tekniği seçmesini sağlar. Böylece yöntem bölümü daha mantıklı kurulmuş olur.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Örneğin araştırma problemi öğretmenlerin deneyimlerini anlamaya yönelikse, model nicel anket yerine nitel görüşme ya da fenomenolojik yaklaşımı önerebilir. Ardından içerik analizi veya betimsel analiz gibi uygun çözüm yolları sunabilir.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yüzden </a:t>
            </a:r>
            <a:r>
              <a:rPr lang="tr-TR" sz="2000" b="1" dirty="0" err="1">
                <a:solidFill>
                  <a:srgbClr val="0070C0"/>
                </a:solidFill>
                <a:latin typeface="Calibri" panose="020F0502020204030204" pitchFamily="34" charset="0"/>
                <a:cs typeface="Calibri" panose="020F0502020204030204" pitchFamily="34" charset="0"/>
              </a:rPr>
              <a:t>CoT</a:t>
            </a:r>
            <a:r>
              <a:rPr lang="tr-TR" sz="2000" b="1" dirty="0">
                <a:solidFill>
                  <a:srgbClr val="0070C0"/>
                </a:solidFill>
                <a:latin typeface="Calibri" panose="020F0502020204030204" pitchFamily="34" charset="0"/>
                <a:cs typeface="Calibri" panose="020F0502020204030204" pitchFamily="34" charset="0"/>
              </a:rPr>
              <a:t>, tez yöntem kurgusunda yalnızca hız değil, yöntemsel tutarlılık da sağlar.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403433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71AF2-7F0B-4620-BDF1-5370392A5A1D}"/>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9A811402-104D-FA14-0832-EA5D38F23CFA}"/>
              </a:ext>
            </a:extLst>
          </p:cNvPr>
          <p:cNvSpPr txBox="1"/>
          <p:nvPr/>
        </p:nvSpPr>
        <p:spPr>
          <a:xfrm>
            <a:off x="1147864" y="1147864"/>
            <a:ext cx="8287967" cy="4315797"/>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2.1.4 </a:t>
            </a:r>
            <a:r>
              <a:rPr lang="tr-TR" sz="2000" b="1" dirty="0" err="1">
                <a:solidFill>
                  <a:schemeClr val="tx2"/>
                </a:solidFill>
                <a:latin typeface="Calibri" panose="020F0502020204030204" pitchFamily="34" charset="0"/>
                <a:cs typeface="Calibri" panose="020F0502020204030204" pitchFamily="34" charset="0"/>
              </a:rPr>
              <a:t>Chain</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Kuram seçimi için mantıksal gerekçelendirme</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“Araştırmanın konusu öğretmenlerin yapay zekâ çağında okul müdürlerinden beklediği liderlik rolleridir. Önce araştırmanın odak kavramlarını belirle, sonra uygun kuramsal seçenekleri sırala, ardından en uygun kuramı gerekçeleriyle seç.”</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Kuramsal çerçeve yazımında en büyük sorunlardan biri, kuramın konuya sonradan eklenmiş gibi görünmesidir.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985256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F5A82-FCC6-F2B8-889B-98C4740FA914}"/>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77FCFCE8-879B-5CF8-FCB0-FE43329C1414}"/>
              </a:ext>
            </a:extLst>
          </p:cNvPr>
          <p:cNvSpPr txBox="1"/>
          <p:nvPr/>
        </p:nvSpPr>
        <p:spPr>
          <a:xfrm>
            <a:off x="1118682" y="1361872"/>
            <a:ext cx="8317150" cy="4213205"/>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2.1.4 </a:t>
            </a:r>
            <a:r>
              <a:rPr lang="tr-TR" sz="2000" b="1" dirty="0" err="1">
                <a:solidFill>
                  <a:schemeClr val="tx2"/>
                </a:solidFill>
                <a:latin typeface="Calibri" panose="020F0502020204030204" pitchFamily="34" charset="0"/>
                <a:cs typeface="Calibri" panose="020F0502020204030204" pitchFamily="34" charset="0"/>
              </a:rPr>
              <a:t>Chain</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err="1">
                <a:solidFill>
                  <a:srgbClr val="0070C0"/>
                </a:solidFill>
                <a:latin typeface="Calibri" panose="020F0502020204030204" pitchFamily="34" charset="0"/>
                <a:cs typeface="Calibri" panose="020F0502020204030204" pitchFamily="34" charset="0"/>
              </a:rPr>
              <a:t>CoT</a:t>
            </a:r>
            <a:r>
              <a:rPr lang="tr-TR" sz="2000" b="1" dirty="0">
                <a:solidFill>
                  <a:srgbClr val="0070C0"/>
                </a:solidFill>
                <a:latin typeface="Calibri" panose="020F0502020204030204" pitchFamily="34" charset="0"/>
                <a:cs typeface="Calibri" panose="020F0502020204030204" pitchFamily="34" charset="0"/>
              </a:rPr>
              <a:t> yaklaşımı, modelin önce araştırmanın temel kavramlarını belirlemesini sağlar: liderlik, dönüşüm, teknoloji entegrasyonu, öğretmen beklentileri gibi. Sonra bu kavramlara uygun olabilecek kuramları düşünür: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Dönüşümcü liderlik, dağıtık liderlik, teknoloji liderliği, öğretimsel liderlik gibi. En son aşamada ise bunlar arasından hangisinin neden daha uygun olduğunu açıklar.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süreç, kuram seçimini rastgele olmaktan çıkarır.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Özellikle makale ve tezlerde </a:t>
            </a:r>
            <a:r>
              <a:rPr lang="tr-TR" sz="2000" b="1" dirty="0">
                <a:solidFill>
                  <a:schemeClr val="tx2"/>
                </a:solidFill>
                <a:latin typeface="Calibri" panose="020F0502020204030204" pitchFamily="34" charset="0"/>
                <a:cs typeface="Calibri" panose="020F0502020204030204" pitchFamily="34" charset="0"/>
              </a:rPr>
              <a:t>“neden bu kuram?” sorusuna güçlü cevap üretmek için çok değerlidir.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85333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5A32C-999F-E9DE-E1C6-8F34D68F46E2}"/>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9C24174C-5FF5-FD00-E1AE-5E16E17B7ECC}"/>
              </a:ext>
            </a:extLst>
          </p:cNvPr>
          <p:cNvSpPr txBox="1"/>
          <p:nvPr/>
        </p:nvSpPr>
        <p:spPr>
          <a:xfrm>
            <a:off x="1118682" y="1361872"/>
            <a:ext cx="8317150" cy="4747710"/>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2.1.4 </a:t>
            </a:r>
            <a:r>
              <a:rPr lang="tr-TR" sz="2000" b="1" dirty="0" err="1">
                <a:solidFill>
                  <a:schemeClr val="tx2"/>
                </a:solidFill>
                <a:latin typeface="Calibri" panose="020F0502020204030204" pitchFamily="34" charset="0"/>
                <a:cs typeface="Calibri" panose="020F0502020204030204" pitchFamily="34" charset="0"/>
              </a:rPr>
              <a:t>Chain</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SEM model yorumunu adım adım açıklama</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“Aşağıdaki SEM sonuçlarını sırayla yorumla: önce model uyum indekslerini açıkla, sonra yol katsayılarını değerlendir, ardından doğrudan ve dolaylı etkileri yorumla, en sonunda genel kuramsal sonucu yaz.”</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Yapısal eşitlik modellemesinde yalnızca katsayıları görmek yeterli değildir. Onların anlamlılık, yön, güç ve kuramsal karşılık bakımından sistemli biçimde yorumlanması gerekir.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997680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0785C-3735-0A61-95C1-2928D502A016}"/>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1E841105-705E-35C0-F42B-1D49532EC047}"/>
              </a:ext>
            </a:extLst>
          </p:cNvPr>
          <p:cNvSpPr txBox="1"/>
          <p:nvPr/>
        </p:nvSpPr>
        <p:spPr>
          <a:xfrm>
            <a:off x="1147864" y="1624519"/>
            <a:ext cx="8287968" cy="4213205"/>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2.1.4 </a:t>
            </a:r>
            <a:r>
              <a:rPr lang="tr-TR" sz="2000" b="1" dirty="0" err="1">
                <a:solidFill>
                  <a:schemeClr val="tx2"/>
                </a:solidFill>
                <a:latin typeface="Calibri" panose="020F0502020204030204" pitchFamily="34" charset="0"/>
                <a:cs typeface="Calibri" panose="020F0502020204030204" pitchFamily="34" charset="0"/>
              </a:rPr>
              <a:t>Chain</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err="1">
                <a:solidFill>
                  <a:schemeClr val="tx2"/>
                </a:solidFill>
                <a:latin typeface="Calibri" panose="020F0502020204030204" pitchFamily="34" charset="0"/>
                <a:cs typeface="Calibri" panose="020F0502020204030204" pitchFamily="34" charset="0"/>
              </a:rPr>
              <a:t>CoT</a:t>
            </a:r>
            <a:r>
              <a:rPr lang="tr-TR" sz="2000" b="1" dirty="0">
                <a:solidFill>
                  <a:schemeClr val="tx2"/>
                </a:solidFill>
                <a:latin typeface="Calibri" panose="020F0502020204030204" pitchFamily="34" charset="0"/>
                <a:cs typeface="Calibri" panose="020F0502020204030204" pitchFamily="34" charset="0"/>
              </a:rPr>
              <a:t> bu noktada çok etkilidir çünkü modelin bir anda genel hüküm vermesi yerine, önce uyum indekslerini incelemesini, sonra yapısal ilişkileri değerlendirmesini, daha sonra doğrudan ve dolaylı etkileri ayrıştırmasını sağlar.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Örneğin önce </a:t>
            </a:r>
            <a:r>
              <a:rPr lang="tr-TR" sz="2000" b="1" dirty="0">
                <a:solidFill>
                  <a:schemeClr val="tx2"/>
                </a:solidFill>
                <a:latin typeface="Calibri" panose="020F0502020204030204" pitchFamily="34" charset="0"/>
                <a:cs typeface="Calibri" panose="020F0502020204030204" pitchFamily="34" charset="0"/>
              </a:rPr>
              <a:t>CFI, TLI, RMSEA </a:t>
            </a:r>
            <a:r>
              <a:rPr lang="tr-TR" sz="2000" b="1" dirty="0">
                <a:solidFill>
                  <a:srgbClr val="0070C0"/>
                </a:solidFill>
                <a:latin typeface="Calibri" panose="020F0502020204030204" pitchFamily="34" charset="0"/>
                <a:cs typeface="Calibri" panose="020F0502020204030204" pitchFamily="34" charset="0"/>
              </a:rPr>
              <a:t>gibi göstergeler üzerinden modelin uygunluğu tartışılır; sonra beta katsayıları ele alınır; ardından aracı değişken etkileri yorumlanır. Böylece sonuç daha akademik ve kontrollü olur.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kullanım, istatistiksel yorumların yüzeysel ve karışık hale gelmesini önler.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455352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65D3E-0789-ABD0-1CB8-D90B050B3DEA}"/>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3FD06358-97F5-14FE-3112-72DDA2039D31}"/>
              </a:ext>
            </a:extLst>
          </p:cNvPr>
          <p:cNvSpPr txBox="1"/>
          <p:nvPr/>
        </p:nvSpPr>
        <p:spPr>
          <a:xfrm>
            <a:off x="1099226" y="865762"/>
            <a:ext cx="8336606" cy="5384807"/>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2.1.4 </a:t>
            </a:r>
            <a:r>
              <a:rPr lang="tr-TR" sz="2000" b="1" dirty="0" err="1">
                <a:solidFill>
                  <a:schemeClr val="tx2"/>
                </a:solidFill>
                <a:latin typeface="Calibri" panose="020F0502020204030204" pitchFamily="34" charset="0"/>
                <a:cs typeface="Calibri" panose="020F0502020204030204" pitchFamily="34" charset="0"/>
              </a:rPr>
              <a:t>Chain</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CFI, TLI, RMSEA</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SEM (Yapısal Eşitlik Modellemesi) içinde model uyumunu değerlendiren en temel uyum indeksleridir (fit </a:t>
            </a:r>
            <a:r>
              <a:rPr lang="tr-TR" sz="2000" b="1" dirty="0" err="1">
                <a:solidFill>
                  <a:srgbClr val="0070C0"/>
                </a:solidFill>
                <a:latin typeface="Calibri" panose="020F0502020204030204" pitchFamily="34" charset="0"/>
                <a:cs typeface="Calibri" panose="020F0502020204030204" pitchFamily="34" charset="0"/>
              </a:rPr>
              <a:t>indices</a:t>
            </a:r>
            <a:r>
              <a:rPr lang="tr-TR" sz="2000" b="1" dirty="0">
                <a:solidFill>
                  <a:srgbClr val="0070C0"/>
                </a:solidFill>
                <a:latin typeface="Calibri" panose="020F0502020204030204" pitchFamily="34" charset="0"/>
                <a:cs typeface="Calibri" panose="020F0502020204030204" pitchFamily="34" charset="0"/>
              </a:rPr>
              <a:t>).</a:t>
            </a:r>
          </a:p>
          <a:p>
            <a:pPr>
              <a:lnSpc>
                <a:spcPct val="107000"/>
              </a:lnSpc>
              <a:spcAft>
                <a:spcPts val="800"/>
              </a:spcAft>
            </a:pP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CFI (</a:t>
            </a:r>
            <a:r>
              <a:rPr lang="tr-TR" sz="2000" b="1" dirty="0" err="1">
                <a:solidFill>
                  <a:schemeClr val="tx2"/>
                </a:solidFill>
                <a:latin typeface="Calibri" panose="020F0502020204030204" pitchFamily="34" charset="0"/>
                <a:cs typeface="Calibri" panose="020F0502020204030204" pitchFamily="34" charset="0"/>
              </a:rPr>
              <a:t>Comparative</a:t>
            </a:r>
            <a:r>
              <a:rPr lang="tr-TR" sz="2000" b="1" dirty="0">
                <a:solidFill>
                  <a:schemeClr val="tx2"/>
                </a:solidFill>
                <a:latin typeface="Calibri" panose="020F0502020204030204" pitchFamily="34" charset="0"/>
                <a:cs typeface="Calibri" panose="020F0502020204030204" pitchFamily="34" charset="0"/>
              </a:rPr>
              <a:t> Fit Index)</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CFI, kurduğunuz modelin bağımsız (ilişkisiz) modele göre ne kadar daha iyi uyduğunu gösterir.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Değer 0 ile 1 arasındadır.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0.90 ve üzeri = kabul edilebilir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0.95 ve üzeri = çok iyi uyum</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Yüksek olması iyidir.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Modeliniz veriyi iyi açıklıyorsa CFI yükselir.</a:t>
            </a:r>
          </a:p>
        </p:txBody>
      </p:sp>
    </p:spTree>
    <p:extLst>
      <p:ext uri="{BB962C8B-B14F-4D97-AF65-F5344CB8AC3E}">
        <p14:creationId xmlns:p14="http://schemas.microsoft.com/office/powerpoint/2010/main" val="35030469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79858-853F-D21C-A2C8-D74B1C27B1A4}"/>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FA9A95D7-EEAB-BE0B-3738-C38AECE9CC01}"/>
              </a:ext>
            </a:extLst>
          </p:cNvPr>
          <p:cNvSpPr txBox="1"/>
          <p:nvPr/>
        </p:nvSpPr>
        <p:spPr>
          <a:xfrm>
            <a:off x="1099226" y="865762"/>
            <a:ext cx="8336606" cy="5055487"/>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2.1.4 </a:t>
            </a:r>
            <a:r>
              <a:rPr lang="tr-TR" sz="2000" b="1" dirty="0" err="1">
                <a:solidFill>
                  <a:schemeClr val="tx2"/>
                </a:solidFill>
                <a:latin typeface="Calibri" panose="020F0502020204030204" pitchFamily="34" charset="0"/>
                <a:cs typeface="Calibri" panose="020F0502020204030204" pitchFamily="34" charset="0"/>
              </a:rPr>
              <a:t>Chain</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CFI, TLI, RMSEA</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SEM (Yapısal Eşitlik Modellemesi) içinde model uyumunu değerlendiren en temel uyum indeksleridir (fit </a:t>
            </a:r>
            <a:r>
              <a:rPr lang="tr-TR" sz="2000" b="1" dirty="0" err="1">
                <a:solidFill>
                  <a:srgbClr val="0070C0"/>
                </a:solidFill>
                <a:latin typeface="Calibri" panose="020F0502020204030204" pitchFamily="34" charset="0"/>
                <a:cs typeface="Calibri" panose="020F0502020204030204" pitchFamily="34" charset="0"/>
              </a:rPr>
              <a:t>indices</a:t>
            </a:r>
            <a:r>
              <a:rPr lang="tr-TR" sz="2000" b="1" dirty="0">
                <a:solidFill>
                  <a:srgbClr val="0070C0"/>
                </a:solidFill>
                <a:latin typeface="Calibri" panose="020F0502020204030204" pitchFamily="34" charset="0"/>
                <a:cs typeface="Calibri" panose="020F0502020204030204" pitchFamily="34" charset="0"/>
              </a:rPr>
              <a:t>).</a:t>
            </a:r>
          </a:p>
          <a:p>
            <a:pPr>
              <a:lnSpc>
                <a:spcPct val="107000"/>
              </a:lnSpc>
              <a:spcAft>
                <a:spcPts val="800"/>
              </a:spcAft>
            </a:pP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TLI (</a:t>
            </a:r>
            <a:r>
              <a:rPr lang="tr-TR" sz="2000" b="1" dirty="0" err="1">
                <a:solidFill>
                  <a:schemeClr val="tx2"/>
                </a:solidFill>
                <a:latin typeface="Calibri" panose="020F0502020204030204" pitchFamily="34" charset="0"/>
                <a:cs typeface="Calibri" panose="020F0502020204030204" pitchFamily="34" charset="0"/>
              </a:rPr>
              <a:t>Tucker</a:t>
            </a:r>
            <a:r>
              <a:rPr lang="tr-TR" sz="2000" b="1" dirty="0">
                <a:solidFill>
                  <a:schemeClr val="tx2"/>
                </a:solidFill>
                <a:latin typeface="Calibri" panose="020F0502020204030204" pitchFamily="34" charset="0"/>
                <a:cs typeface="Calibri" panose="020F0502020204030204" pitchFamily="34" charset="0"/>
              </a:rPr>
              <a:t>-Lewis Index)</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TLI, </a:t>
            </a:r>
            <a:r>
              <a:rPr lang="tr-TR" sz="2000" b="1" dirty="0" err="1">
                <a:solidFill>
                  <a:srgbClr val="0070C0"/>
                </a:solidFill>
                <a:latin typeface="Calibri" panose="020F0502020204030204" pitchFamily="34" charset="0"/>
                <a:cs typeface="Calibri" panose="020F0502020204030204" pitchFamily="34" charset="0"/>
              </a:rPr>
              <a:t>CFI’ye</a:t>
            </a:r>
            <a:r>
              <a:rPr lang="tr-TR" sz="2000" b="1" dirty="0">
                <a:solidFill>
                  <a:srgbClr val="0070C0"/>
                </a:solidFill>
                <a:latin typeface="Calibri" panose="020F0502020204030204" pitchFamily="34" charset="0"/>
                <a:cs typeface="Calibri" panose="020F0502020204030204" pitchFamily="34" charset="0"/>
              </a:rPr>
              <a:t> benzer.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Ancak model karmaşıklığını da dikkate alır.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Gereksiz fazla yol eklenmişse modeli cezalandırır.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0.90+ = iyi</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0.95+ = çok iyi</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Daha sade ve kuramsal olarak güçlü modelleri ödüllendirir.</a:t>
            </a:r>
          </a:p>
        </p:txBody>
      </p:sp>
    </p:spTree>
    <p:extLst>
      <p:ext uri="{BB962C8B-B14F-4D97-AF65-F5344CB8AC3E}">
        <p14:creationId xmlns:p14="http://schemas.microsoft.com/office/powerpoint/2010/main" val="26756953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B3BDA-F953-0F48-F558-B9E9A83A99E0}"/>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A98EB65E-1213-45B0-141B-D71136C19157}"/>
              </a:ext>
            </a:extLst>
          </p:cNvPr>
          <p:cNvSpPr txBox="1"/>
          <p:nvPr/>
        </p:nvSpPr>
        <p:spPr>
          <a:xfrm>
            <a:off x="1099226" y="865762"/>
            <a:ext cx="8336606" cy="5055487"/>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2.1.4 </a:t>
            </a:r>
            <a:r>
              <a:rPr lang="tr-TR" sz="2000" b="1" dirty="0" err="1">
                <a:solidFill>
                  <a:schemeClr val="tx2"/>
                </a:solidFill>
                <a:latin typeface="Calibri" panose="020F0502020204030204" pitchFamily="34" charset="0"/>
                <a:cs typeface="Calibri" panose="020F0502020204030204" pitchFamily="34" charset="0"/>
              </a:rPr>
              <a:t>Chain</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CFI, TLI, RMSEA</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SEM (Yapısal Eşitlik Modellemesi) içinde model uyumunu değerlendiren en temel uyum indeksleridir (fit </a:t>
            </a:r>
            <a:r>
              <a:rPr lang="tr-TR" sz="2000" b="1" dirty="0" err="1">
                <a:solidFill>
                  <a:srgbClr val="0070C0"/>
                </a:solidFill>
                <a:latin typeface="Calibri" panose="020F0502020204030204" pitchFamily="34" charset="0"/>
                <a:cs typeface="Calibri" panose="020F0502020204030204" pitchFamily="34" charset="0"/>
              </a:rPr>
              <a:t>indices</a:t>
            </a:r>
            <a:r>
              <a:rPr lang="tr-TR" sz="2000" b="1" dirty="0">
                <a:solidFill>
                  <a:srgbClr val="0070C0"/>
                </a:solidFill>
                <a:latin typeface="Calibri" panose="020F0502020204030204" pitchFamily="34" charset="0"/>
                <a:cs typeface="Calibri" panose="020F0502020204030204" pitchFamily="34" charset="0"/>
              </a:rPr>
              <a:t>).</a:t>
            </a:r>
          </a:p>
          <a:p>
            <a:pPr>
              <a:lnSpc>
                <a:spcPct val="107000"/>
              </a:lnSpc>
              <a:spcAft>
                <a:spcPts val="800"/>
              </a:spcAft>
            </a:pP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RMSEA (</a:t>
            </a:r>
            <a:r>
              <a:rPr lang="tr-TR" sz="2000" b="1" dirty="0" err="1">
                <a:solidFill>
                  <a:schemeClr val="tx2"/>
                </a:solidFill>
                <a:latin typeface="Calibri" panose="020F0502020204030204" pitchFamily="34" charset="0"/>
                <a:cs typeface="Calibri" panose="020F0502020204030204" pitchFamily="34" charset="0"/>
              </a:rPr>
              <a:t>Root</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Mean</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Square</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Error</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Approximation</a:t>
            </a:r>
            <a:r>
              <a:rPr lang="tr-TR" sz="2000" b="1" dirty="0">
                <a:solidFill>
                  <a:schemeClr val="tx2"/>
                </a:solidFill>
                <a:latin typeface="Calibri" panose="020F0502020204030204" pitchFamily="34" charset="0"/>
                <a:cs typeface="Calibri" panose="020F0502020204030204" pitchFamily="34" charset="0"/>
              </a:rPr>
              <a:t>)</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RMSEA, modelin veriye ne kadar yaklaşık hata ile uyduğunu gösterir.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0.08 altı = kabul edilebilir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0.05 altı = çok iyi0.10 üstü = zayıf uyum</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Düşük olması iyidir.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Hata oranı azaldıkça model uyumu artar.</a:t>
            </a:r>
          </a:p>
          <a:p>
            <a:pPr>
              <a:lnSpc>
                <a:spcPct val="107000"/>
              </a:lnSpc>
              <a:spcAft>
                <a:spcPts val="800"/>
              </a:spcAft>
            </a:pPr>
            <a:endParaRPr lang="tr-TR" sz="2000" b="1" dirty="0">
              <a:solidFill>
                <a:srgbClr val="0070C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905077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DA149-53E2-22B0-D298-113932E2FCA8}"/>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31A5AD4D-CF27-73E0-FAB7-D28CDCCEF807}"/>
              </a:ext>
            </a:extLst>
          </p:cNvPr>
          <p:cNvSpPr txBox="1"/>
          <p:nvPr/>
        </p:nvSpPr>
        <p:spPr>
          <a:xfrm>
            <a:off x="1099226" y="865762"/>
            <a:ext cx="8336606" cy="4623573"/>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2.1.4 </a:t>
            </a:r>
            <a:r>
              <a:rPr lang="tr-TR" sz="2000" b="1" dirty="0" err="1">
                <a:solidFill>
                  <a:schemeClr val="tx2"/>
                </a:solidFill>
                <a:latin typeface="Calibri" panose="020F0502020204030204" pitchFamily="34" charset="0"/>
                <a:cs typeface="Calibri" panose="020F0502020204030204" pitchFamily="34" charset="0"/>
              </a:rPr>
              <a:t>Chain</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CFI, TLI, RMSEA</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SEM (Yapısal Eşitlik Modellemesi) içinde model uyumunu değerlendiren en temel uyum indeksleridir (fit </a:t>
            </a:r>
            <a:r>
              <a:rPr lang="tr-TR" sz="2000" b="1" dirty="0" err="1">
                <a:solidFill>
                  <a:srgbClr val="0070C0"/>
                </a:solidFill>
                <a:latin typeface="Calibri" panose="020F0502020204030204" pitchFamily="34" charset="0"/>
                <a:cs typeface="Calibri" panose="020F0502020204030204" pitchFamily="34" charset="0"/>
              </a:rPr>
              <a:t>indices</a:t>
            </a:r>
            <a:r>
              <a:rPr lang="tr-TR" sz="2000" b="1" dirty="0">
                <a:solidFill>
                  <a:srgbClr val="0070C0"/>
                </a:solidFill>
                <a:latin typeface="Calibri" panose="020F0502020204030204" pitchFamily="34" charset="0"/>
                <a:cs typeface="Calibri" panose="020F0502020204030204" pitchFamily="34" charset="0"/>
              </a:rPr>
              <a:t>).</a:t>
            </a:r>
          </a:p>
          <a:p>
            <a:pPr>
              <a:lnSpc>
                <a:spcPct val="107000"/>
              </a:lnSpc>
              <a:spcAft>
                <a:spcPts val="800"/>
              </a:spcAft>
            </a:pP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Özet:</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CFI =</a:t>
            </a:r>
            <a:r>
              <a:rPr lang="tr-TR" sz="2000" b="1" dirty="0">
                <a:solidFill>
                  <a:srgbClr val="0070C0"/>
                </a:solidFill>
                <a:latin typeface="Calibri" panose="020F0502020204030204" pitchFamily="34" charset="0"/>
                <a:cs typeface="Calibri" panose="020F0502020204030204" pitchFamily="34" charset="0"/>
              </a:rPr>
              <a:t> karşılaştırmalı uyum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TLI =</a:t>
            </a:r>
            <a:r>
              <a:rPr lang="tr-TR" sz="2000" b="1" dirty="0">
                <a:solidFill>
                  <a:srgbClr val="0070C0"/>
                </a:solidFill>
                <a:latin typeface="Calibri" panose="020F0502020204030204" pitchFamily="34" charset="0"/>
                <a:cs typeface="Calibri" panose="020F0502020204030204" pitchFamily="34" charset="0"/>
              </a:rPr>
              <a:t> sade model uyumu</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RMSEA =</a:t>
            </a:r>
            <a:r>
              <a:rPr lang="tr-TR" sz="2000" b="1" dirty="0">
                <a:solidFill>
                  <a:srgbClr val="0070C0"/>
                </a:solidFill>
                <a:latin typeface="Calibri" panose="020F0502020204030204" pitchFamily="34" charset="0"/>
                <a:cs typeface="Calibri" panose="020F0502020204030204" pitchFamily="34" charset="0"/>
              </a:rPr>
              <a:t> hata düzeyi</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SEM yorumlarında en güvenli sıralama genelde şöyledir: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Önce CFI/</a:t>
            </a:r>
            <a:r>
              <a:rPr lang="tr-TR" sz="2000" b="1" dirty="0" err="1">
                <a:solidFill>
                  <a:schemeClr val="tx2"/>
                </a:solidFill>
                <a:latin typeface="Calibri" panose="020F0502020204030204" pitchFamily="34" charset="0"/>
                <a:cs typeface="Calibri" panose="020F0502020204030204" pitchFamily="34" charset="0"/>
              </a:rPr>
              <a:t>TLI’ye</a:t>
            </a:r>
            <a:r>
              <a:rPr lang="tr-TR" sz="2000" b="1" dirty="0">
                <a:solidFill>
                  <a:schemeClr val="tx2"/>
                </a:solidFill>
                <a:latin typeface="Calibri" panose="020F0502020204030204" pitchFamily="34" charset="0"/>
                <a:cs typeface="Calibri" panose="020F0502020204030204" pitchFamily="34" charset="0"/>
              </a:rPr>
              <a:t> bakılır, sonra RMSEA ile hata düzeyi kontrol edilir.</a:t>
            </a:r>
          </a:p>
        </p:txBody>
      </p:sp>
    </p:spTree>
    <p:extLst>
      <p:ext uri="{BB962C8B-B14F-4D97-AF65-F5344CB8AC3E}">
        <p14:creationId xmlns:p14="http://schemas.microsoft.com/office/powerpoint/2010/main" val="11519342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6EE9B-94A7-D52A-C35F-BD40C3AB7999}"/>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C9A21796-1F87-31C5-35CD-106A7076AF95}"/>
              </a:ext>
            </a:extLst>
          </p:cNvPr>
          <p:cNvSpPr txBox="1"/>
          <p:nvPr/>
        </p:nvSpPr>
        <p:spPr>
          <a:xfrm>
            <a:off x="739301" y="1332689"/>
            <a:ext cx="9581745" cy="3986476"/>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2.1.4 </a:t>
            </a:r>
            <a:r>
              <a:rPr lang="tr-TR" sz="2000" b="1" dirty="0" err="1">
                <a:solidFill>
                  <a:schemeClr val="tx2"/>
                </a:solidFill>
                <a:latin typeface="Calibri" panose="020F0502020204030204" pitchFamily="34" charset="0"/>
                <a:cs typeface="Calibri" panose="020F0502020204030204" pitchFamily="34" charset="0"/>
              </a:rPr>
              <a:t>Chain</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Hakem yorumuna sistematik yanıt oluşturma</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“Aşağıdaki hakem yorumuna yanıt hazırla. Önce eleştirinin ana noktasını belirle, sonra haklı görülen kısmı açıkla, ardından yapılan revizyonu belirt ve son olarak nazik akademik bir kapanış cümlesi yaz.”</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Hakem yanıtlarında en önemli mesele, savunmacı değil sistematik ve profesyonel görünmektir.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824843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F5DBB-EE1C-2C13-F130-1795DBC778BA}"/>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1797D930-AF83-B8D0-E6EF-E6C774B0E32D}"/>
              </a:ext>
            </a:extLst>
          </p:cNvPr>
          <p:cNvSpPr txBox="1"/>
          <p:nvPr/>
        </p:nvSpPr>
        <p:spPr>
          <a:xfrm>
            <a:off x="836579" y="1449421"/>
            <a:ext cx="9484468" cy="3883884"/>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2.1.4 </a:t>
            </a:r>
            <a:r>
              <a:rPr lang="tr-TR" sz="2000" b="1" dirty="0" err="1">
                <a:solidFill>
                  <a:schemeClr val="tx2"/>
                </a:solidFill>
                <a:latin typeface="Calibri" panose="020F0502020204030204" pitchFamily="34" charset="0"/>
                <a:cs typeface="Calibri" panose="020F0502020204030204" pitchFamily="34" charset="0"/>
              </a:rPr>
              <a:t>Chain</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err="1">
                <a:solidFill>
                  <a:srgbClr val="0070C0"/>
                </a:solidFill>
                <a:latin typeface="Calibri" panose="020F0502020204030204" pitchFamily="34" charset="0"/>
                <a:cs typeface="Calibri" panose="020F0502020204030204" pitchFamily="34" charset="0"/>
              </a:rPr>
              <a:t>CoT</a:t>
            </a:r>
            <a:r>
              <a:rPr lang="tr-TR" sz="2000" b="1" dirty="0">
                <a:solidFill>
                  <a:srgbClr val="0070C0"/>
                </a:solidFill>
                <a:latin typeface="Calibri" panose="020F0502020204030204" pitchFamily="34" charset="0"/>
                <a:cs typeface="Calibri" panose="020F0502020204030204" pitchFamily="34" charset="0"/>
              </a:rPr>
              <a:t> burada modelin yorumun özünü ayıklamasına, sonra buna karşı uygun akademik tepki vermesine yardımcı olur.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Örneğin hakem kuramsal çerçevenin zayıf olduğunu söylüyorsa, model önce bu eleştirinin neye dayandığını saptar; sonra gerekli düzeltmenin ne olduğunu ifade eder; ardından revizyonu bildirir.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yaklaşım sayesinde cevaplar dağınık, duygusal ya da aşırı kısa olmaz.</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Özellikle dergi revizyon süreçlerinde </a:t>
            </a:r>
            <a:r>
              <a:rPr lang="tr-TR" sz="2000" b="1" dirty="0" err="1">
                <a:solidFill>
                  <a:schemeClr val="tx2"/>
                </a:solidFill>
                <a:latin typeface="Calibri" panose="020F0502020204030204" pitchFamily="34" charset="0"/>
                <a:cs typeface="Calibri" panose="020F0502020204030204" pitchFamily="34" charset="0"/>
              </a:rPr>
              <a:t>CoT</a:t>
            </a:r>
            <a:r>
              <a:rPr lang="tr-TR" sz="2000" b="1" dirty="0">
                <a:solidFill>
                  <a:schemeClr val="tx2"/>
                </a:solidFill>
                <a:latin typeface="Calibri" panose="020F0502020204030204" pitchFamily="34" charset="0"/>
                <a:cs typeface="Calibri" panose="020F0502020204030204" pitchFamily="34" charset="0"/>
              </a:rPr>
              <a:t>, yanıt mektubunun mantıksal bütünlüğünü güçlendirir.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702263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DF6C4-F9AD-F951-34CA-B07CDBF66A33}"/>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D84C8E18-131E-F95B-14BB-3BB35DDC1945}"/>
              </a:ext>
            </a:extLst>
          </p:cNvPr>
          <p:cNvSpPr txBox="1"/>
          <p:nvPr/>
        </p:nvSpPr>
        <p:spPr>
          <a:xfrm>
            <a:off x="836579" y="1449421"/>
            <a:ext cx="9484468" cy="4850302"/>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2.1.4 </a:t>
            </a:r>
            <a:r>
              <a:rPr lang="tr-TR" sz="2000" b="1" dirty="0" err="1">
                <a:solidFill>
                  <a:schemeClr val="tx2"/>
                </a:solidFill>
                <a:latin typeface="Calibri" panose="020F0502020204030204" pitchFamily="34" charset="0"/>
                <a:cs typeface="Calibri" panose="020F0502020204030204" pitchFamily="34" charset="0"/>
              </a:rPr>
              <a:t>Chain</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Genel Değerlendirme</a:t>
            </a:r>
          </a:p>
          <a:p>
            <a:pPr>
              <a:lnSpc>
                <a:spcPct val="107000"/>
              </a:lnSpc>
              <a:spcAft>
                <a:spcPts val="800"/>
              </a:spcAft>
            </a:pPr>
            <a:r>
              <a:rPr lang="tr-TR" sz="2000" b="1" dirty="0" err="1">
                <a:solidFill>
                  <a:srgbClr val="0070C0"/>
                </a:solidFill>
                <a:latin typeface="Calibri" panose="020F0502020204030204" pitchFamily="34" charset="0"/>
                <a:cs typeface="Calibri" panose="020F0502020204030204" pitchFamily="34" charset="0"/>
              </a:rPr>
              <a:t>Chain</a:t>
            </a:r>
            <a:r>
              <a:rPr lang="tr-TR" sz="2000" b="1" dirty="0">
                <a:solidFill>
                  <a:srgbClr val="0070C0"/>
                </a:solidFill>
                <a:latin typeface="Calibri" panose="020F0502020204030204" pitchFamily="34" charset="0"/>
                <a:cs typeface="Calibri" panose="020F0502020204030204" pitchFamily="34" charset="0"/>
              </a:rPr>
              <a:t> of </a:t>
            </a:r>
            <a:r>
              <a:rPr lang="tr-TR" sz="2000" b="1" dirty="0" err="1">
                <a:solidFill>
                  <a:srgbClr val="0070C0"/>
                </a:solidFill>
                <a:latin typeface="Calibri" panose="020F0502020204030204" pitchFamily="34" charset="0"/>
                <a:cs typeface="Calibri" panose="020F0502020204030204" pitchFamily="34" charset="0"/>
              </a:rPr>
              <a:t>Thought’ın</a:t>
            </a:r>
            <a:r>
              <a:rPr lang="tr-TR" sz="2000" b="1" dirty="0">
                <a:solidFill>
                  <a:srgbClr val="0070C0"/>
                </a:solidFill>
                <a:latin typeface="Calibri" panose="020F0502020204030204" pitchFamily="34" charset="0"/>
                <a:cs typeface="Calibri" panose="020F0502020204030204" pitchFamily="34" charset="0"/>
              </a:rPr>
              <a:t> akademik çalışmalardaki en büyük gücü, araştırma kararlarını görünür hale getirmesidir. Bu sayede model yalnızca bir metin üreticisi gibi değil, araştırmacının düşünme sürecini düzenleyen bir bilişsel destek sistemi gibi çalışır. Özellikle şu alanlarda çok etkilidir: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Nitel veri analizi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Yöntem seçimi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Kuram gerekçelendirme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İstatistiksel yorumlama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Hakem yanıtı yazımı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Tez bölümleri arasında mantıksal akış kurma </a:t>
            </a:r>
          </a:p>
        </p:txBody>
      </p:sp>
    </p:spTree>
    <p:extLst>
      <p:ext uri="{BB962C8B-B14F-4D97-AF65-F5344CB8AC3E}">
        <p14:creationId xmlns:p14="http://schemas.microsoft.com/office/powerpoint/2010/main" val="23974941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9EA09-A40F-DAFF-1E9C-B929E2EBA7BF}"/>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EF8FB51C-2CA2-218C-21D2-ECBE99E63F22}"/>
              </a:ext>
            </a:extLst>
          </p:cNvPr>
          <p:cNvSpPr txBox="1"/>
          <p:nvPr/>
        </p:nvSpPr>
        <p:spPr>
          <a:xfrm>
            <a:off x="826851" y="875489"/>
            <a:ext cx="9494196" cy="5158079"/>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2.1.4 </a:t>
            </a:r>
            <a:r>
              <a:rPr lang="tr-TR" sz="2000" b="1" dirty="0" err="1">
                <a:solidFill>
                  <a:schemeClr val="tx2"/>
                </a:solidFill>
                <a:latin typeface="Calibri" panose="020F0502020204030204" pitchFamily="34" charset="0"/>
                <a:cs typeface="Calibri" panose="020F0502020204030204" pitchFamily="34" charset="0"/>
              </a:rPr>
              <a:t>Chain</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Güçlü </a:t>
            </a:r>
            <a:r>
              <a:rPr lang="tr-TR" sz="2000" b="1" dirty="0" err="1">
                <a:solidFill>
                  <a:srgbClr val="0070C0"/>
                </a:solidFill>
                <a:latin typeface="Calibri" panose="020F0502020204030204" pitchFamily="34" charset="0"/>
                <a:cs typeface="Calibri" panose="020F0502020204030204" pitchFamily="34" charset="0"/>
              </a:rPr>
              <a:t>yönüleri</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Yöntemsel doğruluğu artırır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Mantıksal sıralama kurar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Gerekçesiz akademik ifadeleri azaltır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Özellikle tez ve makalede </a:t>
            </a:r>
            <a:r>
              <a:rPr lang="tr-TR" sz="2000" b="1" dirty="0" err="1">
                <a:solidFill>
                  <a:schemeClr val="tx2"/>
                </a:solidFill>
                <a:latin typeface="Calibri" panose="020F0502020204030204" pitchFamily="34" charset="0"/>
                <a:cs typeface="Calibri" panose="020F0502020204030204" pitchFamily="34" charset="0"/>
              </a:rPr>
              <a:t>savunulabilirlik</a:t>
            </a:r>
            <a:r>
              <a:rPr lang="tr-TR" sz="2000" b="1" dirty="0">
                <a:solidFill>
                  <a:schemeClr val="tx2"/>
                </a:solidFill>
                <a:latin typeface="Calibri" panose="020F0502020204030204" pitchFamily="34" charset="0"/>
                <a:cs typeface="Calibri" panose="020F0502020204030204" pitchFamily="34" charset="0"/>
              </a:rPr>
              <a:t> sağlar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Sınırlılıkları</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Yanlış başlangıç varsayımı varsa, hatayı adım adım büyütebilir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nedenle </a:t>
            </a:r>
            <a:r>
              <a:rPr lang="tr-TR" sz="2000" b="1" dirty="0" err="1">
                <a:solidFill>
                  <a:srgbClr val="0070C0"/>
                </a:solidFill>
                <a:latin typeface="Calibri" panose="020F0502020204030204" pitchFamily="34" charset="0"/>
                <a:cs typeface="Calibri" panose="020F0502020204030204" pitchFamily="34" charset="0"/>
              </a:rPr>
              <a:t>CoT</a:t>
            </a:r>
            <a:r>
              <a:rPr lang="tr-TR" sz="2000" b="1" dirty="0">
                <a:solidFill>
                  <a:srgbClr val="0070C0"/>
                </a:solidFill>
                <a:latin typeface="Calibri" panose="020F0502020204030204" pitchFamily="34" charset="0"/>
                <a:cs typeface="Calibri" panose="020F0502020204030204" pitchFamily="34" charset="0"/>
              </a:rPr>
              <a:t> en iyi sonuçları çoğu zaman tek başına değil, şu birleşimle verir:</a:t>
            </a:r>
          </a:p>
          <a:p>
            <a:pPr>
              <a:lnSpc>
                <a:spcPct val="107000"/>
              </a:lnSpc>
              <a:spcAft>
                <a:spcPts val="800"/>
              </a:spcAft>
            </a:pPr>
            <a:r>
              <a:rPr lang="tr-TR" sz="2000" b="1" dirty="0" err="1">
                <a:solidFill>
                  <a:schemeClr val="tx2"/>
                </a:solidFill>
                <a:latin typeface="Calibri" panose="020F0502020204030204" pitchFamily="34" charset="0"/>
                <a:cs typeface="Calibri" panose="020F0502020204030204" pitchFamily="34" charset="0"/>
              </a:rPr>
              <a:t>Few-shot</a:t>
            </a:r>
            <a:r>
              <a:rPr lang="tr-TR" sz="2000" b="1" dirty="0">
                <a:solidFill>
                  <a:schemeClr val="tx2"/>
                </a:solidFill>
                <a:latin typeface="Calibri" panose="020F0502020204030204" pitchFamily="34" charset="0"/>
                <a:cs typeface="Calibri" panose="020F0502020204030204" pitchFamily="34" charset="0"/>
              </a:rPr>
              <a:t> + </a:t>
            </a:r>
            <a:r>
              <a:rPr lang="tr-TR" sz="2000" b="1" dirty="0" err="1">
                <a:solidFill>
                  <a:schemeClr val="tx2"/>
                </a:solidFill>
                <a:latin typeface="Calibri" panose="020F0502020204030204" pitchFamily="34" charset="0"/>
                <a:cs typeface="Calibri" panose="020F0502020204030204" pitchFamily="34" charset="0"/>
              </a:rPr>
              <a:t>CoT</a:t>
            </a:r>
            <a:r>
              <a:rPr lang="tr-TR" sz="2000" b="1" dirty="0">
                <a:solidFill>
                  <a:schemeClr val="tx2"/>
                </a:solidFill>
                <a:latin typeface="Calibri" panose="020F0502020204030204" pitchFamily="34" charset="0"/>
                <a:cs typeface="Calibri" panose="020F0502020204030204" pitchFamily="34" charset="0"/>
              </a:rPr>
              <a:t> + RAG</a:t>
            </a:r>
          </a:p>
          <a:p>
            <a:pPr>
              <a:lnSpc>
                <a:spcPct val="107000"/>
              </a:lnSpc>
              <a:spcAft>
                <a:spcPts val="800"/>
              </a:spcAft>
            </a:pPr>
            <a:r>
              <a:rPr lang="tr-TR" sz="2000" b="1" dirty="0" err="1">
                <a:solidFill>
                  <a:srgbClr val="0070C0"/>
                </a:solidFill>
                <a:latin typeface="Calibri" panose="020F0502020204030204" pitchFamily="34" charset="0"/>
                <a:cs typeface="Calibri" panose="020F0502020204030204" pitchFamily="34" charset="0"/>
              </a:rPr>
              <a:t>Few-shot</a:t>
            </a:r>
            <a:r>
              <a:rPr lang="tr-TR" sz="2000" b="1" dirty="0">
                <a:solidFill>
                  <a:srgbClr val="0070C0"/>
                </a:solidFill>
                <a:latin typeface="Calibri" panose="020F0502020204030204" pitchFamily="34" charset="0"/>
                <a:cs typeface="Calibri" panose="020F0502020204030204" pitchFamily="34" charset="0"/>
              </a:rPr>
              <a:t> biçimi, </a:t>
            </a:r>
            <a:r>
              <a:rPr lang="tr-TR" sz="2000" b="1" dirty="0" err="1">
                <a:solidFill>
                  <a:srgbClr val="0070C0"/>
                </a:solidFill>
                <a:latin typeface="Calibri" panose="020F0502020204030204" pitchFamily="34" charset="0"/>
                <a:cs typeface="Calibri" panose="020F0502020204030204" pitchFamily="34" charset="0"/>
              </a:rPr>
              <a:t>CoT</a:t>
            </a:r>
            <a:r>
              <a:rPr lang="tr-TR" sz="2000" b="1" dirty="0">
                <a:solidFill>
                  <a:srgbClr val="0070C0"/>
                </a:solidFill>
                <a:latin typeface="Calibri" panose="020F0502020204030204" pitchFamily="34" charset="0"/>
                <a:cs typeface="Calibri" panose="020F0502020204030204" pitchFamily="34" charset="0"/>
              </a:rPr>
              <a:t> mantığı, RAG ise bilgi doğruluğunu güçlendirir.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951371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BC85E-99E3-091C-3B66-46000B603848}"/>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21D6A38B-7BA6-D49C-4054-9AE3407BE698}"/>
              </a:ext>
            </a:extLst>
          </p:cNvPr>
          <p:cNvSpPr txBox="1"/>
          <p:nvPr/>
        </p:nvSpPr>
        <p:spPr>
          <a:xfrm>
            <a:off x="992221" y="1838528"/>
            <a:ext cx="9328826" cy="2588144"/>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2.1.5 </a:t>
            </a:r>
            <a:r>
              <a:rPr lang="tr-TR" sz="2000" b="1" dirty="0" err="1">
                <a:solidFill>
                  <a:schemeClr val="tx2"/>
                </a:solidFill>
                <a:latin typeface="Calibri" panose="020F0502020204030204" pitchFamily="34" charset="0"/>
                <a:cs typeface="Calibri" panose="020F0502020204030204" pitchFamily="34" charset="0"/>
              </a:rPr>
              <a:t>Tree</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err="1">
                <a:solidFill>
                  <a:schemeClr val="tx2"/>
                </a:solidFill>
                <a:latin typeface="Calibri" panose="020F0502020204030204" pitchFamily="34" charset="0"/>
                <a:cs typeface="Calibri" panose="020F0502020204030204" pitchFamily="34" charset="0"/>
              </a:rPr>
              <a:t>Tree</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prompting</a:t>
            </a:r>
            <a:r>
              <a:rPr lang="tr-TR" sz="2000" b="1" dirty="0">
                <a:solidFill>
                  <a:schemeClr val="tx2"/>
                </a:solidFill>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modelin bir akademik problemi çözmek için birden fazla olası düşünce yolunu aynı anda üretmesini, her yolun güçlü ve zayıf yönlerini değerlendirmesini ve sonunda en uygun seçeneği seçmesini sağlayan </a:t>
            </a:r>
            <a:r>
              <a:rPr lang="tr-TR" sz="2000" b="1" dirty="0" err="1">
                <a:solidFill>
                  <a:schemeClr val="tx2"/>
                </a:solidFill>
                <a:latin typeface="Calibri" panose="020F0502020204030204" pitchFamily="34" charset="0"/>
                <a:cs typeface="Calibri" panose="020F0502020204030204" pitchFamily="34" charset="0"/>
              </a:rPr>
              <a:t>reasoning-based</a:t>
            </a:r>
            <a:r>
              <a:rPr lang="tr-TR" sz="2000" b="1" dirty="0">
                <a:solidFill>
                  <a:schemeClr val="tx2"/>
                </a:solidFill>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stratejidir.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Akademik araştırmalarda bu yaklaşım özellikle </a:t>
            </a:r>
            <a:r>
              <a:rPr lang="tr-TR" sz="2000" b="1" dirty="0">
                <a:solidFill>
                  <a:schemeClr val="tx2"/>
                </a:solidFill>
                <a:latin typeface="Calibri" panose="020F0502020204030204" pitchFamily="34" charset="0"/>
                <a:cs typeface="Calibri" panose="020F0502020204030204" pitchFamily="34" charset="0"/>
              </a:rPr>
              <a:t>tasarım kararı </a:t>
            </a:r>
            <a:r>
              <a:rPr lang="tr-TR" sz="2000" b="1" dirty="0">
                <a:solidFill>
                  <a:srgbClr val="0070C0"/>
                </a:solidFill>
                <a:latin typeface="Calibri" panose="020F0502020204030204" pitchFamily="34" charset="0"/>
                <a:cs typeface="Calibri" panose="020F0502020204030204" pitchFamily="34" charset="0"/>
              </a:rPr>
              <a:t>verme aşamasında çok değerlidir.</a:t>
            </a:r>
          </a:p>
        </p:txBody>
      </p:sp>
    </p:spTree>
    <p:extLst>
      <p:ext uri="{BB962C8B-B14F-4D97-AF65-F5344CB8AC3E}">
        <p14:creationId xmlns:p14="http://schemas.microsoft.com/office/powerpoint/2010/main" val="20198512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95F85-480C-16FD-CAAC-156F0C0E7153}"/>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DD24B565-7A90-91D5-CCB3-79243CF0F4A2}"/>
              </a:ext>
            </a:extLst>
          </p:cNvPr>
          <p:cNvSpPr txBox="1"/>
          <p:nvPr/>
        </p:nvSpPr>
        <p:spPr>
          <a:xfrm>
            <a:off x="914400" y="535021"/>
            <a:ext cx="9406647" cy="6702091"/>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2.1.5 </a:t>
            </a:r>
            <a:r>
              <a:rPr lang="tr-TR" sz="2000" b="1" dirty="0" err="1">
                <a:solidFill>
                  <a:schemeClr val="tx2"/>
                </a:solidFill>
                <a:latin typeface="Calibri" panose="020F0502020204030204" pitchFamily="34" charset="0"/>
                <a:cs typeface="Calibri" panose="020F0502020204030204" pitchFamily="34" charset="0"/>
              </a:rPr>
              <a:t>Tree</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Nitel, Nicel yöntem seçimi</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“Araştırma konusu öğretmenlerin yapay zekâ çağında okul müdürlerinden beklediği liderlik rolleridir. Nitel ve nicel yöntem seçeneklerini ayrı düşünce yolları olarak değerlendir. Veri türü, derinlik, genellenebilirlik ve analiz süreçleri açısından karşılaştır. En uygun yöntemi seç.”</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kullanım, </a:t>
            </a:r>
            <a:r>
              <a:rPr lang="tr-TR" sz="2000" b="1" dirty="0" err="1">
                <a:solidFill>
                  <a:srgbClr val="0070C0"/>
                </a:solidFill>
                <a:latin typeface="Calibri" panose="020F0502020204030204" pitchFamily="34" charset="0"/>
                <a:cs typeface="Calibri" panose="020F0502020204030204" pitchFamily="34" charset="0"/>
              </a:rPr>
              <a:t>ToT’nin</a:t>
            </a:r>
            <a:r>
              <a:rPr lang="tr-TR" sz="2000" b="1" dirty="0">
                <a:solidFill>
                  <a:srgbClr val="0070C0"/>
                </a:solidFill>
                <a:latin typeface="Calibri" panose="020F0502020204030204" pitchFamily="34" charset="0"/>
                <a:cs typeface="Calibri" panose="020F0502020204030204" pitchFamily="34" charset="0"/>
              </a:rPr>
              <a:t> akademik araştırmalardaki en klasik örneklerinden biridir.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Model burada tek bir yöntem önermek yerine iki ayrı dal açar: Nitel yol ve Nicel yol.</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Nitel dalda </a:t>
            </a:r>
            <a:r>
              <a:rPr lang="tr-TR" sz="2000" b="1" dirty="0">
                <a:solidFill>
                  <a:srgbClr val="0070C0"/>
                </a:solidFill>
                <a:latin typeface="Calibri" panose="020F0502020204030204" pitchFamily="34" charset="0"/>
                <a:cs typeface="Calibri" panose="020F0502020204030204" pitchFamily="34" charset="0"/>
              </a:rPr>
              <a:t>öğretmen deneyimlerinin derinlemesine anlaşılması</a:t>
            </a:r>
            <a:r>
              <a:rPr lang="tr-TR" sz="2000" b="1" dirty="0">
                <a:solidFill>
                  <a:schemeClr val="tx2"/>
                </a:solidFill>
                <a:latin typeface="Calibri" panose="020F0502020204030204" pitchFamily="34" charset="0"/>
                <a:cs typeface="Calibri" panose="020F0502020204030204" pitchFamily="34" charset="0"/>
              </a:rPr>
              <a:t>, nicel dalda </a:t>
            </a:r>
            <a:r>
              <a:rPr lang="tr-TR" sz="2000" b="1" dirty="0">
                <a:solidFill>
                  <a:srgbClr val="0070C0"/>
                </a:solidFill>
                <a:latin typeface="Calibri" panose="020F0502020204030204" pitchFamily="34" charset="0"/>
                <a:cs typeface="Calibri" panose="020F0502020204030204" pitchFamily="34" charset="0"/>
              </a:rPr>
              <a:t>ise ölçek geliştirme ve genellenebilirlik öne çıkar.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Son aşamada araştırmanın amacı</a:t>
            </a:r>
            <a:r>
              <a:rPr lang="tr-TR" sz="2000" b="1" dirty="0">
                <a:solidFill>
                  <a:schemeClr val="tx2"/>
                </a:solidFill>
                <a:latin typeface="Calibri" panose="020F0502020204030204" pitchFamily="34" charset="0"/>
                <a:cs typeface="Calibri" panose="020F0502020204030204" pitchFamily="34" charset="0"/>
              </a:rPr>
              <a:t> “görüşleri anlamak” </a:t>
            </a:r>
            <a:r>
              <a:rPr lang="tr-TR" sz="2000" b="1" dirty="0">
                <a:solidFill>
                  <a:srgbClr val="0070C0"/>
                </a:solidFill>
                <a:latin typeface="Calibri" panose="020F0502020204030204" pitchFamily="34" charset="0"/>
                <a:cs typeface="Calibri" panose="020F0502020204030204" pitchFamily="34" charset="0"/>
              </a:rPr>
              <a:t>ise nitel yaklaşımın daha uygun olduğu gerekçelendirilir.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yöntem seçiminin </a:t>
            </a:r>
            <a:r>
              <a:rPr lang="tr-TR" sz="2000" b="1" dirty="0">
                <a:solidFill>
                  <a:schemeClr val="tx2"/>
                </a:solidFill>
                <a:latin typeface="Calibri" panose="020F0502020204030204" pitchFamily="34" charset="0"/>
                <a:cs typeface="Calibri" panose="020F0502020204030204" pitchFamily="34" charset="0"/>
              </a:rPr>
              <a:t>sezgisel değil, alternatifler üzerinden </a:t>
            </a:r>
            <a:r>
              <a:rPr lang="tr-TR" sz="2000" b="1" dirty="0">
                <a:solidFill>
                  <a:srgbClr val="0070C0"/>
                </a:solidFill>
                <a:latin typeface="Calibri" panose="020F0502020204030204" pitchFamily="34" charset="0"/>
                <a:cs typeface="Calibri" panose="020F0502020204030204" pitchFamily="34" charset="0"/>
              </a:rPr>
              <a:t>savunulabilir biçimde yapılmasını sağlar.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854794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E1BE7-A3CB-9983-C544-0F67045B7D79}"/>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297F96C7-4BCF-C591-05AF-376FAAC88DEC}"/>
              </a:ext>
            </a:extLst>
          </p:cNvPr>
          <p:cNvSpPr txBox="1"/>
          <p:nvPr/>
        </p:nvSpPr>
        <p:spPr>
          <a:xfrm>
            <a:off x="914400" y="535021"/>
            <a:ext cx="9406647" cy="5940857"/>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2.1.5 </a:t>
            </a:r>
            <a:r>
              <a:rPr lang="tr-TR" sz="2000" b="1" dirty="0" err="1">
                <a:solidFill>
                  <a:schemeClr val="tx2"/>
                </a:solidFill>
                <a:latin typeface="Calibri" panose="020F0502020204030204" pitchFamily="34" charset="0"/>
                <a:cs typeface="Calibri" panose="020F0502020204030204" pitchFamily="34" charset="0"/>
              </a:rPr>
              <a:t>Tree</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SCOPUS </a:t>
            </a:r>
            <a:r>
              <a:rPr lang="tr-TR" sz="2000" b="1" dirty="0" err="1">
                <a:solidFill>
                  <a:schemeClr val="tx2"/>
                </a:solidFill>
                <a:latin typeface="Calibri" panose="020F0502020204030204" pitchFamily="34" charset="0"/>
                <a:cs typeface="Calibri" panose="020F0502020204030204" pitchFamily="34" charset="0"/>
              </a:rPr>
              <a:t>vs</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WoS</a:t>
            </a:r>
            <a:r>
              <a:rPr lang="tr-TR" sz="2000" b="1" dirty="0">
                <a:solidFill>
                  <a:schemeClr val="tx2"/>
                </a:solidFill>
                <a:latin typeface="Calibri" panose="020F0502020204030204" pitchFamily="34" charset="0"/>
                <a:cs typeface="Calibri" panose="020F0502020204030204" pitchFamily="34" charset="0"/>
              </a:rPr>
              <a:t> veri seti stratejisi</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t>
            </a:r>
            <a:r>
              <a:rPr lang="tr-TR" sz="2000" b="1" dirty="0" err="1">
                <a:solidFill>
                  <a:srgbClr val="0070C0"/>
                </a:solidFill>
                <a:latin typeface="Calibri" panose="020F0502020204030204" pitchFamily="34" charset="0"/>
                <a:cs typeface="Calibri" panose="020F0502020204030204" pitchFamily="34" charset="0"/>
              </a:rPr>
              <a:t>Blockchain</a:t>
            </a:r>
            <a:r>
              <a:rPr lang="tr-TR" sz="2000" b="1" dirty="0">
                <a:solidFill>
                  <a:srgbClr val="0070C0"/>
                </a:solidFill>
                <a:latin typeface="Calibri" panose="020F0502020204030204" pitchFamily="34" charset="0"/>
                <a:cs typeface="Calibri" panose="020F0502020204030204" pitchFamily="34" charset="0"/>
              </a:rPr>
              <a:t>, eğitim ve yönetişim üzerine bibliyometrik araştırma için SCOPUS ve Web of </a:t>
            </a:r>
            <a:r>
              <a:rPr lang="tr-TR" sz="2000" b="1" dirty="0" err="1">
                <a:solidFill>
                  <a:srgbClr val="0070C0"/>
                </a:solidFill>
                <a:latin typeface="Calibri" panose="020F0502020204030204" pitchFamily="34" charset="0"/>
                <a:cs typeface="Calibri" panose="020F0502020204030204" pitchFamily="34" charset="0"/>
              </a:rPr>
              <a:t>Science</a:t>
            </a:r>
            <a:r>
              <a:rPr lang="tr-TR" sz="2000" b="1" dirty="0">
                <a:solidFill>
                  <a:srgbClr val="0070C0"/>
                </a:solidFill>
                <a:latin typeface="Calibri" panose="020F0502020204030204" pitchFamily="34" charset="0"/>
                <a:cs typeface="Calibri" panose="020F0502020204030204" pitchFamily="34" charset="0"/>
              </a:rPr>
              <a:t> veri tabanlarını ayrı stratejik yollar olarak değerlendir. Kapsam, indeks kalitesi, veri temizliği ve tekrar kayıt riski açısından karşılaştır; en uygun veri seti stratejisini öner.”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Sizin bibliyometrik çalışmalarınız açısından bu kullanım çok güçlüdür.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Model burada </a:t>
            </a:r>
            <a:r>
              <a:rPr lang="tr-TR" sz="2000" b="1" dirty="0" err="1">
                <a:solidFill>
                  <a:schemeClr val="tx2"/>
                </a:solidFill>
                <a:latin typeface="Calibri" panose="020F0502020204030204" pitchFamily="34" charset="0"/>
                <a:cs typeface="Calibri" panose="020F0502020204030204" pitchFamily="34" charset="0"/>
              </a:rPr>
              <a:t>SCOPUS’un</a:t>
            </a:r>
            <a:r>
              <a:rPr lang="tr-TR" sz="2000" b="1" dirty="0">
                <a:solidFill>
                  <a:schemeClr val="tx2"/>
                </a:solidFill>
                <a:latin typeface="Calibri" panose="020F0502020204030204" pitchFamily="34" charset="0"/>
                <a:cs typeface="Calibri" panose="020F0502020204030204" pitchFamily="34" charset="0"/>
              </a:rPr>
              <a:t> daha geniş kapsamını, </a:t>
            </a:r>
            <a:r>
              <a:rPr lang="tr-TR" sz="2000" b="1" dirty="0" err="1">
                <a:solidFill>
                  <a:schemeClr val="tx2"/>
                </a:solidFill>
                <a:latin typeface="Calibri" panose="020F0502020204030204" pitchFamily="34" charset="0"/>
                <a:cs typeface="Calibri" panose="020F0502020204030204" pitchFamily="34" charset="0"/>
              </a:rPr>
              <a:t>WoS’un</a:t>
            </a:r>
            <a:r>
              <a:rPr lang="tr-TR" sz="2000" b="1" dirty="0">
                <a:solidFill>
                  <a:schemeClr val="tx2"/>
                </a:solidFill>
                <a:latin typeface="Calibri" panose="020F0502020204030204" pitchFamily="34" charset="0"/>
                <a:cs typeface="Calibri" panose="020F0502020204030204" pitchFamily="34" charset="0"/>
              </a:rPr>
              <a:t> daha seçici indeks yapısını ve birleşik veri setinin tekrar kayıt riskini ayrı düşünce dalları olarak inceler.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Örneğin bir dal yalnızca SCOPUS kullanmayı, diğer dal </a:t>
            </a:r>
            <a:r>
              <a:rPr lang="tr-TR" sz="2000" b="1" dirty="0" err="1">
                <a:solidFill>
                  <a:srgbClr val="0070C0"/>
                </a:solidFill>
                <a:latin typeface="Calibri" panose="020F0502020204030204" pitchFamily="34" charset="0"/>
                <a:cs typeface="Calibri" panose="020F0502020204030204" pitchFamily="34" charset="0"/>
              </a:rPr>
              <a:t>SCOPUS+WoS</a:t>
            </a:r>
            <a:r>
              <a:rPr lang="tr-TR" sz="2000" b="1" dirty="0">
                <a:solidFill>
                  <a:srgbClr val="0070C0"/>
                </a:solidFill>
                <a:latin typeface="Calibri" panose="020F0502020204030204" pitchFamily="34" charset="0"/>
                <a:cs typeface="Calibri" panose="020F0502020204030204" pitchFamily="34" charset="0"/>
              </a:rPr>
              <a:t> birleşimini savunabilir.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Sonuçta araştırma amacına göre hibrit strateji daha güçlü bulunabilir.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veri tabanı kararlarını daha metodolojik hale getirir.</a:t>
            </a:r>
          </a:p>
        </p:txBody>
      </p:sp>
    </p:spTree>
    <p:extLst>
      <p:ext uri="{BB962C8B-B14F-4D97-AF65-F5344CB8AC3E}">
        <p14:creationId xmlns:p14="http://schemas.microsoft.com/office/powerpoint/2010/main" val="6110931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14286-886B-597D-7C39-B20AA84A96BA}"/>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F4FF10CF-BAAA-36ED-856C-BFF21E536326}"/>
              </a:ext>
            </a:extLst>
          </p:cNvPr>
          <p:cNvSpPr txBox="1"/>
          <p:nvPr/>
        </p:nvSpPr>
        <p:spPr>
          <a:xfrm>
            <a:off x="554476" y="496110"/>
            <a:ext cx="10184860" cy="6577955"/>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2.1.5 </a:t>
            </a:r>
            <a:r>
              <a:rPr lang="tr-TR" sz="2000" b="1" dirty="0" err="1">
                <a:solidFill>
                  <a:schemeClr val="tx2"/>
                </a:solidFill>
                <a:latin typeface="Calibri" panose="020F0502020204030204" pitchFamily="34" charset="0"/>
                <a:cs typeface="Calibri" panose="020F0502020204030204" pitchFamily="34" charset="0"/>
              </a:rPr>
              <a:t>Tree</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Farklı kuram seçeneklerinin karşılaştırılması</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“Yapay zekâ çağında okul liderliği araştırması için dönüşümcü liderlik, dağıtık liderlik ve teknoloji liderliği kuramlarını ayrı düşünce yolları olarak değerlendir. Kavramsal uyum ve </a:t>
            </a:r>
            <a:r>
              <a:rPr lang="tr-TR" sz="2000" b="1" dirty="0" err="1">
                <a:solidFill>
                  <a:srgbClr val="0070C0"/>
                </a:solidFill>
                <a:latin typeface="Calibri" panose="020F0502020204030204" pitchFamily="34" charset="0"/>
                <a:cs typeface="Calibri" panose="020F0502020204030204" pitchFamily="34" charset="0"/>
              </a:rPr>
              <a:t>açıklayıcılık</a:t>
            </a:r>
            <a:r>
              <a:rPr lang="tr-TR" sz="2000" b="1" dirty="0">
                <a:solidFill>
                  <a:srgbClr val="0070C0"/>
                </a:solidFill>
                <a:latin typeface="Calibri" panose="020F0502020204030204" pitchFamily="34" charset="0"/>
                <a:cs typeface="Calibri" panose="020F0502020204030204" pitchFamily="34" charset="0"/>
              </a:rPr>
              <a:t> açısından en uygun kuramı seç.”</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Kuramsal çerçeve seçiminde </a:t>
            </a:r>
            <a:r>
              <a:rPr lang="tr-TR" sz="2000" b="1" dirty="0" err="1">
                <a:solidFill>
                  <a:srgbClr val="0070C0"/>
                </a:solidFill>
                <a:latin typeface="Calibri" panose="020F0502020204030204" pitchFamily="34" charset="0"/>
                <a:cs typeface="Calibri" panose="020F0502020204030204" pitchFamily="34" charset="0"/>
              </a:rPr>
              <a:t>ToT</a:t>
            </a:r>
            <a:r>
              <a:rPr lang="tr-TR" sz="2000" b="1" dirty="0">
                <a:solidFill>
                  <a:srgbClr val="0070C0"/>
                </a:solidFill>
                <a:latin typeface="Calibri" panose="020F0502020204030204" pitchFamily="34" charset="0"/>
                <a:cs typeface="Calibri" panose="020F0502020204030204" pitchFamily="34" charset="0"/>
              </a:rPr>
              <a:t> çok değerlidir çünkü model bir kuramı hemen dayatmaz.</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Önce her kuram için ayrı bir dal kurar: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Dönüşümcü liderlik → vizyon ve değişim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Dağıtık liderlik → paylaşılan karar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Teknoloji liderliği → dijital dönüşüm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Ardından araştırmanın yapay zekâ bağlamı nedeniyle </a:t>
            </a:r>
            <a:r>
              <a:rPr lang="tr-TR" sz="2000" b="1" dirty="0">
                <a:solidFill>
                  <a:srgbClr val="0070C0"/>
                </a:solidFill>
                <a:latin typeface="Calibri" panose="020F0502020204030204" pitchFamily="34" charset="0"/>
                <a:cs typeface="Calibri" panose="020F0502020204030204" pitchFamily="34" charset="0"/>
              </a:rPr>
              <a:t>teknoloji liderliği </a:t>
            </a:r>
            <a:r>
              <a:rPr lang="tr-TR" sz="2000" b="1" dirty="0">
                <a:solidFill>
                  <a:schemeClr val="tx2"/>
                </a:solidFill>
                <a:latin typeface="Calibri" panose="020F0502020204030204" pitchFamily="34" charset="0"/>
                <a:cs typeface="Calibri" panose="020F0502020204030204" pitchFamily="34" charset="0"/>
              </a:rPr>
              <a:t>ile </a:t>
            </a:r>
            <a:r>
              <a:rPr lang="tr-TR" sz="2000" b="1" dirty="0">
                <a:solidFill>
                  <a:srgbClr val="0070C0"/>
                </a:solidFill>
                <a:latin typeface="Calibri" panose="020F0502020204030204" pitchFamily="34" charset="0"/>
                <a:cs typeface="Calibri" panose="020F0502020204030204" pitchFamily="34" charset="0"/>
              </a:rPr>
              <a:t>dağıtık liderliğin </a:t>
            </a:r>
            <a:r>
              <a:rPr lang="tr-TR" sz="2000" b="1" dirty="0">
                <a:solidFill>
                  <a:schemeClr val="tx2"/>
                </a:solidFill>
                <a:latin typeface="Calibri" panose="020F0502020204030204" pitchFamily="34" charset="0"/>
                <a:cs typeface="Calibri" panose="020F0502020204030204" pitchFamily="34" charset="0"/>
              </a:rPr>
              <a:t>hibrit kullanımını önerebilir.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yaklaşım kuram seçimini çok daha savunulabilir yapar. </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184459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60B6A-0B9C-54D9-0770-A1D05C87CEA6}"/>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201B1409-E9A4-31B4-7480-9AC33E6DC34D}"/>
              </a:ext>
            </a:extLst>
          </p:cNvPr>
          <p:cNvSpPr txBox="1"/>
          <p:nvPr/>
        </p:nvSpPr>
        <p:spPr>
          <a:xfrm>
            <a:off x="554476" y="496110"/>
            <a:ext cx="10184860" cy="5714128"/>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2.1.5 </a:t>
            </a:r>
            <a:r>
              <a:rPr lang="tr-TR" sz="2000" b="1" dirty="0" err="1">
                <a:solidFill>
                  <a:schemeClr val="tx2"/>
                </a:solidFill>
                <a:latin typeface="Calibri" panose="020F0502020204030204" pitchFamily="34" charset="0"/>
                <a:cs typeface="Calibri" panose="020F0502020204030204" pitchFamily="34" charset="0"/>
              </a:rPr>
              <a:t>Tree</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Farklı örneklem yöntemlerinin değerlendirilmesi</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“Özel okul öğretmenleriyle yapılacak nitel araştırma için amaçlı örneklem, maksimum çeşitlilik örneklemi ve kartopu örneklemi seçeneklerini ayrı düşünce yolları olarak değerlendir. Erişilebilirlik, veri zenginliği ve temsil gücü açısından en uygun örneklemi seç.”</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Örneklem seçimi çoğu araştırmada zayıf gerekçelendirilir.</a:t>
            </a:r>
          </a:p>
          <a:p>
            <a:pPr>
              <a:lnSpc>
                <a:spcPct val="107000"/>
              </a:lnSpc>
              <a:spcAft>
                <a:spcPts val="800"/>
              </a:spcAft>
            </a:pPr>
            <a:r>
              <a:rPr lang="tr-TR" sz="2000" b="1" dirty="0" err="1">
                <a:solidFill>
                  <a:schemeClr val="tx2"/>
                </a:solidFill>
                <a:latin typeface="Calibri" panose="020F0502020204030204" pitchFamily="34" charset="0"/>
                <a:cs typeface="Calibri" panose="020F0502020204030204" pitchFamily="34" charset="0"/>
              </a:rPr>
              <a:t>ToT</a:t>
            </a:r>
            <a:r>
              <a:rPr lang="tr-TR" sz="2000" b="1" dirty="0">
                <a:solidFill>
                  <a:schemeClr val="tx2"/>
                </a:solidFill>
                <a:latin typeface="Calibri" panose="020F0502020204030204" pitchFamily="34" charset="0"/>
                <a:cs typeface="Calibri" panose="020F0502020204030204" pitchFamily="34" charset="0"/>
              </a:rPr>
              <a:t> burada her örneklem yöntemini ayrı dal olarak ele alır.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Örneğin</a:t>
            </a:r>
            <a:r>
              <a:rPr lang="tr-TR" sz="2000" b="1" dirty="0">
                <a:solidFill>
                  <a:schemeClr val="tx2"/>
                </a:solidFill>
                <a:latin typeface="Calibri" panose="020F0502020204030204" pitchFamily="34" charset="0"/>
                <a:cs typeface="Calibri" panose="020F0502020204030204" pitchFamily="34" charset="0"/>
              </a:rPr>
              <a:t> amaçlı örneklem </a:t>
            </a:r>
            <a:r>
              <a:rPr lang="tr-TR" sz="2000" b="1" dirty="0">
                <a:solidFill>
                  <a:srgbClr val="0070C0"/>
                </a:solidFill>
                <a:latin typeface="Calibri" panose="020F0502020204030204" pitchFamily="34" charset="0"/>
                <a:cs typeface="Calibri" panose="020F0502020204030204" pitchFamily="34" charset="0"/>
              </a:rPr>
              <a:t>derin uzmanlık sağlar, maksimum çeşitlilik farklı okul türlerini kapsar, kartopu ise erişimi zor gruplarda işe yarar.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Sonra araştırmanın amacı doğrultusunda hangisinin daha uygun olduğu seçilir.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örneklem bölümünü akademik açıdan daha ikna edici hale getirir.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411115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D0D5F-43EA-2961-A87D-10EB5E2836DC}"/>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0C8E78F7-5B5D-C47C-4FA2-E3BE61C13952}"/>
              </a:ext>
            </a:extLst>
          </p:cNvPr>
          <p:cNvSpPr txBox="1"/>
          <p:nvPr/>
        </p:nvSpPr>
        <p:spPr>
          <a:xfrm>
            <a:off x="593386" y="797668"/>
            <a:ext cx="10145949" cy="5384807"/>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2.1.5 </a:t>
            </a:r>
            <a:r>
              <a:rPr lang="tr-TR" sz="2000" b="1" dirty="0" err="1">
                <a:solidFill>
                  <a:schemeClr val="tx2"/>
                </a:solidFill>
                <a:latin typeface="Calibri" panose="020F0502020204030204" pitchFamily="34" charset="0"/>
                <a:cs typeface="Calibri" panose="020F0502020204030204" pitchFamily="34" charset="0"/>
              </a:rPr>
              <a:t>Tree</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Birden fazla makale başlığının etki potansiyeli analizi</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“Aşağıdaki üç makale başlığını ayrı düşünce yolları olarak değerlendir; atıf potansiyeli, özgünlük, </a:t>
            </a:r>
            <a:r>
              <a:rPr lang="tr-TR" sz="2000" b="1" dirty="0" err="1">
                <a:solidFill>
                  <a:srgbClr val="0070C0"/>
                </a:solidFill>
                <a:latin typeface="Calibri" panose="020F0502020204030204" pitchFamily="34" charset="0"/>
                <a:cs typeface="Calibri" panose="020F0502020204030204" pitchFamily="34" charset="0"/>
              </a:rPr>
              <a:t>indekslenebilirlik</a:t>
            </a:r>
            <a:r>
              <a:rPr lang="tr-TR" sz="2000" b="1" dirty="0">
                <a:solidFill>
                  <a:srgbClr val="0070C0"/>
                </a:solidFill>
                <a:latin typeface="Calibri" panose="020F0502020204030204" pitchFamily="34" charset="0"/>
                <a:cs typeface="Calibri" panose="020F0502020204030204" pitchFamily="34" charset="0"/>
              </a:rPr>
              <a:t> ve okuyucu ilgisi açısından karşılaştır, en güçlü başlığı seç.”</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Yayın stratejilerinde </a:t>
            </a:r>
            <a:r>
              <a:rPr lang="tr-TR" sz="2000" b="1" dirty="0" err="1">
                <a:solidFill>
                  <a:srgbClr val="0070C0"/>
                </a:solidFill>
                <a:latin typeface="Calibri" panose="020F0502020204030204" pitchFamily="34" charset="0"/>
                <a:cs typeface="Calibri" panose="020F0502020204030204" pitchFamily="34" charset="0"/>
              </a:rPr>
              <a:t>ToT</a:t>
            </a:r>
            <a:r>
              <a:rPr lang="tr-TR" sz="2000" b="1" dirty="0">
                <a:solidFill>
                  <a:srgbClr val="0070C0"/>
                </a:solidFill>
                <a:latin typeface="Calibri" panose="020F0502020204030204" pitchFamily="34" charset="0"/>
                <a:cs typeface="Calibri" panose="020F0502020204030204" pitchFamily="34" charset="0"/>
              </a:rPr>
              <a:t> çok güçlüdür.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Model her başlığı farklı bir yayın yolu gibi değerlendirir.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Bir başlık daha kavramsal olabilir, biri daha veri odaklı, diğeri daha güncel kavramlar içerebilir.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Örneğin</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Agentic</a:t>
            </a:r>
            <a:r>
              <a:rPr lang="tr-TR" sz="2000" b="1" dirty="0">
                <a:solidFill>
                  <a:schemeClr val="tx2"/>
                </a:solidFill>
                <a:latin typeface="Calibri" panose="020F0502020204030204" pitchFamily="34" charset="0"/>
                <a:cs typeface="Calibri" panose="020F0502020204030204" pitchFamily="34" charset="0"/>
              </a:rPr>
              <a:t> AI in School </a:t>
            </a:r>
            <a:r>
              <a:rPr lang="tr-TR" sz="2000" b="1" dirty="0" err="1">
                <a:solidFill>
                  <a:schemeClr val="tx2"/>
                </a:solidFill>
                <a:latin typeface="Calibri" panose="020F0502020204030204" pitchFamily="34" charset="0"/>
                <a:cs typeface="Calibri" panose="020F0502020204030204" pitchFamily="34" charset="0"/>
              </a:rPr>
              <a:t>Leadership</a:t>
            </a:r>
            <a:r>
              <a:rPr lang="tr-TR" sz="2000" b="1" dirty="0">
                <a:solidFill>
                  <a:srgbClr val="0070C0"/>
                </a:solidFill>
                <a:latin typeface="Calibri" panose="020F0502020204030204" pitchFamily="34" charset="0"/>
                <a:cs typeface="Calibri" panose="020F0502020204030204" pitchFamily="34" charset="0"/>
              </a:rPr>
              <a:t>” gibi bir başlık daha yüksek görünürlük potansiyeli taşıyabilir.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yaklaşım özellikle SSCI/</a:t>
            </a:r>
            <a:r>
              <a:rPr lang="tr-TR" sz="2000" b="1" dirty="0" err="1">
                <a:solidFill>
                  <a:schemeClr val="tx2"/>
                </a:solidFill>
                <a:latin typeface="Calibri" panose="020F0502020204030204" pitchFamily="34" charset="0"/>
                <a:cs typeface="Calibri" panose="020F0502020204030204" pitchFamily="34" charset="0"/>
              </a:rPr>
              <a:t>Scopus</a:t>
            </a:r>
            <a:r>
              <a:rPr lang="tr-TR" sz="2000" b="1" dirty="0">
                <a:solidFill>
                  <a:schemeClr val="tx2"/>
                </a:solidFill>
                <a:latin typeface="Calibri" panose="020F0502020204030204" pitchFamily="34" charset="0"/>
                <a:cs typeface="Calibri" panose="020F0502020204030204" pitchFamily="34" charset="0"/>
              </a:rPr>
              <a:t> yayın planlamasında etkilidir.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02502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F52C7-0ABB-55F3-9276-5568092F418E}"/>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B9DAAE1A-B1FA-B9EC-DA1E-585987F4E473}"/>
              </a:ext>
            </a:extLst>
          </p:cNvPr>
          <p:cNvSpPr txBox="1"/>
          <p:nvPr/>
        </p:nvSpPr>
        <p:spPr>
          <a:xfrm>
            <a:off x="593386" y="797668"/>
            <a:ext cx="10145949" cy="5487400"/>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2.1.5 </a:t>
            </a:r>
            <a:r>
              <a:rPr lang="tr-TR" sz="2000" b="1" dirty="0" err="1">
                <a:solidFill>
                  <a:schemeClr val="tx2"/>
                </a:solidFill>
                <a:latin typeface="Calibri" panose="020F0502020204030204" pitchFamily="34" charset="0"/>
                <a:cs typeface="Calibri" panose="020F0502020204030204" pitchFamily="34" charset="0"/>
              </a:rPr>
              <a:t>Tree</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Genel Değerlendirme</a:t>
            </a:r>
          </a:p>
          <a:p>
            <a:pPr>
              <a:lnSpc>
                <a:spcPct val="107000"/>
              </a:lnSpc>
              <a:spcAft>
                <a:spcPts val="800"/>
              </a:spcAft>
            </a:pPr>
            <a:r>
              <a:rPr lang="tr-TR" sz="2000" b="1" dirty="0" err="1">
                <a:solidFill>
                  <a:srgbClr val="0070C0"/>
                </a:solidFill>
                <a:latin typeface="Calibri" panose="020F0502020204030204" pitchFamily="34" charset="0"/>
                <a:cs typeface="Calibri" panose="020F0502020204030204" pitchFamily="34" charset="0"/>
              </a:rPr>
              <a:t>Tree</a:t>
            </a:r>
            <a:r>
              <a:rPr lang="tr-TR" sz="2000" b="1" dirty="0">
                <a:solidFill>
                  <a:srgbClr val="0070C0"/>
                </a:solidFill>
                <a:latin typeface="Calibri" panose="020F0502020204030204" pitchFamily="34" charset="0"/>
                <a:cs typeface="Calibri" panose="020F0502020204030204" pitchFamily="34" charset="0"/>
              </a:rPr>
              <a:t> of </a:t>
            </a:r>
            <a:r>
              <a:rPr lang="tr-TR" sz="2000" b="1" dirty="0" err="1">
                <a:solidFill>
                  <a:srgbClr val="0070C0"/>
                </a:solidFill>
                <a:latin typeface="Calibri" panose="020F0502020204030204" pitchFamily="34" charset="0"/>
                <a:cs typeface="Calibri" panose="020F0502020204030204" pitchFamily="34" charset="0"/>
              </a:rPr>
              <a:t>Thought’ın</a:t>
            </a:r>
            <a:r>
              <a:rPr lang="tr-TR" sz="2000" b="1" dirty="0">
                <a:solidFill>
                  <a:srgbClr val="0070C0"/>
                </a:solidFill>
                <a:latin typeface="Calibri" panose="020F0502020204030204" pitchFamily="34" charset="0"/>
                <a:cs typeface="Calibri" panose="020F0502020204030204" pitchFamily="34" charset="0"/>
              </a:rPr>
              <a:t> akademik araştırmalardaki en büyük gücü, tek doğru cevaba acele etmeden alternatifleri sistemli biçimde değerlendirmesidir.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nedenle özellikle şu alanlarda çok etkilidir: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Yöntem seçimi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Veri tabanı kararı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Kuram Karşılaştırması</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Örneklem tasarımı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Yayın başlığı optimizasyonu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Proje tasarım alternatifleri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Tez önerisi hazırlığı </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758737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5F281-9008-B371-9D28-33CC7B6AE1B5}"/>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43ED46D5-CFE5-8C2F-6F35-A630DF9201DA}"/>
              </a:ext>
            </a:extLst>
          </p:cNvPr>
          <p:cNvSpPr txBox="1"/>
          <p:nvPr/>
        </p:nvSpPr>
        <p:spPr>
          <a:xfrm>
            <a:off x="924128" y="1585609"/>
            <a:ext cx="9815207" cy="4294252"/>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2.1.5 </a:t>
            </a:r>
            <a:r>
              <a:rPr lang="tr-TR" sz="2000" b="1" dirty="0" err="1">
                <a:solidFill>
                  <a:schemeClr val="tx2"/>
                </a:solidFill>
                <a:latin typeface="Calibri" panose="020F0502020204030204" pitchFamily="34" charset="0"/>
                <a:cs typeface="Calibri" panose="020F0502020204030204" pitchFamily="34" charset="0"/>
              </a:rPr>
              <a:t>Tree</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Güçlü yönleri</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En iyi araştırma tasarımını seçtirir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Alternatifleri görünür hale getirir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Kuram ve yöntem gerekçesini güçlendirir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Yayın stratejilerinde etki analizi sağlar</a:t>
            </a:r>
          </a:p>
          <a:p>
            <a:pPr>
              <a:lnSpc>
                <a:spcPct val="107000"/>
              </a:lnSpc>
              <a:spcAft>
                <a:spcPts val="800"/>
              </a:spcAft>
            </a:pP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Sınırlılıkları</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Fazla seçenek verilirse karar ağacı gereğinden fazla genişleyebilir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316553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C9CA4-E541-584C-8DFB-8F1CDE584D50}"/>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A8EE430E-7BA4-4241-3867-3BD7A1004F19}"/>
              </a:ext>
            </a:extLst>
          </p:cNvPr>
          <p:cNvSpPr txBox="1"/>
          <p:nvPr/>
        </p:nvSpPr>
        <p:spPr>
          <a:xfrm>
            <a:off x="758757" y="1780162"/>
            <a:ext cx="9980578" cy="3759747"/>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2.1.5 </a:t>
            </a:r>
            <a:r>
              <a:rPr lang="tr-TR" sz="2000" b="1" dirty="0" err="1">
                <a:solidFill>
                  <a:schemeClr val="tx2"/>
                </a:solidFill>
                <a:latin typeface="Calibri" panose="020F0502020204030204" pitchFamily="34" charset="0"/>
                <a:cs typeface="Calibri" panose="020F0502020204030204" pitchFamily="34" charset="0"/>
              </a:rPr>
              <a:t>Tree</a:t>
            </a:r>
            <a:r>
              <a:rPr lang="tr-TR" sz="2000" b="1" dirty="0">
                <a:solidFill>
                  <a:schemeClr val="tx2"/>
                </a:solidFill>
                <a:latin typeface="Calibri" panose="020F0502020204030204" pitchFamily="34" charset="0"/>
                <a:cs typeface="Calibri" panose="020F0502020204030204" pitchFamily="34" charset="0"/>
              </a:rPr>
              <a:t> of </a:t>
            </a:r>
            <a:r>
              <a:rPr lang="tr-TR" sz="2000" b="1" dirty="0" err="1">
                <a:solidFill>
                  <a:schemeClr val="tx2"/>
                </a:solidFill>
                <a:latin typeface="Calibri" panose="020F0502020204030204" pitchFamily="34" charset="0"/>
                <a:cs typeface="Calibri" panose="020F0502020204030204" pitchFamily="34" charset="0"/>
              </a:rPr>
              <a:t>Thought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nedenle yüksek akademik kalite ve stratejik yayın hedefi olan çalışmalarda en iyi kombinasyon çoğu zaman:</a:t>
            </a:r>
          </a:p>
          <a:p>
            <a:pPr>
              <a:lnSpc>
                <a:spcPct val="107000"/>
              </a:lnSpc>
              <a:spcAft>
                <a:spcPts val="800"/>
              </a:spcAft>
            </a:pPr>
            <a:r>
              <a:rPr lang="tr-TR" sz="2000" b="1" dirty="0" err="1">
                <a:solidFill>
                  <a:schemeClr val="tx2"/>
                </a:solidFill>
                <a:latin typeface="Calibri" panose="020F0502020204030204" pitchFamily="34" charset="0"/>
                <a:cs typeface="Calibri" panose="020F0502020204030204" pitchFamily="34" charset="0"/>
              </a:rPr>
              <a:t>ToT</a:t>
            </a:r>
            <a:r>
              <a:rPr lang="tr-TR" sz="2000" b="1" dirty="0">
                <a:solidFill>
                  <a:schemeClr val="tx2"/>
                </a:solidFill>
                <a:latin typeface="Calibri" panose="020F0502020204030204" pitchFamily="34" charset="0"/>
                <a:cs typeface="Calibri" panose="020F0502020204030204" pitchFamily="34" charset="0"/>
              </a:rPr>
              <a:t> + </a:t>
            </a:r>
            <a:r>
              <a:rPr lang="tr-TR" sz="2000" b="1" dirty="0" err="1">
                <a:solidFill>
                  <a:schemeClr val="tx2"/>
                </a:solidFill>
                <a:latin typeface="Calibri" panose="020F0502020204030204" pitchFamily="34" charset="0"/>
                <a:cs typeface="Calibri" panose="020F0502020204030204" pitchFamily="34" charset="0"/>
              </a:rPr>
              <a:t>CoT</a:t>
            </a:r>
            <a:r>
              <a:rPr lang="tr-TR" sz="2000" b="1" dirty="0">
                <a:solidFill>
                  <a:schemeClr val="tx2"/>
                </a:solidFill>
                <a:latin typeface="Calibri" panose="020F0502020204030204" pitchFamily="34" charset="0"/>
                <a:cs typeface="Calibri" panose="020F0502020204030204" pitchFamily="34" charset="0"/>
              </a:rPr>
              <a:t> + RAG şeklindedir.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üçlü:</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ToT</a:t>
            </a:r>
            <a:r>
              <a:rPr lang="tr-TR" sz="2000" b="1" dirty="0">
                <a:solidFill>
                  <a:schemeClr val="tx2"/>
                </a:solidFill>
                <a:latin typeface="Calibri" panose="020F0502020204030204" pitchFamily="34" charset="0"/>
                <a:cs typeface="Calibri" panose="020F0502020204030204" pitchFamily="34" charset="0"/>
              </a:rPr>
              <a:t> → en iyi alternatifi seçer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CoT</a:t>
            </a:r>
            <a:r>
              <a:rPr lang="tr-TR" sz="2000" b="1" dirty="0">
                <a:solidFill>
                  <a:schemeClr val="tx2"/>
                </a:solidFill>
                <a:latin typeface="Calibri" panose="020F0502020204030204" pitchFamily="34" charset="0"/>
                <a:cs typeface="Calibri" panose="020F0502020204030204" pitchFamily="34" charset="0"/>
              </a:rPr>
              <a:t> → seçilen yolu gerekçelendirir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RAG → literatürle doğrular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143234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A8776-BD70-BB56-A4F4-3C3C6BD4AA39}"/>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7E467CA7-6065-41D9-9989-099883BFDD1A}"/>
              </a:ext>
            </a:extLst>
          </p:cNvPr>
          <p:cNvSpPr txBox="1"/>
          <p:nvPr/>
        </p:nvSpPr>
        <p:spPr>
          <a:xfrm>
            <a:off x="729573" y="1313234"/>
            <a:ext cx="10009761" cy="3678699"/>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Action-</a:t>
            </a:r>
            <a:r>
              <a:rPr lang="tr-TR" sz="2000" b="1" dirty="0" err="1">
                <a:solidFill>
                  <a:schemeClr val="tx2"/>
                </a:solidFill>
                <a:latin typeface="Calibri" panose="020F0502020204030204" pitchFamily="34" charset="0"/>
                <a:cs typeface="Calibri" panose="020F0502020204030204" pitchFamily="34" charset="0"/>
              </a:rPr>
              <a:t>based</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prompt</a:t>
            </a:r>
            <a:r>
              <a:rPr lang="tr-TR" sz="2000" b="1" dirty="0">
                <a:solidFill>
                  <a:schemeClr val="tx2"/>
                </a:solidFill>
                <a:latin typeface="Calibri" panose="020F0502020204030204" pitchFamily="34" charset="0"/>
                <a:cs typeface="Calibri" panose="020F0502020204030204" pitchFamily="34" charset="0"/>
              </a:rPr>
              <a:t> stratejileri, </a:t>
            </a:r>
            <a:r>
              <a:rPr lang="tr-TR" sz="2000" b="1" dirty="0">
                <a:solidFill>
                  <a:srgbClr val="0070C0"/>
                </a:solidFill>
                <a:latin typeface="Calibri" panose="020F0502020204030204" pitchFamily="34" charset="0"/>
                <a:cs typeface="Calibri" panose="020F0502020204030204" pitchFamily="34" charset="0"/>
              </a:rPr>
              <a:t>yapay zekâ modelinin yalnızca düşünsel analiz yapmasını değil, bu analizi somut akademik eylem adımlarına dönüştürmesini sağlayan ileri </a:t>
            </a:r>
            <a:r>
              <a:rPr lang="tr-TR" sz="2000" b="1" dirty="0" err="1">
                <a:solidFill>
                  <a:srgbClr val="0070C0"/>
                </a:solidFill>
                <a:latin typeface="Calibri" panose="020F0502020204030204" pitchFamily="34" charset="0"/>
                <a:cs typeface="Calibri" panose="020F0502020204030204" pitchFamily="34" charset="0"/>
              </a:rPr>
              <a:t>prompting</a:t>
            </a:r>
            <a:r>
              <a:rPr lang="tr-TR" sz="2000" b="1" dirty="0">
                <a:solidFill>
                  <a:srgbClr val="0070C0"/>
                </a:solidFill>
                <a:latin typeface="Calibri" panose="020F0502020204030204" pitchFamily="34" charset="0"/>
                <a:cs typeface="Calibri" panose="020F0502020204030204" pitchFamily="34" charset="0"/>
              </a:rPr>
              <a:t> yaklaşımlarıdır.</a:t>
            </a:r>
            <a:r>
              <a:rPr lang="tr-TR" sz="2000" b="1" dirty="0">
                <a:solidFill>
                  <a:schemeClr val="tx2"/>
                </a:solidFill>
                <a:latin typeface="Calibri" panose="020F0502020204030204" pitchFamily="34" charset="0"/>
                <a:cs typeface="Calibri" panose="020F0502020204030204" pitchFamily="34" charset="0"/>
              </a:rPr>
              <a:t> </a:t>
            </a:r>
          </a:p>
          <a:p>
            <a:pPr>
              <a:lnSpc>
                <a:spcPct val="107000"/>
              </a:lnSpc>
              <a:spcAft>
                <a:spcPts val="800"/>
              </a:spcAft>
            </a:pPr>
            <a:r>
              <a:rPr lang="tr-TR" sz="2000" b="1" dirty="0" err="1">
                <a:solidFill>
                  <a:schemeClr val="tx2"/>
                </a:solidFill>
                <a:latin typeface="Calibri" panose="020F0502020204030204" pitchFamily="34" charset="0"/>
                <a:cs typeface="Calibri" panose="020F0502020204030204" pitchFamily="34" charset="0"/>
              </a:rPr>
              <a:t>Reasoning-based</a:t>
            </a:r>
            <a:r>
              <a:rPr lang="tr-TR" sz="2000" b="1" dirty="0">
                <a:solidFill>
                  <a:schemeClr val="tx2"/>
                </a:solidFill>
                <a:latin typeface="Calibri" panose="020F0502020204030204" pitchFamily="34" charset="0"/>
                <a:cs typeface="Calibri" panose="020F0502020204030204" pitchFamily="34" charset="0"/>
              </a:rPr>
              <a:t> stratejiler </a:t>
            </a:r>
            <a:r>
              <a:rPr lang="tr-TR" sz="2000" b="1" dirty="0">
                <a:solidFill>
                  <a:srgbClr val="0070C0"/>
                </a:solidFill>
                <a:latin typeface="Calibri" panose="020F0502020204030204" pitchFamily="34" charset="0"/>
                <a:cs typeface="Calibri" panose="020F0502020204030204" pitchFamily="34" charset="0"/>
              </a:rPr>
              <a:t>mantıksal muhakemeyi güçlendirirken</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action-based</a:t>
            </a:r>
            <a:r>
              <a:rPr lang="tr-TR" sz="2000" b="1" dirty="0">
                <a:solidFill>
                  <a:schemeClr val="tx2"/>
                </a:solidFill>
                <a:latin typeface="Calibri" panose="020F0502020204030204" pitchFamily="34" charset="0"/>
                <a:cs typeface="Calibri" panose="020F0502020204030204" pitchFamily="34" charset="0"/>
              </a:rPr>
              <a:t> yaklaşım </a:t>
            </a:r>
            <a:r>
              <a:rPr lang="tr-TR" sz="2000" b="1" dirty="0">
                <a:solidFill>
                  <a:srgbClr val="0070C0"/>
                </a:solidFill>
                <a:latin typeface="Calibri" panose="020F0502020204030204" pitchFamily="34" charset="0"/>
                <a:cs typeface="Calibri" panose="020F0502020204030204" pitchFamily="34" charset="0"/>
              </a:rPr>
              <a:t>bu muhakemeyi uygulanabilir araştırma süreçlerine, görev listelerine ve revizyon planlarına dönüştürür.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Akademik bağlamda bu strateji özellikle literatür taraması, veri temizleme, tema geliştirme, hakem yorumlarına yanıt hazırlama, revizyon takvimi oluşturma ve proje yönetimi gibi çok adımlı işlerde yüksek değer üretir. </a:t>
            </a:r>
          </a:p>
        </p:txBody>
      </p:sp>
    </p:spTree>
    <p:extLst>
      <p:ext uri="{BB962C8B-B14F-4D97-AF65-F5344CB8AC3E}">
        <p14:creationId xmlns:p14="http://schemas.microsoft.com/office/powerpoint/2010/main" val="1782520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DAFDC-4D6D-7812-3DFC-4C54FC79050A}"/>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7F623A21-6D79-2D00-BB31-27B975B9DAF7}"/>
              </a:ext>
            </a:extLst>
          </p:cNvPr>
          <p:cNvSpPr txBox="1"/>
          <p:nvPr/>
        </p:nvSpPr>
        <p:spPr>
          <a:xfrm>
            <a:off x="729573" y="1313234"/>
            <a:ext cx="10009761" cy="4439933"/>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Örneğin model, yalnızca </a:t>
            </a:r>
            <a:r>
              <a:rPr lang="tr-TR" sz="2000" b="1" dirty="0">
                <a:solidFill>
                  <a:schemeClr val="tx2"/>
                </a:solidFill>
                <a:latin typeface="Calibri" panose="020F0502020204030204" pitchFamily="34" charset="0"/>
                <a:cs typeface="Calibri" panose="020F0502020204030204" pitchFamily="34" charset="0"/>
              </a:rPr>
              <a:t>“hangi yöntemin uygun olduğunu” söylemekle kalmaz; </a:t>
            </a:r>
            <a:r>
              <a:rPr lang="tr-TR" sz="2000" b="1" dirty="0">
                <a:solidFill>
                  <a:srgbClr val="0070C0"/>
                </a:solidFill>
                <a:latin typeface="Calibri" panose="020F0502020204030204" pitchFamily="34" charset="0"/>
                <a:cs typeface="Calibri" panose="020F0502020204030204" pitchFamily="34" charset="0"/>
              </a:rPr>
              <a:t>aynı zamanda</a:t>
            </a:r>
            <a:r>
              <a:rPr lang="tr-TR" sz="2000" b="1" dirty="0">
                <a:solidFill>
                  <a:schemeClr val="tx2"/>
                </a:solidFill>
                <a:latin typeface="Calibri" panose="020F0502020204030204" pitchFamily="34" charset="0"/>
                <a:cs typeface="Calibri" panose="020F0502020204030204" pitchFamily="34" charset="0"/>
              </a:rPr>
              <a:t> “ önce veri setini kontrol et, ardından eksik değerleri temizle, sonra analiz betiğini çalıştır ve son olarak bulguları tabloya aktar “ </a:t>
            </a:r>
            <a:r>
              <a:rPr lang="tr-TR" sz="2000" b="1" dirty="0">
                <a:solidFill>
                  <a:srgbClr val="0070C0"/>
                </a:solidFill>
                <a:latin typeface="Calibri" panose="020F0502020204030204" pitchFamily="34" charset="0"/>
                <a:cs typeface="Calibri" panose="020F0502020204030204" pitchFamily="34" charset="0"/>
              </a:rPr>
              <a:t>gibi eylem odaklı bir araştırma akışı da oluşturur.</a:t>
            </a:r>
            <a:r>
              <a:rPr lang="tr-TR" sz="2000" b="1" dirty="0">
                <a:solidFill>
                  <a:schemeClr val="tx2"/>
                </a:solidFill>
                <a:latin typeface="Calibri" panose="020F0502020204030204" pitchFamily="34" charset="0"/>
                <a:cs typeface="Calibri" panose="020F0502020204030204" pitchFamily="34" charset="0"/>
              </a:rPr>
              <a:t>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yönüyle </a:t>
            </a:r>
            <a:r>
              <a:rPr lang="tr-TR" sz="2000" b="1" dirty="0">
                <a:solidFill>
                  <a:schemeClr val="tx2"/>
                </a:solidFill>
                <a:latin typeface="Calibri" panose="020F0502020204030204" pitchFamily="34" charset="0"/>
                <a:cs typeface="Calibri" panose="020F0502020204030204" pitchFamily="34" charset="0"/>
              </a:rPr>
              <a:t>Action-</a:t>
            </a:r>
            <a:r>
              <a:rPr lang="tr-TR" sz="2000" b="1" dirty="0" err="1">
                <a:solidFill>
                  <a:schemeClr val="tx2"/>
                </a:solidFill>
                <a:latin typeface="Calibri" panose="020F0502020204030204" pitchFamily="34" charset="0"/>
                <a:cs typeface="Calibri" panose="020F0502020204030204" pitchFamily="34" charset="0"/>
              </a:rPr>
              <a:t>based</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prompting</a:t>
            </a:r>
            <a:r>
              <a:rPr lang="tr-TR" sz="2000" b="1" dirty="0">
                <a:solidFill>
                  <a:schemeClr val="tx2"/>
                </a:solidFill>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akademisyenin bilişsel yükünü azaltarak araştırma sürecini daha operasyonel hale getirir.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Özellikle</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ReAct</a:t>
            </a:r>
            <a:r>
              <a:rPr lang="tr-TR" sz="2000" b="1" dirty="0">
                <a:solidFill>
                  <a:schemeClr val="tx2"/>
                </a:solidFill>
                <a:latin typeface="Calibri" panose="020F0502020204030204" pitchFamily="34" charset="0"/>
                <a:cs typeface="Calibri" panose="020F0502020204030204" pitchFamily="34" charset="0"/>
              </a:rPr>
              <a:t> yaklaşımı </a:t>
            </a:r>
            <a:r>
              <a:rPr lang="tr-TR" sz="2000" b="1" dirty="0">
                <a:solidFill>
                  <a:srgbClr val="0070C0"/>
                </a:solidFill>
                <a:latin typeface="Calibri" panose="020F0502020204030204" pitchFamily="34" charset="0"/>
                <a:cs typeface="Calibri" panose="020F0502020204030204" pitchFamily="34" charset="0"/>
              </a:rPr>
              <a:t>düşünme ile eylemi birlikte kurgularken,</a:t>
            </a:r>
            <a:r>
              <a:rPr lang="tr-TR" sz="2000" b="1" dirty="0">
                <a:solidFill>
                  <a:schemeClr val="tx2"/>
                </a:solidFill>
                <a:latin typeface="Calibri" panose="020F0502020204030204" pitchFamily="34" charset="0"/>
                <a:cs typeface="Calibri" panose="020F0502020204030204" pitchFamily="34" charset="0"/>
              </a:rPr>
              <a:t> PAL </a:t>
            </a:r>
            <a:r>
              <a:rPr lang="tr-TR" sz="2000" b="1" dirty="0">
                <a:solidFill>
                  <a:srgbClr val="0070C0"/>
                </a:solidFill>
                <a:latin typeface="Calibri" panose="020F0502020204030204" pitchFamily="34" charset="0"/>
                <a:cs typeface="Calibri" panose="020F0502020204030204" pitchFamily="34" charset="0"/>
              </a:rPr>
              <a:t>mantıksal veya sayısal doğrulama gerektiren akademik görevlerde kod temelli işlem adımları önerir.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Sonuç olarak bu grup, yapay zekâyı yalnızca metin üreten bir sistem olmaktan çıkarıp araştırma yürütme, revizyon ve akademik iş akışı yönetiminde aktif bir süreç ortağına dönüştürmektedir.</a:t>
            </a:r>
          </a:p>
        </p:txBody>
      </p:sp>
    </p:spTree>
    <p:extLst>
      <p:ext uri="{BB962C8B-B14F-4D97-AF65-F5344CB8AC3E}">
        <p14:creationId xmlns:p14="http://schemas.microsoft.com/office/powerpoint/2010/main" val="24286958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39720-6B8A-B183-E04C-2EA2E5E444D7}"/>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953B80F2-2BE6-6825-416B-EC62DFE492DB}"/>
              </a:ext>
            </a:extLst>
          </p:cNvPr>
          <p:cNvSpPr txBox="1"/>
          <p:nvPr/>
        </p:nvSpPr>
        <p:spPr>
          <a:xfrm>
            <a:off x="836579" y="1994170"/>
            <a:ext cx="9902755" cy="2793329"/>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2.2.1 </a:t>
            </a:r>
            <a:r>
              <a:rPr lang="tr-TR" sz="2000" b="1" dirty="0" err="1">
                <a:solidFill>
                  <a:schemeClr val="tx2"/>
                </a:solidFill>
                <a:latin typeface="Calibri" panose="020F0502020204030204" pitchFamily="34" charset="0"/>
                <a:cs typeface="Calibri" panose="020F0502020204030204" pitchFamily="34" charset="0"/>
              </a:rPr>
              <a:t>ReAct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err="1">
                <a:solidFill>
                  <a:schemeClr val="tx2"/>
                </a:solidFill>
                <a:latin typeface="Calibri" panose="020F0502020204030204" pitchFamily="34" charset="0"/>
                <a:cs typeface="Calibri" panose="020F0502020204030204" pitchFamily="34" charset="0"/>
              </a:rPr>
              <a:t>ReAct</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prompting</a:t>
            </a:r>
            <a:r>
              <a:rPr lang="tr-TR" sz="2000" b="1" dirty="0">
                <a:solidFill>
                  <a:schemeClr val="tx2"/>
                </a:solidFill>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modelin bir akademik görevi çözerken önce durumu akıl yürüterek anlamasını, ardından buna dayalı bir eylem planı veya işlem önerisi üretmesini sağlayan stratejidir.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yapı özellikle çok adımlı araştırma iş akışlarında etkilidir.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719202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B94E2-D3CE-AA3B-9D27-83311760D6D4}"/>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FF50B001-353C-38DB-0F0C-6CB661052558}"/>
              </a:ext>
            </a:extLst>
          </p:cNvPr>
          <p:cNvSpPr txBox="1"/>
          <p:nvPr/>
        </p:nvSpPr>
        <p:spPr>
          <a:xfrm>
            <a:off x="719847" y="515566"/>
            <a:ext cx="10019487" cy="6146041"/>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2.2.1 </a:t>
            </a:r>
            <a:r>
              <a:rPr lang="tr-TR" sz="2000" b="1" dirty="0" err="1">
                <a:solidFill>
                  <a:schemeClr val="tx2"/>
                </a:solidFill>
                <a:latin typeface="Calibri" panose="020F0502020204030204" pitchFamily="34" charset="0"/>
                <a:cs typeface="Calibri" panose="020F0502020204030204" pitchFamily="34" charset="0"/>
              </a:rPr>
              <a:t>ReAct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Literatür taraması yap → boşlukları belirle</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“Yapay zekâ çağında okul liderliği literatürünü özetle, ardından bu alandaki kuramsal ve yöntemsel boşlukları belirle.”</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Burada </a:t>
            </a:r>
            <a:r>
              <a:rPr lang="tr-TR" sz="2000" b="1" dirty="0" err="1">
                <a:solidFill>
                  <a:schemeClr val="tx2"/>
                </a:solidFill>
                <a:latin typeface="Calibri" panose="020F0502020204030204" pitchFamily="34" charset="0"/>
                <a:cs typeface="Calibri" panose="020F0502020204030204" pitchFamily="34" charset="0"/>
              </a:rPr>
              <a:t>reasoning</a:t>
            </a:r>
            <a:r>
              <a:rPr lang="tr-TR" sz="2000" b="1" dirty="0">
                <a:solidFill>
                  <a:schemeClr val="tx2"/>
                </a:solidFill>
                <a:latin typeface="Calibri" panose="020F0502020204030204" pitchFamily="34" charset="0"/>
                <a:cs typeface="Calibri" panose="020F0502020204030204" pitchFamily="34" charset="0"/>
              </a:rPr>
              <a:t> aşamasında model önce mevcut literatürün ana eğilimlerini çıkarır: dijital liderlik, etik karar verme, veri temelli yönetim gibi.</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Action aşamasında ise bu eğilimlerden hareketle henüz az çalışılmış boşlukları işaret eder.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Örneğin öğretmenlerin okul müdürlerinden beklentileri konusunda nitel veri eksikliği olduğunu belirtebilir.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kullanım, özellikle makale giriş bölümü ve doktora tez önerisinde çok güçlüdür.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Model yalnızca özetlemez, doğrudan yeni araştırma fırsatı üretir.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320121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D36D3-8867-11F1-5F21-40E5CF6E5E49}"/>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3058F4D2-9029-8E61-15F8-BF89ACF4EC19}"/>
              </a:ext>
            </a:extLst>
          </p:cNvPr>
          <p:cNvSpPr txBox="1"/>
          <p:nvPr/>
        </p:nvSpPr>
        <p:spPr>
          <a:xfrm>
            <a:off x="749030" y="711959"/>
            <a:ext cx="10019487" cy="5714128"/>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2.2.1 </a:t>
            </a:r>
            <a:r>
              <a:rPr lang="tr-TR" sz="2000" b="1" dirty="0" err="1">
                <a:solidFill>
                  <a:schemeClr val="tx2"/>
                </a:solidFill>
                <a:latin typeface="Calibri" panose="020F0502020204030204" pitchFamily="34" charset="0"/>
                <a:cs typeface="Calibri" panose="020F0502020204030204" pitchFamily="34" charset="0"/>
              </a:rPr>
              <a:t>ReAct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Tema oluştur → eksik kodları kontrol et</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“Aşağıdaki görüşme verilerinden temaları oluştur, ardından hangi kodların temsilde eksik kaldığını kontrol et.”</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Nitel analiz süreçlerinde </a:t>
            </a:r>
            <a:r>
              <a:rPr lang="tr-TR" sz="2000" b="1" dirty="0" err="1">
                <a:solidFill>
                  <a:schemeClr val="tx2"/>
                </a:solidFill>
                <a:latin typeface="Calibri" panose="020F0502020204030204" pitchFamily="34" charset="0"/>
                <a:cs typeface="Calibri" panose="020F0502020204030204" pitchFamily="34" charset="0"/>
              </a:rPr>
              <a:t>ReAct</a:t>
            </a:r>
            <a:r>
              <a:rPr lang="tr-TR" sz="2000" b="1" dirty="0">
                <a:solidFill>
                  <a:schemeClr val="tx2"/>
                </a:solidFill>
                <a:latin typeface="Calibri" panose="020F0502020204030204" pitchFamily="34" charset="0"/>
                <a:cs typeface="Calibri" panose="020F0502020204030204" pitchFamily="34" charset="0"/>
              </a:rPr>
              <a:t> çok güçlüdür.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Önce </a:t>
            </a:r>
            <a:r>
              <a:rPr lang="tr-TR" sz="2000" b="1" dirty="0" err="1">
                <a:solidFill>
                  <a:srgbClr val="0070C0"/>
                </a:solidFill>
                <a:latin typeface="Calibri" panose="020F0502020204030204" pitchFamily="34" charset="0"/>
                <a:cs typeface="Calibri" panose="020F0502020204030204" pitchFamily="34" charset="0"/>
              </a:rPr>
              <a:t>reasoning</a:t>
            </a:r>
            <a:r>
              <a:rPr lang="tr-TR" sz="2000" b="1" dirty="0">
                <a:solidFill>
                  <a:srgbClr val="0070C0"/>
                </a:solidFill>
                <a:latin typeface="Calibri" panose="020F0502020204030204" pitchFamily="34" charset="0"/>
                <a:cs typeface="Calibri" panose="020F0502020204030204" pitchFamily="34" charset="0"/>
              </a:rPr>
              <a:t> kısmında model görüşme ifadelerinden kodlar ve temalar oluşturur.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Action aşamasında ise bu yapının kapsayıcılığını kontrol eder: bazı görüşler dışarıda mı kaldı, bazı kodlar tekil mi kaldı, temalar arasında çakışma var mı?</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Öğretmen görüşleri temelli yapay zekâ liderliği çalışmalarında kod güvenilirliği ve tema doygunluğu açısından çok değerlidir.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090740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42456-18DF-EFAA-0559-B80BFB3DB074}"/>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910788F0-C0C0-EDE2-9A42-34E84502E045}"/>
              </a:ext>
            </a:extLst>
          </p:cNvPr>
          <p:cNvSpPr txBox="1"/>
          <p:nvPr/>
        </p:nvSpPr>
        <p:spPr>
          <a:xfrm>
            <a:off x="749030" y="711959"/>
            <a:ext cx="10019487" cy="5714128"/>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2.2.1 </a:t>
            </a:r>
            <a:r>
              <a:rPr lang="tr-TR" sz="2000" b="1" dirty="0" err="1">
                <a:solidFill>
                  <a:schemeClr val="tx2"/>
                </a:solidFill>
                <a:latin typeface="Calibri" panose="020F0502020204030204" pitchFamily="34" charset="0"/>
                <a:cs typeface="Calibri" panose="020F0502020204030204" pitchFamily="34" charset="0"/>
              </a:rPr>
              <a:t>ReAct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Makale yaz → etik riskleri denetle</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makalenin yöntem ve bulgu bölümünü incele, ardından etik açıdan riskli noktaları ve iyileştirme önerilerini belirt.”</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kullanım, akademik kalite güvencesi açısından çok önemlidir.</a:t>
            </a:r>
          </a:p>
          <a:p>
            <a:pPr>
              <a:lnSpc>
                <a:spcPct val="107000"/>
              </a:lnSpc>
              <a:spcAft>
                <a:spcPts val="800"/>
              </a:spcAft>
            </a:pPr>
            <a:r>
              <a:rPr lang="tr-TR" sz="2000" b="1" dirty="0" err="1">
                <a:solidFill>
                  <a:srgbClr val="0070C0"/>
                </a:solidFill>
                <a:latin typeface="Calibri" panose="020F0502020204030204" pitchFamily="34" charset="0"/>
                <a:cs typeface="Calibri" panose="020F0502020204030204" pitchFamily="34" charset="0"/>
              </a:rPr>
              <a:t>Reasoning</a:t>
            </a:r>
            <a:r>
              <a:rPr lang="tr-TR" sz="2000" b="1" dirty="0">
                <a:solidFill>
                  <a:srgbClr val="0070C0"/>
                </a:solidFill>
                <a:latin typeface="Calibri" panose="020F0502020204030204" pitchFamily="34" charset="0"/>
                <a:cs typeface="Calibri" panose="020F0502020204030204" pitchFamily="34" charset="0"/>
              </a:rPr>
              <a:t> aşamasında model çalışmanın veri toplama, anonimlik, izin süreçleri ve olası önyargılarını analiz eder.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Action aşamasında ise somut öneriler sunar. Katılımcı gizliliği güçlendir, etik kurul numarasını ekle, hassas verileri anonimleştir gibi.</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Özellikle AI ve eğitim politikası çalışmalarında bu yaklaşım ciddi değer üretir.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814729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04BB9-C6FA-C17F-22BA-844C7C80665C}"/>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0ABE3AC4-8E7A-108E-96E7-F816E29FFE31}"/>
              </a:ext>
            </a:extLst>
          </p:cNvPr>
          <p:cNvSpPr txBox="1"/>
          <p:nvPr/>
        </p:nvSpPr>
        <p:spPr>
          <a:xfrm>
            <a:off x="797668" y="1342417"/>
            <a:ext cx="9494196" cy="3759747"/>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2.2.1 </a:t>
            </a:r>
            <a:r>
              <a:rPr lang="tr-TR" sz="2000" b="1" dirty="0" err="1">
                <a:solidFill>
                  <a:schemeClr val="tx2"/>
                </a:solidFill>
                <a:latin typeface="Calibri" panose="020F0502020204030204" pitchFamily="34" charset="0"/>
                <a:cs typeface="Calibri" panose="020F0502020204030204" pitchFamily="34" charset="0"/>
              </a:rPr>
              <a:t>ReAct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Veri setini incele → temizleme öner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“Bibliyometrik veri setini incele, yinelenen kayıtları, eksik alanları ve biçimsel hataları belirle. Ardından veri temizleme adımlarını öner.”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örnek SCOPUS + </a:t>
            </a:r>
            <a:r>
              <a:rPr lang="tr-TR" sz="2000" b="1" dirty="0" err="1">
                <a:solidFill>
                  <a:schemeClr val="tx2"/>
                </a:solidFill>
                <a:latin typeface="Calibri" panose="020F0502020204030204" pitchFamily="34" charset="0"/>
                <a:cs typeface="Calibri" panose="020F0502020204030204" pitchFamily="34" charset="0"/>
              </a:rPr>
              <a:t>WoS</a:t>
            </a:r>
            <a:r>
              <a:rPr lang="tr-TR" sz="2000" b="1" dirty="0">
                <a:solidFill>
                  <a:schemeClr val="tx2"/>
                </a:solidFill>
                <a:latin typeface="Calibri" panose="020F0502020204030204" pitchFamily="34" charset="0"/>
                <a:cs typeface="Calibri" panose="020F0502020204030204" pitchFamily="34" charset="0"/>
              </a:rPr>
              <a:t> veri birleştirme çalışmaları için birebir uygundur.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739626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BAEDB-445D-7A58-9F5A-7B0428FC8719}"/>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D09B808A-200F-488C-559E-396C60F2A412}"/>
              </a:ext>
            </a:extLst>
          </p:cNvPr>
          <p:cNvSpPr txBox="1"/>
          <p:nvPr/>
        </p:nvSpPr>
        <p:spPr>
          <a:xfrm>
            <a:off x="408562" y="711959"/>
            <a:ext cx="10729608" cy="4623573"/>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2.2.1 </a:t>
            </a:r>
            <a:r>
              <a:rPr lang="tr-TR" sz="2000" b="1" dirty="0" err="1">
                <a:solidFill>
                  <a:schemeClr val="tx2"/>
                </a:solidFill>
                <a:latin typeface="Calibri" panose="020F0502020204030204" pitchFamily="34" charset="0"/>
                <a:cs typeface="Calibri" panose="020F0502020204030204" pitchFamily="34" charset="0"/>
              </a:rPr>
              <a:t>ReAct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Önce model </a:t>
            </a:r>
            <a:r>
              <a:rPr lang="tr-TR" sz="2000" b="1" dirty="0" err="1">
                <a:solidFill>
                  <a:srgbClr val="0070C0"/>
                </a:solidFill>
                <a:latin typeface="Calibri" panose="020F0502020204030204" pitchFamily="34" charset="0"/>
                <a:cs typeface="Calibri" panose="020F0502020204030204" pitchFamily="34" charset="0"/>
              </a:rPr>
              <a:t>reasoning</a:t>
            </a:r>
            <a:r>
              <a:rPr lang="tr-TR" sz="2000" b="1" dirty="0">
                <a:solidFill>
                  <a:srgbClr val="0070C0"/>
                </a:solidFill>
                <a:latin typeface="Calibri" panose="020F0502020204030204" pitchFamily="34" charset="0"/>
                <a:cs typeface="Calibri" panose="020F0502020204030204" pitchFamily="34" charset="0"/>
              </a:rPr>
              <a:t> ile veri setindeki tekrar kayıtları, yazar adı tutarsızlıklarını, eksik DOI alanlarını veya tarih formatı sorunlarını fark eder.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Ardından </a:t>
            </a:r>
            <a:r>
              <a:rPr lang="tr-TR" sz="2000" b="1" dirty="0" err="1">
                <a:solidFill>
                  <a:schemeClr val="tx2"/>
                </a:solidFill>
                <a:latin typeface="Calibri" panose="020F0502020204030204" pitchFamily="34" charset="0"/>
                <a:cs typeface="Calibri" panose="020F0502020204030204" pitchFamily="34" charset="0"/>
              </a:rPr>
              <a:t>action</a:t>
            </a:r>
            <a:r>
              <a:rPr lang="tr-TR" sz="2000" b="1" dirty="0">
                <a:solidFill>
                  <a:schemeClr val="tx2"/>
                </a:solidFill>
                <a:latin typeface="Calibri" panose="020F0502020204030204" pitchFamily="34" charset="0"/>
                <a:cs typeface="Calibri" panose="020F0502020204030204" pitchFamily="34" charset="0"/>
              </a:rPr>
              <a:t> kısmında şu tür operasyonel adımlar önerir: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a:t>
            </a:r>
            <a:r>
              <a:rPr lang="tr-TR" sz="2000" b="1" dirty="0" err="1">
                <a:solidFill>
                  <a:srgbClr val="0070C0"/>
                </a:solidFill>
                <a:latin typeface="Calibri" panose="020F0502020204030204" pitchFamily="34" charset="0"/>
                <a:cs typeface="Calibri" panose="020F0502020204030204" pitchFamily="34" charset="0"/>
              </a:rPr>
              <a:t>Duplicate</a:t>
            </a:r>
            <a:r>
              <a:rPr lang="tr-TR" sz="2000" b="1" dirty="0">
                <a:solidFill>
                  <a:srgbClr val="0070C0"/>
                </a:solidFill>
                <a:latin typeface="Calibri" panose="020F0502020204030204" pitchFamily="34" charset="0"/>
                <a:cs typeface="Calibri" panose="020F0502020204030204" pitchFamily="34" charset="0"/>
              </a:rPr>
              <a:t> kayıtları kaldır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Author </a:t>
            </a:r>
            <a:r>
              <a:rPr lang="tr-TR" sz="2000" b="1" dirty="0" err="1">
                <a:solidFill>
                  <a:srgbClr val="0070C0"/>
                </a:solidFill>
                <a:latin typeface="Calibri" panose="020F0502020204030204" pitchFamily="34" charset="0"/>
                <a:cs typeface="Calibri" panose="020F0502020204030204" pitchFamily="34" charset="0"/>
              </a:rPr>
              <a:t>standardization</a:t>
            </a:r>
            <a:r>
              <a:rPr lang="tr-TR" sz="2000" b="1" dirty="0">
                <a:solidFill>
                  <a:srgbClr val="0070C0"/>
                </a:solidFill>
                <a:latin typeface="Calibri" panose="020F0502020204030204" pitchFamily="34" charset="0"/>
                <a:cs typeface="Calibri" panose="020F0502020204030204" pitchFamily="34" charset="0"/>
              </a:rPr>
              <a:t> yap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DOI boşluklarını temizle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a:t>
            </a:r>
            <a:r>
              <a:rPr lang="tr-TR" sz="2000" b="1" dirty="0" err="1">
                <a:solidFill>
                  <a:srgbClr val="0070C0"/>
                </a:solidFill>
                <a:latin typeface="Calibri" panose="020F0502020204030204" pitchFamily="34" charset="0"/>
                <a:cs typeface="Calibri" panose="020F0502020204030204" pitchFamily="34" charset="0"/>
              </a:rPr>
              <a:t>Keyword</a:t>
            </a:r>
            <a:r>
              <a:rPr lang="tr-TR" sz="2000" b="1" dirty="0">
                <a:solidFill>
                  <a:srgbClr val="0070C0"/>
                </a:solidFill>
                <a:latin typeface="Calibri" panose="020F0502020204030204" pitchFamily="34" charset="0"/>
                <a:cs typeface="Calibri" panose="020F0502020204030204" pitchFamily="34" charset="0"/>
              </a:rPr>
              <a:t> </a:t>
            </a:r>
            <a:r>
              <a:rPr lang="tr-TR" sz="2000" b="1" dirty="0" err="1">
                <a:solidFill>
                  <a:srgbClr val="0070C0"/>
                </a:solidFill>
                <a:latin typeface="Calibri" panose="020F0502020204030204" pitchFamily="34" charset="0"/>
                <a:cs typeface="Calibri" panose="020F0502020204030204" pitchFamily="34" charset="0"/>
              </a:rPr>
              <a:t>normalization</a:t>
            </a:r>
            <a:r>
              <a:rPr lang="tr-TR" sz="2000" b="1" dirty="0">
                <a:solidFill>
                  <a:srgbClr val="0070C0"/>
                </a:solidFill>
                <a:latin typeface="Calibri" panose="020F0502020204030204" pitchFamily="34" charset="0"/>
                <a:cs typeface="Calibri" panose="020F0502020204030204" pitchFamily="34" charset="0"/>
              </a:rPr>
              <a:t> uygula</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bibliyometrik doğruluk için çok güçlüdür. </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031870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EED94-02CE-1DF6-D821-824F451EF401}"/>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743F1155-37BB-E8F8-3732-CECD822BE80A}"/>
              </a:ext>
            </a:extLst>
          </p:cNvPr>
          <p:cNvSpPr txBox="1"/>
          <p:nvPr/>
        </p:nvSpPr>
        <p:spPr>
          <a:xfrm>
            <a:off x="369651" y="214009"/>
            <a:ext cx="10136221" cy="6680547"/>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2.2.1 </a:t>
            </a:r>
            <a:r>
              <a:rPr lang="tr-TR" sz="2000" b="1" dirty="0" err="1">
                <a:solidFill>
                  <a:schemeClr val="tx2"/>
                </a:solidFill>
                <a:latin typeface="Calibri" panose="020F0502020204030204" pitchFamily="34" charset="0"/>
                <a:cs typeface="Calibri" panose="020F0502020204030204" pitchFamily="34" charset="0"/>
              </a:rPr>
              <a:t>ReAct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Hakem yorumu oku → revizyon planı çıkar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“Hakem yorumlarını analiz et, eleştirileri tematik olarak grupla ve 7 günlük revizyon planı oluştur.”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kullanım, özellikle SSCI/</a:t>
            </a:r>
            <a:r>
              <a:rPr lang="tr-TR" sz="2000" b="1" dirty="0" err="1">
                <a:solidFill>
                  <a:schemeClr val="tx2"/>
                </a:solidFill>
                <a:latin typeface="Calibri" panose="020F0502020204030204" pitchFamily="34" charset="0"/>
                <a:cs typeface="Calibri" panose="020F0502020204030204" pitchFamily="34" charset="0"/>
              </a:rPr>
              <a:t>Scopus</a:t>
            </a:r>
            <a:r>
              <a:rPr lang="tr-TR" sz="2000" b="1" dirty="0">
                <a:solidFill>
                  <a:schemeClr val="tx2"/>
                </a:solidFill>
                <a:latin typeface="Calibri" panose="020F0502020204030204" pitchFamily="34" charset="0"/>
                <a:cs typeface="Calibri" panose="020F0502020204030204" pitchFamily="34" charset="0"/>
              </a:rPr>
              <a:t> makale revizyon süreçlerinde mükemmel çalışır.</a:t>
            </a:r>
          </a:p>
          <a:p>
            <a:pPr>
              <a:lnSpc>
                <a:spcPct val="107000"/>
              </a:lnSpc>
              <a:spcAft>
                <a:spcPts val="800"/>
              </a:spcAft>
            </a:pPr>
            <a:r>
              <a:rPr lang="tr-TR" sz="2000" b="1" dirty="0" err="1">
                <a:solidFill>
                  <a:srgbClr val="0070C0"/>
                </a:solidFill>
                <a:latin typeface="Calibri" panose="020F0502020204030204" pitchFamily="34" charset="0"/>
                <a:cs typeface="Calibri" panose="020F0502020204030204" pitchFamily="34" charset="0"/>
              </a:rPr>
              <a:t>Reasoning</a:t>
            </a:r>
            <a:r>
              <a:rPr lang="tr-TR" sz="2000" b="1" dirty="0">
                <a:solidFill>
                  <a:srgbClr val="0070C0"/>
                </a:solidFill>
                <a:latin typeface="Calibri" panose="020F0502020204030204" pitchFamily="34" charset="0"/>
                <a:cs typeface="Calibri" panose="020F0502020204030204" pitchFamily="34" charset="0"/>
              </a:rPr>
              <a:t> aşamasında model hakem eleştirilerini yöntem, teori, dil, tablo, etik gibi kümelere ayırır.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Action aşamasında ise bunu uygulanabilir plana çevirir: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1. gün kuramsal çerçeve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2. gün yöntem düzeltmeleri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3. gün tablo revizyonu</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gibi. Bu sayede revizyon süreci hem hızlanır hem sistematikleşir. </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441764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BAA6E-AA84-11A9-C0E9-CB2D605E3D87}"/>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E78CF5D7-EAC8-64DB-7130-7E22BD1BCE62}"/>
              </a:ext>
            </a:extLst>
          </p:cNvPr>
          <p:cNvSpPr txBox="1"/>
          <p:nvPr/>
        </p:nvSpPr>
        <p:spPr>
          <a:xfrm>
            <a:off x="486383" y="817123"/>
            <a:ext cx="10019489" cy="5919313"/>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2.2.1 </a:t>
            </a:r>
            <a:r>
              <a:rPr lang="tr-TR" sz="2000" b="1" dirty="0" err="1">
                <a:solidFill>
                  <a:schemeClr val="tx2"/>
                </a:solidFill>
                <a:latin typeface="Calibri" panose="020F0502020204030204" pitchFamily="34" charset="0"/>
                <a:cs typeface="Calibri" panose="020F0502020204030204" pitchFamily="34" charset="0"/>
              </a:rPr>
              <a:t>ReAct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Genel Değerlendirme</a:t>
            </a:r>
          </a:p>
          <a:p>
            <a:pPr>
              <a:lnSpc>
                <a:spcPct val="107000"/>
              </a:lnSpc>
              <a:spcAft>
                <a:spcPts val="800"/>
              </a:spcAft>
            </a:pPr>
            <a:r>
              <a:rPr lang="tr-TR" sz="2000" b="1" dirty="0" err="1">
                <a:solidFill>
                  <a:srgbClr val="0070C0"/>
                </a:solidFill>
                <a:latin typeface="Calibri" panose="020F0502020204030204" pitchFamily="34" charset="0"/>
                <a:cs typeface="Calibri" panose="020F0502020204030204" pitchFamily="34" charset="0"/>
              </a:rPr>
              <a:t>ReAct’ın</a:t>
            </a:r>
            <a:r>
              <a:rPr lang="tr-TR" sz="2000" b="1" dirty="0">
                <a:solidFill>
                  <a:srgbClr val="0070C0"/>
                </a:solidFill>
                <a:latin typeface="Calibri" panose="020F0502020204030204" pitchFamily="34" charset="0"/>
                <a:cs typeface="Calibri" panose="020F0502020204030204" pitchFamily="34" charset="0"/>
              </a:rPr>
              <a:t> akademik araştırmalardaki en büyük avantajı, analizi doğrudan araştırma operasyonuna dönüştürmesidir.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nedenle özellikle şu alanlarda çok etkilidir: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Literatür boşluğu analizi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Nitel tema doğrulama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Etik denetim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Veri temizleme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Hakem revizyonu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Proje yönetimi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Tez yazım takvimi </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4398652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B7838-5A8F-D119-5F41-0D2639659686}"/>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888F829A-C0F0-0278-D688-9342FAA2629D}"/>
              </a:ext>
            </a:extLst>
          </p:cNvPr>
          <p:cNvSpPr txBox="1"/>
          <p:nvPr/>
        </p:nvSpPr>
        <p:spPr>
          <a:xfrm>
            <a:off x="447473" y="233464"/>
            <a:ext cx="10058400" cy="6453818"/>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2.2.1 </a:t>
            </a:r>
            <a:r>
              <a:rPr lang="tr-TR" sz="2000" b="1" dirty="0" err="1">
                <a:solidFill>
                  <a:schemeClr val="tx2"/>
                </a:solidFill>
                <a:latin typeface="Calibri" panose="020F0502020204030204" pitchFamily="34" charset="0"/>
                <a:cs typeface="Calibri" panose="020F0502020204030204" pitchFamily="34" charset="0"/>
              </a:rPr>
              <a:t>ReAct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Güçlü yönleri</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Akademik süreç otomasyonu sağlar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Revizyon hızını artırır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Literatürden araştırma boşluğu üretir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Veri ve etik kontrolü güçlendirir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Sınırlılık</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Yanlış ilk analiz yapılırsa eylem planı da yanlış kurulabilir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yüzden sizin gibi yüksek akademik hassasiyet isteyen işlerde en güçlü kombinasyon:</a:t>
            </a:r>
          </a:p>
          <a:p>
            <a:pPr>
              <a:lnSpc>
                <a:spcPct val="107000"/>
              </a:lnSpc>
              <a:spcAft>
                <a:spcPts val="800"/>
              </a:spcAft>
            </a:pPr>
            <a:r>
              <a:rPr lang="tr-TR" sz="2000" b="1" dirty="0" err="1">
                <a:solidFill>
                  <a:srgbClr val="0070C0"/>
                </a:solidFill>
                <a:latin typeface="Calibri" panose="020F0502020204030204" pitchFamily="34" charset="0"/>
                <a:cs typeface="Calibri" panose="020F0502020204030204" pitchFamily="34" charset="0"/>
              </a:rPr>
              <a:t>ReAct</a:t>
            </a:r>
            <a:r>
              <a:rPr lang="tr-TR" sz="2000" b="1" dirty="0">
                <a:solidFill>
                  <a:srgbClr val="0070C0"/>
                </a:solidFill>
                <a:latin typeface="Calibri" panose="020F0502020204030204" pitchFamily="34" charset="0"/>
                <a:cs typeface="Calibri" panose="020F0502020204030204" pitchFamily="34" charset="0"/>
              </a:rPr>
              <a:t> + RAG + CAG şeklindedir.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ReAct</a:t>
            </a:r>
            <a:r>
              <a:rPr lang="tr-TR" sz="2000" b="1" dirty="0">
                <a:solidFill>
                  <a:schemeClr val="tx2"/>
                </a:solidFill>
                <a:latin typeface="Calibri" panose="020F0502020204030204" pitchFamily="34" charset="0"/>
                <a:cs typeface="Calibri" panose="020F0502020204030204" pitchFamily="34" charset="0"/>
              </a:rPr>
              <a:t> → düşün ve uygula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RAG → literatürle doğrula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CAG → proje bağlamını koru</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909493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6D996-B5EC-46E6-C367-C1347EE8BD5C}"/>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BDB0AEE8-2C4A-FC66-7C09-C0A508D34777}"/>
              </a:ext>
            </a:extLst>
          </p:cNvPr>
          <p:cNvSpPr txBox="1"/>
          <p:nvPr/>
        </p:nvSpPr>
        <p:spPr>
          <a:xfrm>
            <a:off x="447472" y="807396"/>
            <a:ext cx="10058401" cy="4974439"/>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2.2.2 PAL</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PAL </a:t>
            </a:r>
            <a:r>
              <a:rPr lang="tr-TR" sz="2000" b="1" dirty="0" err="1">
                <a:solidFill>
                  <a:schemeClr val="tx2"/>
                </a:solidFill>
                <a:latin typeface="Calibri" panose="020F0502020204030204" pitchFamily="34" charset="0"/>
                <a:cs typeface="Calibri" panose="020F0502020204030204" pitchFamily="34" charset="0"/>
              </a:rPr>
              <a:t>prompting</a:t>
            </a:r>
            <a:r>
              <a:rPr lang="tr-TR" sz="2000" b="1" dirty="0">
                <a:solidFill>
                  <a:srgbClr val="0070C0"/>
                </a:solidFill>
                <a:latin typeface="Calibri" panose="020F0502020204030204" pitchFamily="34" charset="0"/>
                <a:cs typeface="Calibri" panose="020F0502020204030204" pitchFamily="34" charset="0"/>
              </a:rPr>
              <a:t>, modelin bir akademik problemi çözerken doğal dili programatik mantığa, hesaplama adımlarına ve doğrulama süreçlerine dönüştürmesini sağlayan stratejidir. Özellikle sayısal veya mantıksal doğruluk gerektiren araştırmalarda kritik rol oynar.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PAL (Program-</a:t>
            </a:r>
            <a:r>
              <a:rPr lang="tr-TR" sz="2000" b="1" dirty="0" err="1">
                <a:solidFill>
                  <a:schemeClr val="tx2"/>
                </a:solidFill>
                <a:latin typeface="Calibri" panose="020F0502020204030204" pitchFamily="34" charset="0"/>
                <a:cs typeface="Calibri" panose="020F0502020204030204" pitchFamily="34" charset="0"/>
              </a:rPr>
              <a:t>Aided</a:t>
            </a:r>
            <a:r>
              <a:rPr lang="tr-TR" sz="2000" b="1" dirty="0">
                <a:solidFill>
                  <a:schemeClr val="tx2"/>
                </a:solidFill>
                <a:latin typeface="Calibri" panose="020F0502020204030204" pitchFamily="34" charset="0"/>
                <a:cs typeface="Calibri" panose="020F0502020204030204" pitchFamily="34" charset="0"/>
              </a:rPr>
              <a:t> Language</a:t>
            </a:r>
            <a:r>
              <a:rPr lang="tr-TR" sz="2000" b="1" dirty="0">
                <a:solidFill>
                  <a:srgbClr val="0070C0"/>
                </a:solidFill>
                <a:latin typeface="Calibri" panose="020F0502020204030204" pitchFamily="34" charset="0"/>
                <a:cs typeface="Calibri" panose="020F0502020204030204" pitchFamily="34" charset="0"/>
              </a:rPr>
              <a:t>), özellikle sayısal doğruluk, algoritmik tutarlılık ve tekrar üretilebilir akademik analizler için en güçlü </a:t>
            </a:r>
            <a:r>
              <a:rPr lang="tr-TR" sz="2000" b="1" dirty="0" err="1">
                <a:solidFill>
                  <a:schemeClr val="tx2"/>
                </a:solidFill>
                <a:latin typeface="Calibri" panose="020F0502020204030204" pitchFamily="34" charset="0"/>
                <a:cs typeface="Calibri" panose="020F0502020204030204" pitchFamily="34" charset="0"/>
              </a:rPr>
              <a:t>action-based</a:t>
            </a:r>
            <a:r>
              <a:rPr lang="tr-TR" sz="2000" b="1" dirty="0">
                <a:solidFill>
                  <a:schemeClr val="tx2"/>
                </a:solidFill>
                <a:latin typeface="Calibri" panose="020F0502020204030204" pitchFamily="34" charset="0"/>
                <a:cs typeface="Calibri" panose="020F0502020204030204" pitchFamily="34" charset="0"/>
              </a:rPr>
              <a:t> stratejilerden </a:t>
            </a:r>
            <a:r>
              <a:rPr lang="tr-TR" sz="2000" b="1" dirty="0">
                <a:solidFill>
                  <a:srgbClr val="0070C0"/>
                </a:solidFill>
                <a:latin typeface="Calibri" panose="020F0502020204030204" pitchFamily="34" charset="0"/>
                <a:cs typeface="Calibri" panose="020F0502020204030204" pitchFamily="34" charset="0"/>
              </a:rPr>
              <a:t>biridir.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yaklaşımda model yalnızca doğal dilde açıklama yapmakla kalmaz. Problemi hesaplanabilir adımlara, mantıksal kurallara veya kod benzeri işlem dizilerine dönüştürür. Böylece özellikle istatistik, </a:t>
            </a:r>
            <a:r>
              <a:rPr lang="tr-TR" sz="2000" b="1" dirty="0" err="1">
                <a:solidFill>
                  <a:schemeClr val="tx2"/>
                </a:solidFill>
                <a:latin typeface="Calibri" panose="020F0502020204030204" pitchFamily="34" charset="0"/>
                <a:cs typeface="Calibri" panose="020F0502020204030204" pitchFamily="34" charset="0"/>
              </a:rPr>
              <a:t>bibliyometri</a:t>
            </a:r>
            <a:r>
              <a:rPr lang="tr-TR" sz="2000" b="1" dirty="0">
                <a:solidFill>
                  <a:schemeClr val="tx2"/>
                </a:solidFill>
                <a:latin typeface="Calibri" panose="020F0502020204030204" pitchFamily="34" charset="0"/>
                <a:cs typeface="Calibri" panose="020F0502020204030204" pitchFamily="34" charset="0"/>
              </a:rPr>
              <a:t>, test geliştirme, ölçek analizi ve nitel veri frekans çalışmalarında hata payı ciddi biçimde azalır.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PAL adeta “hesaplama doğrulama katmanı” gibi çalışır.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360999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6DF90-12E6-6A76-42AF-E95885FD7BE7}"/>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1459C550-70D5-6737-1636-00D774086233}"/>
              </a:ext>
            </a:extLst>
          </p:cNvPr>
          <p:cNvSpPr txBox="1"/>
          <p:nvPr/>
        </p:nvSpPr>
        <p:spPr>
          <a:xfrm>
            <a:off x="671209" y="1692613"/>
            <a:ext cx="9834664" cy="4520981"/>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2.2.2 PAL</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Cronbach Alpha hesaplama mantığı</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(Cronbach Alpha, bir ölçek veya anket maddelerinin birbiriyle ne kadar tutarlı çalıştığını gösteren güvenirlik katsayısıdır.)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“Aşağıdaki ölçek maddelerinin varyanslarını kullanarak Cronbach Alpha hesaplama mantığını adım adım kur ve yorumla.”</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kullanım ölçme-değerlendirme araştırmalarında çok kritiktir.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634255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39F73-44FC-CB73-9E28-9607F04C6480}"/>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DD6E187D-EC6E-F69B-2F81-4D563A46E235}"/>
              </a:ext>
            </a:extLst>
          </p:cNvPr>
          <p:cNvSpPr txBox="1"/>
          <p:nvPr/>
        </p:nvSpPr>
        <p:spPr>
          <a:xfrm>
            <a:off x="466928" y="1060315"/>
            <a:ext cx="10038945" cy="4191660"/>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2.2.2 PAL</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PAL burada doğal dilde “güvenirlik yüksektir” demek yerine, süreci programatik mantığa çevirir: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Madde varyanslarını topla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Toplam test varyansını hesapla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Alfa formülünü uygula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Sonucu eşiklerle yorumla</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yaklaşım özellikle ölçek geliştirme çalışmalarında hesaplama hatalarını azaltır.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025002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0F09F-4AA2-206A-50B2-F0941E9DCA15}"/>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8C945CFB-AB10-0207-5E5E-8F3369D4173E}"/>
              </a:ext>
            </a:extLst>
          </p:cNvPr>
          <p:cNvSpPr txBox="1"/>
          <p:nvPr/>
        </p:nvSpPr>
        <p:spPr>
          <a:xfrm>
            <a:off x="515565" y="1770434"/>
            <a:ext cx="10223771" cy="3759747"/>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2.2.2 PAL</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SEM yol katsayı kontrolü</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Örnek </a:t>
            </a:r>
            <a:r>
              <a:rPr lang="tr-TR" sz="2000" b="1" dirty="0" err="1">
                <a:solidFill>
                  <a:schemeClr val="tx2"/>
                </a:solidFill>
                <a:latin typeface="Calibri" panose="020F0502020204030204" pitchFamily="34" charset="0"/>
                <a:cs typeface="Calibri" panose="020F0502020204030204" pitchFamily="34" charset="0"/>
              </a:rPr>
              <a:t>Prompt</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“SEM çıktısındaki yol katsayılarını beta, p ve güven aralığına göre algoritmik olarak kontrol et; anlamlı yolları listele.”</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SEM yorumlarında en sık hata, katsayıların karışık veya sezgisel yorumlanmasıdır.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473253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400B8-39DA-7FD0-1E15-16B4EDB284D8}"/>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F5809007-B18E-A0B4-7E35-42813AB1E9F2}"/>
              </a:ext>
            </a:extLst>
          </p:cNvPr>
          <p:cNvSpPr txBox="1"/>
          <p:nvPr/>
        </p:nvSpPr>
        <p:spPr>
          <a:xfrm>
            <a:off x="457200" y="1536970"/>
            <a:ext cx="10048673" cy="3862339"/>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2.2.2 PAL</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PAL burada net bir mantık kurar: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p &lt; .05 mi?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Beta yönü pozitif mi negatif mi?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Dolaylı etki var mı?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Güven aralığı sıfırı kesiyor mu?</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kurallar üzerinden sonuç üretildiği için yorum daha güvenilir olur.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6597324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00379-38C1-2162-C654-D005C5196329}"/>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00ACD579-BFAD-B796-2461-61D4DE983FB1}"/>
              </a:ext>
            </a:extLst>
          </p:cNvPr>
          <p:cNvSpPr txBox="1"/>
          <p:nvPr/>
        </p:nvSpPr>
        <p:spPr>
          <a:xfrm>
            <a:off x="457200" y="1536970"/>
            <a:ext cx="10048673" cy="2895921"/>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2.2.2 PAL</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Bibliyometrik veri filtreleme</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“SCOPUS ve </a:t>
            </a:r>
            <a:r>
              <a:rPr lang="tr-TR" sz="2000" b="1" dirty="0" err="1">
                <a:solidFill>
                  <a:schemeClr val="tx2"/>
                </a:solidFill>
                <a:latin typeface="Calibri" panose="020F0502020204030204" pitchFamily="34" charset="0"/>
                <a:cs typeface="Calibri" panose="020F0502020204030204" pitchFamily="34" charset="0"/>
              </a:rPr>
              <a:t>WoS</a:t>
            </a:r>
            <a:r>
              <a:rPr lang="tr-TR" sz="2000" b="1" dirty="0">
                <a:solidFill>
                  <a:schemeClr val="tx2"/>
                </a:solidFill>
                <a:latin typeface="Calibri" panose="020F0502020204030204" pitchFamily="34" charset="0"/>
                <a:cs typeface="Calibri" panose="020F0502020204030204" pitchFamily="34" charset="0"/>
              </a:rPr>
              <a:t> verilerini DOI, yıl ve yazar adına göre filtreleme mantığı kur. Yinelenen kayıtları temizle.”</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828971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35C0C-877D-06C9-2C2A-0E4B4CABD11D}"/>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F274BEF3-E3E4-7AC0-23AF-7CC5C747DDDF}"/>
              </a:ext>
            </a:extLst>
          </p:cNvPr>
          <p:cNvSpPr txBox="1"/>
          <p:nvPr/>
        </p:nvSpPr>
        <p:spPr>
          <a:xfrm>
            <a:off x="457200" y="1536970"/>
            <a:ext cx="10048673" cy="4726166"/>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2.2.2 PAL</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PAL burada doğal dil yerine algoritmik filtre kurar: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DOI aynıysa </a:t>
            </a:r>
            <a:r>
              <a:rPr lang="tr-TR" sz="2000" b="1" dirty="0" err="1">
                <a:solidFill>
                  <a:srgbClr val="0070C0"/>
                </a:solidFill>
                <a:latin typeface="Calibri" panose="020F0502020204030204" pitchFamily="34" charset="0"/>
                <a:cs typeface="Calibri" panose="020F0502020204030204" pitchFamily="34" charset="0"/>
              </a:rPr>
              <a:t>duplicate</a:t>
            </a:r>
            <a:r>
              <a:rPr lang="tr-TR" sz="2000" b="1" dirty="0">
                <a:solidFill>
                  <a:srgbClr val="0070C0"/>
                </a:solidFill>
                <a:latin typeface="Calibri" panose="020F0502020204030204" pitchFamily="34" charset="0"/>
                <a:cs typeface="Calibri" panose="020F0502020204030204" pitchFamily="34" charset="0"/>
              </a:rPr>
              <a:t>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DOI yoksa </a:t>
            </a:r>
            <a:r>
              <a:rPr lang="tr-TR" sz="2000" b="1" dirty="0" err="1">
                <a:solidFill>
                  <a:srgbClr val="0070C0"/>
                </a:solidFill>
                <a:latin typeface="Calibri" panose="020F0502020204030204" pitchFamily="34" charset="0"/>
                <a:cs typeface="Calibri" panose="020F0502020204030204" pitchFamily="34" charset="0"/>
              </a:rPr>
              <a:t>title</a:t>
            </a:r>
            <a:r>
              <a:rPr lang="tr-TR" sz="2000" b="1" dirty="0">
                <a:solidFill>
                  <a:srgbClr val="0070C0"/>
                </a:solidFill>
                <a:latin typeface="Calibri" panose="020F0502020204030204" pitchFamily="34" charset="0"/>
                <a:cs typeface="Calibri" panose="020F0502020204030204" pitchFamily="34" charset="0"/>
              </a:rPr>
              <a:t> + </a:t>
            </a:r>
            <a:r>
              <a:rPr lang="tr-TR" sz="2000" b="1" dirty="0" err="1">
                <a:solidFill>
                  <a:srgbClr val="0070C0"/>
                </a:solidFill>
                <a:latin typeface="Calibri" panose="020F0502020204030204" pitchFamily="34" charset="0"/>
                <a:cs typeface="Calibri" panose="020F0502020204030204" pitchFamily="34" charset="0"/>
              </a:rPr>
              <a:t>year</a:t>
            </a:r>
            <a:r>
              <a:rPr lang="tr-TR" sz="2000" b="1" dirty="0">
                <a:solidFill>
                  <a:srgbClr val="0070C0"/>
                </a:solidFill>
                <a:latin typeface="Calibri" panose="020F0502020204030204" pitchFamily="34" charset="0"/>
                <a:cs typeface="Calibri" panose="020F0502020204030204" pitchFamily="34" charset="0"/>
              </a:rPr>
              <a:t> kontrol et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Author </a:t>
            </a:r>
            <a:r>
              <a:rPr lang="tr-TR" sz="2000" b="1" dirty="0" err="1">
                <a:solidFill>
                  <a:srgbClr val="0070C0"/>
                </a:solidFill>
                <a:latin typeface="Calibri" panose="020F0502020204030204" pitchFamily="34" charset="0"/>
                <a:cs typeface="Calibri" panose="020F0502020204030204" pitchFamily="34" charset="0"/>
              </a:rPr>
              <a:t>normalization</a:t>
            </a:r>
            <a:r>
              <a:rPr lang="tr-TR" sz="2000" b="1" dirty="0">
                <a:solidFill>
                  <a:srgbClr val="0070C0"/>
                </a:solidFill>
                <a:latin typeface="Calibri" panose="020F0502020204030204" pitchFamily="34" charset="0"/>
                <a:cs typeface="Calibri" panose="020F0502020204030204" pitchFamily="34" charset="0"/>
              </a:rPr>
              <a:t> uygula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a:t>
            </a:r>
            <a:r>
              <a:rPr lang="tr-TR" sz="2000" b="1" dirty="0" err="1">
                <a:solidFill>
                  <a:srgbClr val="0070C0"/>
                </a:solidFill>
                <a:latin typeface="Calibri" panose="020F0502020204030204" pitchFamily="34" charset="0"/>
                <a:cs typeface="Calibri" panose="020F0502020204030204" pitchFamily="34" charset="0"/>
              </a:rPr>
              <a:t>Keyword</a:t>
            </a:r>
            <a:r>
              <a:rPr lang="tr-TR" sz="2000" b="1" dirty="0">
                <a:solidFill>
                  <a:srgbClr val="0070C0"/>
                </a:solidFill>
                <a:latin typeface="Calibri" panose="020F0502020204030204" pitchFamily="34" charset="0"/>
                <a:cs typeface="Calibri" panose="020F0502020204030204" pitchFamily="34" charset="0"/>
              </a:rPr>
              <a:t> </a:t>
            </a:r>
            <a:r>
              <a:rPr lang="tr-TR" sz="2000" b="1" dirty="0" err="1">
                <a:solidFill>
                  <a:srgbClr val="0070C0"/>
                </a:solidFill>
                <a:latin typeface="Calibri" panose="020F0502020204030204" pitchFamily="34" charset="0"/>
                <a:cs typeface="Calibri" panose="020F0502020204030204" pitchFamily="34" charset="0"/>
              </a:rPr>
              <a:t>standardization</a:t>
            </a:r>
            <a:r>
              <a:rPr lang="tr-TR" sz="2000" b="1" dirty="0">
                <a:solidFill>
                  <a:srgbClr val="0070C0"/>
                </a:solidFill>
                <a:latin typeface="Calibri" panose="020F0502020204030204" pitchFamily="34" charset="0"/>
                <a:cs typeface="Calibri" panose="020F0502020204030204" pitchFamily="34" charset="0"/>
              </a:rPr>
              <a:t> yap</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veri temizliğini tekrarlanabilir hale getirir.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Özellikle R veya Python analizleri öncesi çok kritiktir. </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664194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9B828-2BCC-467F-C2A5-B9DD6CBA6626}"/>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1B68B019-B85C-B3CA-99A5-BDD4872192FB}"/>
              </a:ext>
            </a:extLst>
          </p:cNvPr>
          <p:cNvSpPr txBox="1"/>
          <p:nvPr/>
        </p:nvSpPr>
        <p:spPr>
          <a:xfrm>
            <a:off x="457200" y="1536970"/>
            <a:ext cx="10048673" cy="4089068"/>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2.2.2 PAL</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R </a:t>
            </a:r>
            <a:r>
              <a:rPr lang="tr-TR" sz="2000" b="1" dirty="0">
                <a:solidFill>
                  <a:srgbClr val="0070C0"/>
                </a:solidFill>
                <a:latin typeface="Calibri" panose="020F0502020204030204" pitchFamily="34" charset="0"/>
                <a:cs typeface="Calibri" panose="020F0502020204030204" pitchFamily="34" charset="0"/>
              </a:rPr>
              <a:t>ve </a:t>
            </a:r>
            <a:r>
              <a:rPr lang="tr-TR" sz="2000" b="1" dirty="0">
                <a:solidFill>
                  <a:schemeClr val="tx2"/>
                </a:solidFill>
                <a:latin typeface="Calibri" panose="020F0502020204030204" pitchFamily="34" charset="0"/>
                <a:cs typeface="Calibri" panose="020F0502020204030204" pitchFamily="34" charset="0"/>
              </a:rPr>
              <a:t>Python analizleri, </a:t>
            </a:r>
            <a:r>
              <a:rPr lang="tr-TR" sz="2000" b="1" dirty="0">
                <a:solidFill>
                  <a:srgbClr val="0070C0"/>
                </a:solidFill>
                <a:latin typeface="Calibri" panose="020F0502020204030204" pitchFamily="34" charset="0"/>
                <a:cs typeface="Calibri" panose="020F0502020204030204" pitchFamily="34" charset="0"/>
              </a:rPr>
              <a:t>araştırma verilerini temizleme, düzenleme, istatistiksel analiz etme, görselleştirme ve modelleme için kullanılan programlama tabanlı veri analiz süreçleridir.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R, özellikle istatistik, SEM, regresyon, </a:t>
            </a:r>
            <a:r>
              <a:rPr lang="tr-TR" sz="2000" b="1" dirty="0" err="1">
                <a:solidFill>
                  <a:schemeClr val="tx2"/>
                </a:solidFill>
                <a:latin typeface="Calibri" panose="020F0502020204030204" pitchFamily="34" charset="0"/>
                <a:cs typeface="Calibri" panose="020F0502020204030204" pitchFamily="34" charset="0"/>
              </a:rPr>
              <a:t>bibliyometri</a:t>
            </a:r>
            <a:r>
              <a:rPr lang="tr-TR" sz="2000" b="1" dirty="0">
                <a:solidFill>
                  <a:schemeClr val="tx2"/>
                </a:solidFill>
                <a:latin typeface="Calibri" panose="020F0502020204030204" pitchFamily="34" charset="0"/>
                <a:cs typeface="Calibri" panose="020F0502020204030204" pitchFamily="34" charset="0"/>
              </a:rPr>
              <a:t> ve akademik veri analizi için çok güçlüdür.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Python, </a:t>
            </a:r>
            <a:r>
              <a:rPr lang="tr-TR" sz="2000" b="1" dirty="0">
                <a:solidFill>
                  <a:srgbClr val="0070C0"/>
                </a:solidFill>
                <a:latin typeface="Calibri" panose="020F0502020204030204" pitchFamily="34" charset="0"/>
                <a:cs typeface="Calibri" panose="020F0502020204030204" pitchFamily="34" charset="0"/>
              </a:rPr>
              <a:t>veri işleme, makine öğrenmesi, yapay zekâ, otomasyon ve büyük veri analizlerinde öne çıkar.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R = </a:t>
            </a:r>
            <a:r>
              <a:rPr lang="tr-TR" sz="2000" b="1" dirty="0">
                <a:solidFill>
                  <a:srgbClr val="0070C0"/>
                </a:solidFill>
                <a:latin typeface="Calibri" panose="020F0502020204030204" pitchFamily="34" charset="0"/>
                <a:cs typeface="Calibri" panose="020F0502020204030204" pitchFamily="34" charset="0"/>
              </a:rPr>
              <a:t>İstatistik odaklı,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Python = </a:t>
            </a:r>
            <a:r>
              <a:rPr lang="tr-TR" sz="2000" b="1" dirty="0">
                <a:solidFill>
                  <a:srgbClr val="0070C0"/>
                </a:solidFill>
                <a:latin typeface="Calibri" panose="020F0502020204030204" pitchFamily="34" charset="0"/>
                <a:cs typeface="Calibri" panose="020F0502020204030204" pitchFamily="34" charset="0"/>
              </a:rPr>
              <a:t>Veri bilimi ve AI odaklı analiz.</a:t>
            </a:r>
          </a:p>
        </p:txBody>
      </p:sp>
    </p:spTree>
    <p:extLst>
      <p:ext uri="{BB962C8B-B14F-4D97-AF65-F5344CB8AC3E}">
        <p14:creationId xmlns:p14="http://schemas.microsoft.com/office/powerpoint/2010/main" val="13865522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800B6-E6A5-2047-1BD8-559E1EFAEB28}"/>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D0DCFD5E-E3A2-2F05-9211-56308787F6FE}"/>
              </a:ext>
            </a:extLst>
          </p:cNvPr>
          <p:cNvSpPr txBox="1"/>
          <p:nvPr/>
        </p:nvSpPr>
        <p:spPr>
          <a:xfrm>
            <a:off x="457200" y="1536970"/>
            <a:ext cx="10048673" cy="3759747"/>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2.2.2 PAL</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MCQ puanlama sistemi</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“20 soruluk çoktan seçmeli test için doğru cevap +5, yanlış -1, boş 0 olacak şekilde puanlama algoritmasını kur.”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kullanım özellikle sizin derslerinizde ve ölçme süreçlerinizde çok değerlidir.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9032697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735D2-24B6-60DD-0F3B-CB711A1C61A7}"/>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2BCA47FC-1D09-9799-C33F-DCE261918A88}"/>
              </a:ext>
            </a:extLst>
          </p:cNvPr>
          <p:cNvSpPr txBox="1"/>
          <p:nvPr/>
        </p:nvSpPr>
        <p:spPr>
          <a:xfrm>
            <a:off x="457200" y="1536970"/>
            <a:ext cx="10048673" cy="4294252"/>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2.2.2 PAL</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PAL sayesinde puanlama açık kurallara bağlanır: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Doğru = +5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Yanlış = -1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Boş = 0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Toplam puanı normalize et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Başarı düzeyine göre sınıflandır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manuel puanlama hatalarını azaltır ve şeffaflık sağlar. </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1160979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612BE-CDAB-F874-8F9E-52E9A5D4C0E9}"/>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6EFB3269-4B80-6852-0E7D-400D426D818B}"/>
              </a:ext>
            </a:extLst>
          </p:cNvPr>
          <p:cNvSpPr txBox="1"/>
          <p:nvPr/>
        </p:nvSpPr>
        <p:spPr>
          <a:xfrm>
            <a:off x="457200" y="1536970"/>
            <a:ext cx="10048673" cy="3759747"/>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2.2.2 PAL</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MCQ puanlama sistemi, çoktan seçmeli sorularda doğru, yanlış ve boş cevaplara belirli puan kuralları verilerek toplam başarı puanının hesaplanması sistemidir.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Örnek:</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Doğru = +1</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Yanlış = 0 veya -0.25</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Boş = 0</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MCQ, Çoktan seçmeli testlerde cevaplara puan verip toplam skoru hesaplama yöntemidir.</a:t>
            </a:r>
          </a:p>
        </p:txBody>
      </p:sp>
    </p:spTree>
    <p:extLst>
      <p:ext uri="{BB962C8B-B14F-4D97-AF65-F5344CB8AC3E}">
        <p14:creationId xmlns:p14="http://schemas.microsoft.com/office/powerpoint/2010/main" val="19693005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7DE65-0045-C444-E1F2-0A6A227B463E}"/>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216752AA-7402-B1CE-32F9-B18FE07E915B}"/>
              </a:ext>
            </a:extLst>
          </p:cNvPr>
          <p:cNvSpPr txBox="1"/>
          <p:nvPr/>
        </p:nvSpPr>
        <p:spPr>
          <a:xfrm>
            <a:off x="457200" y="1536970"/>
            <a:ext cx="10048673" cy="4089068"/>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2.2.2 PAL</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Kod sıklık analizi</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“Nitel veri analizinde oluşturulan kodların frekanslarını hesapla, en sık geçen ilk beş kodu belirle ve yüzde dağılımlarını ver.”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Nitel araştırmalarda yalnızca kodların isimleri değil, hangi kodların daha yoğun tekrarlandığı da önemlidir.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9244925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A5A38-EED4-1EEA-7F89-F54405B4E364}"/>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DE036E93-3288-3D39-7243-E289874A0548}"/>
              </a:ext>
            </a:extLst>
          </p:cNvPr>
          <p:cNvSpPr txBox="1"/>
          <p:nvPr/>
        </p:nvSpPr>
        <p:spPr>
          <a:xfrm>
            <a:off x="457200" y="1536970"/>
            <a:ext cx="10048673" cy="3862339"/>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2.2.2 PAL</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PAL burada frekans analizi için mantık kurar: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Her kod tekrarını say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Toplam kod sayısına böl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Yüzde hesapla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İlk 5 baskın kodu sırala</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özellikle tema yoğunluğunu yorumlamada güçlüdür.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9898334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936EE-B0A6-E0BC-2E2F-B15F330E6CB3}"/>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4CB62914-F32C-CFFD-30C7-6D4E7ADF892B}"/>
              </a:ext>
            </a:extLst>
          </p:cNvPr>
          <p:cNvSpPr txBox="1"/>
          <p:nvPr/>
        </p:nvSpPr>
        <p:spPr>
          <a:xfrm>
            <a:off x="457200" y="1536970"/>
            <a:ext cx="10048673" cy="5487400"/>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Genel Değerlendirme</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PAL’ın akademik araştırmalardaki en büyük gücü, yorumları hesaplanabilir kurallara dönüştürmesidir.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nedenle özellikle şu alanlarda çok etkilidir: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Ölçek güvenirlik analizi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SEM doğrulama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Bibliyometrik veri temizleme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Sınav puanlama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Nitel frekans hesaplama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İçerik analizi yüzdeleri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Veri doğrulama süreçleri </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6457823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14497-B04E-98AD-69E5-E711121944E6}"/>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6A5F81FF-1589-0285-FF8A-B13367A4FDDC}"/>
              </a:ext>
            </a:extLst>
          </p:cNvPr>
          <p:cNvSpPr txBox="1"/>
          <p:nvPr/>
        </p:nvSpPr>
        <p:spPr>
          <a:xfrm>
            <a:off x="457200" y="1536970"/>
            <a:ext cx="10048673" cy="4294252"/>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Güçlü yönleri</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Sayısal doğruluk sağlar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Tekrar üretilebilir analiz kurar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İstatistiksel yorum hatalarını azaltır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Kod ve veri temizliğinde yüksek güvenilirlik verir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Sınırlılıkları</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Yanlış formül veya yanlış kural tanımlanırsa hata sistematikleşir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9219093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403DA-E74B-F916-1581-1DBC1E856BF5}"/>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373F9096-0BEB-9105-BB7E-DDF5D555B7C1}"/>
              </a:ext>
            </a:extLst>
          </p:cNvPr>
          <p:cNvSpPr txBox="1"/>
          <p:nvPr/>
        </p:nvSpPr>
        <p:spPr>
          <a:xfrm>
            <a:off x="564204" y="2071991"/>
            <a:ext cx="9941669" cy="2998513"/>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2.2 Action-</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İstatistik ve bibliyometrik hassasiyeti yüksek akademik işlerde en ideal kombinasyon:</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PAL + </a:t>
            </a:r>
            <a:r>
              <a:rPr lang="tr-TR" sz="2000" b="1" dirty="0" err="1">
                <a:solidFill>
                  <a:schemeClr val="tx2"/>
                </a:solidFill>
                <a:latin typeface="Calibri" panose="020F0502020204030204" pitchFamily="34" charset="0"/>
                <a:cs typeface="Calibri" panose="020F0502020204030204" pitchFamily="34" charset="0"/>
              </a:rPr>
              <a:t>CoT</a:t>
            </a:r>
            <a:r>
              <a:rPr lang="tr-TR" sz="2000" b="1" dirty="0">
                <a:solidFill>
                  <a:schemeClr val="tx2"/>
                </a:solidFill>
                <a:latin typeface="Calibri" panose="020F0502020204030204" pitchFamily="34" charset="0"/>
                <a:cs typeface="Calibri" panose="020F0502020204030204" pitchFamily="34" charset="0"/>
              </a:rPr>
              <a:t> + RAG şeklindedir.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PAL → hesaplar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a:t>
            </a:r>
            <a:r>
              <a:rPr lang="tr-TR" sz="2000" b="1" dirty="0" err="1">
                <a:solidFill>
                  <a:srgbClr val="0070C0"/>
                </a:solidFill>
                <a:latin typeface="Calibri" panose="020F0502020204030204" pitchFamily="34" charset="0"/>
                <a:cs typeface="Calibri" panose="020F0502020204030204" pitchFamily="34" charset="0"/>
              </a:rPr>
              <a:t>CoT</a:t>
            </a:r>
            <a:r>
              <a:rPr lang="tr-TR" sz="2000" b="1" dirty="0">
                <a:solidFill>
                  <a:srgbClr val="0070C0"/>
                </a:solidFill>
                <a:latin typeface="Calibri" panose="020F0502020204030204" pitchFamily="34" charset="0"/>
                <a:cs typeface="Calibri" panose="020F0502020204030204" pitchFamily="34" charset="0"/>
              </a:rPr>
              <a:t> → yorumlar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RAG → literatür eşikleriyle doğrular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835518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03B10-C2F5-3854-AA5D-80C8813D2C6E}"/>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3FE6AA46-2BDC-21DD-8E4F-5CCE88B14226}"/>
              </a:ext>
            </a:extLst>
          </p:cNvPr>
          <p:cNvSpPr txBox="1"/>
          <p:nvPr/>
        </p:nvSpPr>
        <p:spPr>
          <a:xfrm>
            <a:off x="573932" y="729575"/>
            <a:ext cx="9931941" cy="5325304"/>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Knowledge-</a:t>
            </a:r>
            <a:r>
              <a:rPr lang="tr-TR" sz="2000" b="1" dirty="0" err="1">
                <a:solidFill>
                  <a:schemeClr val="tx2"/>
                </a:solidFill>
                <a:latin typeface="Calibri" panose="020F0502020204030204" pitchFamily="34" charset="0"/>
                <a:cs typeface="Calibri" panose="020F0502020204030204" pitchFamily="34" charset="0"/>
              </a:rPr>
              <a:t>based</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prompt</a:t>
            </a:r>
            <a:r>
              <a:rPr lang="tr-TR" sz="2000" b="1" dirty="0">
                <a:solidFill>
                  <a:schemeClr val="tx2"/>
                </a:solidFill>
                <a:latin typeface="Calibri" panose="020F0502020204030204" pitchFamily="34" charset="0"/>
                <a:cs typeface="Calibri" panose="020F0502020204030204" pitchFamily="34" charset="0"/>
              </a:rPr>
              <a:t> stratejileri</a:t>
            </a:r>
            <a:r>
              <a:rPr lang="tr-TR" sz="2000" b="1" dirty="0">
                <a:solidFill>
                  <a:srgbClr val="0070C0"/>
                </a:solidFill>
                <a:latin typeface="Calibri" panose="020F0502020204030204" pitchFamily="34" charset="0"/>
                <a:cs typeface="Calibri" panose="020F0502020204030204" pitchFamily="34" charset="0"/>
              </a:rPr>
              <a:t>, yapay zekâ çıktılarında olgusal doğruluğu, kaynak bağlılığını ve bağlamsal güvenilirliği artırmak için kullanılan en güçlü ileri </a:t>
            </a:r>
            <a:r>
              <a:rPr lang="tr-TR" sz="2000" b="1" dirty="0" err="1">
                <a:solidFill>
                  <a:srgbClr val="0070C0"/>
                </a:solidFill>
                <a:latin typeface="Calibri" panose="020F0502020204030204" pitchFamily="34" charset="0"/>
                <a:cs typeface="Calibri" panose="020F0502020204030204" pitchFamily="34" charset="0"/>
              </a:rPr>
              <a:t>prompting</a:t>
            </a:r>
            <a:r>
              <a:rPr lang="tr-TR" sz="2000" b="1" dirty="0">
                <a:solidFill>
                  <a:srgbClr val="0070C0"/>
                </a:solidFill>
                <a:latin typeface="Calibri" panose="020F0502020204030204" pitchFamily="34" charset="0"/>
                <a:cs typeface="Calibri" panose="020F0502020204030204" pitchFamily="34" charset="0"/>
              </a:rPr>
              <a:t> katmanıdır. </a:t>
            </a:r>
            <a:r>
              <a:rPr lang="tr-TR" sz="2000" b="1" dirty="0" err="1">
                <a:solidFill>
                  <a:schemeClr val="tx2"/>
                </a:solidFill>
                <a:latin typeface="Calibri" panose="020F0502020204030204" pitchFamily="34" charset="0"/>
                <a:cs typeface="Calibri" panose="020F0502020204030204" pitchFamily="34" charset="0"/>
              </a:rPr>
              <a:t>Reasoning-based</a:t>
            </a:r>
            <a:r>
              <a:rPr lang="tr-TR" sz="2000" b="1" dirty="0">
                <a:solidFill>
                  <a:schemeClr val="tx2"/>
                </a:solidFill>
                <a:latin typeface="Calibri" panose="020F0502020204030204" pitchFamily="34" charset="0"/>
                <a:cs typeface="Calibri" panose="020F0502020204030204" pitchFamily="34" charset="0"/>
              </a:rPr>
              <a:t> stratejiler </a:t>
            </a:r>
            <a:r>
              <a:rPr lang="tr-TR" sz="2000" b="1" dirty="0">
                <a:solidFill>
                  <a:srgbClr val="0070C0"/>
                </a:solidFill>
                <a:latin typeface="Calibri" panose="020F0502020204030204" pitchFamily="34" charset="0"/>
                <a:cs typeface="Calibri" panose="020F0502020204030204" pitchFamily="34" charset="0"/>
              </a:rPr>
              <a:t>düşünme kalitesini, </a:t>
            </a:r>
            <a:r>
              <a:rPr lang="tr-TR" sz="2000" b="1" dirty="0">
                <a:solidFill>
                  <a:schemeClr val="tx2"/>
                </a:solidFill>
                <a:latin typeface="Calibri" panose="020F0502020204030204" pitchFamily="34" charset="0"/>
                <a:cs typeface="Calibri" panose="020F0502020204030204" pitchFamily="34" charset="0"/>
              </a:rPr>
              <a:t>Action-</a:t>
            </a:r>
            <a:r>
              <a:rPr lang="tr-TR" sz="2000" b="1" dirty="0" err="1">
                <a:solidFill>
                  <a:schemeClr val="tx2"/>
                </a:solidFill>
                <a:latin typeface="Calibri" panose="020F0502020204030204" pitchFamily="34" charset="0"/>
                <a:cs typeface="Calibri" panose="020F0502020204030204" pitchFamily="34" charset="0"/>
              </a:rPr>
              <a:t>based</a:t>
            </a:r>
            <a:r>
              <a:rPr lang="tr-TR" sz="2000" b="1" dirty="0">
                <a:solidFill>
                  <a:schemeClr val="tx2"/>
                </a:solidFill>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stratejiler ise süreç yönetimini güçlendirirken;</a:t>
            </a:r>
            <a:r>
              <a:rPr lang="tr-TR" sz="2000" b="1" dirty="0">
                <a:solidFill>
                  <a:schemeClr val="tx2"/>
                </a:solidFill>
                <a:latin typeface="Calibri" panose="020F0502020204030204" pitchFamily="34" charset="0"/>
                <a:cs typeface="Calibri" panose="020F0502020204030204" pitchFamily="34" charset="0"/>
              </a:rPr>
              <a:t> Knowledge-</a:t>
            </a:r>
            <a:r>
              <a:rPr lang="tr-TR" sz="2000" b="1" dirty="0" err="1">
                <a:solidFill>
                  <a:schemeClr val="tx2"/>
                </a:solidFill>
                <a:latin typeface="Calibri" panose="020F0502020204030204" pitchFamily="34" charset="0"/>
                <a:cs typeface="Calibri" panose="020F0502020204030204" pitchFamily="34" charset="0"/>
              </a:rPr>
              <a:t>based</a:t>
            </a:r>
            <a:r>
              <a:rPr lang="tr-TR" sz="2000" b="1" dirty="0">
                <a:solidFill>
                  <a:schemeClr val="tx2"/>
                </a:solidFill>
                <a:latin typeface="Calibri" panose="020F0502020204030204" pitchFamily="34" charset="0"/>
                <a:cs typeface="Calibri" panose="020F0502020204030204" pitchFamily="34" charset="0"/>
              </a:rPr>
              <a:t> yaklaşım </a:t>
            </a:r>
            <a:r>
              <a:rPr lang="tr-TR" sz="2000" b="1" dirty="0">
                <a:solidFill>
                  <a:srgbClr val="0070C0"/>
                </a:solidFill>
                <a:latin typeface="Calibri" panose="020F0502020204030204" pitchFamily="34" charset="0"/>
                <a:cs typeface="Calibri" panose="020F0502020204030204" pitchFamily="34" charset="0"/>
              </a:rPr>
              <a:t>doğrudan bilginin doğrulanmış kaynaklara dayanmasını sağlar.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Akademik araştırmalarda bu, özellikle literatür taraması, kuramsal çerçeve yazımı, veri tabanı analizi, tez bölümleri arasında bağlam koruma ve hakemlik süreçlerinde kritik öneme sahiptir. Model yalnızca kendi genel bilgisinden cevap üretmek yerine, yüklenen makaleler, tezler, veri setleri, ders notları, kurumsal raporlar veya önceki bölüm içerikleri gibi dış bilgi kaynaklarını kullanarak daha güvenilir çıktılar oluşturur. Bu sayede halüsinasyon riski azalır, kavramsal hatalar düşer ve akademik üslup gerçek veriye daha sıkı bağlanır. Özellikle </a:t>
            </a:r>
            <a:r>
              <a:rPr lang="tr-TR" sz="2000" b="1" dirty="0">
                <a:solidFill>
                  <a:schemeClr val="tx2"/>
                </a:solidFill>
                <a:latin typeface="Calibri" panose="020F0502020204030204" pitchFamily="34" charset="0"/>
                <a:cs typeface="Calibri" panose="020F0502020204030204" pitchFamily="34" charset="0"/>
              </a:rPr>
              <a:t>RAG </a:t>
            </a:r>
            <a:r>
              <a:rPr lang="tr-TR" sz="2000" b="1" dirty="0">
                <a:solidFill>
                  <a:srgbClr val="0070C0"/>
                </a:solidFill>
                <a:latin typeface="Calibri" panose="020F0502020204030204" pitchFamily="34" charset="0"/>
                <a:cs typeface="Calibri" panose="020F0502020204030204" pitchFamily="34" charset="0"/>
              </a:rPr>
              <a:t>yaklaşımı dış kaynaklardan bilgi çekerek literatür doğruluğunu artırırken, </a:t>
            </a:r>
            <a:r>
              <a:rPr lang="tr-TR" sz="2000" b="1" dirty="0">
                <a:solidFill>
                  <a:schemeClr val="tx2"/>
                </a:solidFill>
                <a:latin typeface="Calibri" panose="020F0502020204030204" pitchFamily="34" charset="0"/>
                <a:cs typeface="Calibri" panose="020F0502020204030204" pitchFamily="34" charset="0"/>
              </a:rPr>
              <a:t>CAG </a:t>
            </a:r>
            <a:r>
              <a:rPr lang="tr-TR" sz="2000" b="1" dirty="0">
                <a:solidFill>
                  <a:srgbClr val="0070C0"/>
                </a:solidFill>
                <a:latin typeface="Calibri" panose="020F0502020204030204" pitchFamily="34" charset="0"/>
                <a:cs typeface="Calibri" panose="020F0502020204030204" pitchFamily="34" charset="0"/>
              </a:rPr>
              <a:t>mevcut çalışma bağlamını koruyarak bölüm içi tutarlılığı güçlendirir. </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684568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24B5D-82FB-045C-97DA-044F83142C4B}"/>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D46E2F87-CAAD-3EB0-7DF4-238BE114FC36}"/>
              </a:ext>
            </a:extLst>
          </p:cNvPr>
          <p:cNvSpPr txBox="1"/>
          <p:nvPr/>
        </p:nvSpPr>
        <p:spPr>
          <a:xfrm>
            <a:off x="573932" y="729575"/>
            <a:ext cx="9931941" cy="4871847"/>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2.3.1 RAG</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RAG </a:t>
            </a:r>
            <a:r>
              <a:rPr lang="tr-TR" sz="2000" b="1" dirty="0" err="1">
                <a:solidFill>
                  <a:schemeClr val="tx2"/>
                </a:solidFill>
                <a:latin typeface="Calibri" panose="020F0502020204030204" pitchFamily="34" charset="0"/>
                <a:cs typeface="Calibri" panose="020F0502020204030204" pitchFamily="34" charset="0"/>
              </a:rPr>
              <a:t>prompting</a:t>
            </a:r>
            <a:r>
              <a:rPr lang="tr-TR" sz="2000" b="1" dirty="0">
                <a:solidFill>
                  <a:schemeClr val="tx2"/>
                </a:solidFill>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akademik görevlerde önce dış kaynaktan ilgili veriyi getirip sonra bu veriye bağlı çıktı üreten stratejidir. En büyük avantajı, metnin yalnızca</a:t>
            </a:r>
            <a:r>
              <a:rPr lang="tr-TR" sz="2000" b="1" dirty="0">
                <a:solidFill>
                  <a:schemeClr val="tx2"/>
                </a:solidFill>
                <a:latin typeface="Calibri" panose="020F0502020204030204" pitchFamily="34" charset="0"/>
                <a:cs typeface="Calibri" panose="020F0502020204030204" pitchFamily="34" charset="0"/>
              </a:rPr>
              <a:t> “iyi yazılmış” </a:t>
            </a:r>
            <a:r>
              <a:rPr lang="tr-TR" sz="2000" b="1" dirty="0">
                <a:solidFill>
                  <a:srgbClr val="0070C0"/>
                </a:solidFill>
                <a:latin typeface="Calibri" panose="020F0502020204030204" pitchFamily="34" charset="0"/>
                <a:cs typeface="Calibri" panose="020F0502020204030204" pitchFamily="34" charset="0"/>
              </a:rPr>
              <a:t>değil, aynı zamanda </a:t>
            </a:r>
            <a:r>
              <a:rPr lang="tr-TR" sz="2000" b="1" dirty="0">
                <a:solidFill>
                  <a:schemeClr val="tx2"/>
                </a:solidFill>
                <a:latin typeface="Calibri" panose="020F0502020204030204" pitchFamily="34" charset="0"/>
                <a:cs typeface="Calibri" panose="020F0502020204030204" pitchFamily="34" charset="0"/>
              </a:rPr>
              <a:t>“kanıta dayalı ve doğrulanabilir “ </a:t>
            </a:r>
            <a:r>
              <a:rPr lang="tr-TR" sz="2000" b="1" dirty="0">
                <a:solidFill>
                  <a:srgbClr val="0070C0"/>
                </a:solidFill>
                <a:latin typeface="Calibri" panose="020F0502020204030204" pitchFamily="34" charset="0"/>
                <a:cs typeface="Calibri" panose="020F0502020204030204" pitchFamily="34" charset="0"/>
              </a:rPr>
              <a:t>olmasıdır.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RAG (</a:t>
            </a:r>
            <a:r>
              <a:rPr lang="tr-TR" sz="2000" b="1" dirty="0" err="1">
                <a:solidFill>
                  <a:schemeClr val="tx2"/>
                </a:solidFill>
                <a:latin typeface="Calibri" panose="020F0502020204030204" pitchFamily="34" charset="0"/>
                <a:cs typeface="Calibri" panose="020F0502020204030204" pitchFamily="34" charset="0"/>
              </a:rPr>
              <a:t>Retrieval-Augmented</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Generation</a:t>
            </a:r>
            <a:r>
              <a:rPr lang="tr-TR" sz="2000" b="1" dirty="0">
                <a:solidFill>
                  <a:schemeClr val="tx2"/>
                </a:solidFill>
                <a:latin typeface="Calibri" panose="020F0502020204030204" pitchFamily="34" charset="0"/>
                <a:cs typeface="Calibri" panose="020F0502020204030204" pitchFamily="34" charset="0"/>
              </a:rPr>
              <a:t>), akademik araştırmalarda bilgi temelli doğruluğu en güçlü biçimde artıran </a:t>
            </a:r>
            <a:r>
              <a:rPr lang="tr-TR" sz="2000" b="1" dirty="0" err="1">
                <a:solidFill>
                  <a:schemeClr val="tx2"/>
                </a:solidFill>
                <a:latin typeface="Calibri" panose="020F0502020204030204" pitchFamily="34" charset="0"/>
                <a:cs typeface="Calibri" panose="020F0502020204030204" pitchFamily="34" charset="0"/>
              </a:rPr>
              <a:t>knowledge-based</a:t>
            </a:r>
            <a:r>
              <a:rPr lang="tr-TR" sz="2000" b="1" dirty="0">
                <a:solidFill>
                  <a:schemeClr val="tx2"/>
                </a:solidFill>
                <a:latin typeface="Calibri" panose="020F0502020204030204" pitchFamily="34" charset="0"/>
                <a:cs typeface="Calibri" panose="020F0502020204030204" pitchFamily="34" charset="0"/>
              </a:rPr>
              <a:t> stratejidir.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yaklaşımda model yalnızca kendi parametre bilgisinden cevap üretmez. Önce güvenilir dış kaynaklardan ilgili bilgiyi getirir (</a:t>
            </a:r>
            <a:r>
              <a:rPr lang="tr-TR" sz="2000" b="1" dirty="0" err="1">
                <a:solidFill>
                  <a:srgbClr val="0070C0"/>
                </a:solidFill>
                <a:latin typeface="Calibri" panose="020F0502020204030204" pitchFamily="34" charset="0"/>
                <a:cs typeface="Calibri" panose="020F0502020204030204" pitchFamily="34" charset="0"/>
              </a:rPr>
              <a:t>retrieval</a:t>
            </a:r>
            <a:r>
              <a:rPr lang="tr-TR" sz="2000" b="1" dirty="0">
                <a:solidFill>
                  <a:srgbClr val="0070C0"/>
                </a:solidFill>
                <a:latin typeface="Calibri" panose="020F0502020204030204" pitchFamily="34" charset="0"/>
                <a:cs typeface="Calibri" panose="020F0502020204030204" pitchFamily="34" charset="0"/>
              </a:rPr>
              <a:t>), sonra bu bilgiye dayanarak akademik metni üretir (</a:t>
            </a:r>
            <a:r>
              <a:rPr lang="tr-TR" sz="2000" b="1" dirty="0" err="1">
                <a:solidFill>
                  <a:srgbClr val="0070C0"/>
                </a:solidFill>
                <a:latin typeface="Calibri" panose="020F0502020204030204" pitchFamily="34" charset="0"/>
                <a:cs typeface="Calibri" panose="020F0502020204030204" pitchFamily="34" charset="0"/>
              </a:rPr>
              <a:t>generation</a:t>
            </a:r>
            <a:r>
              <a:rPr lang="tr-TR" sz="2000" b="1" dirty="0">
                <a:solidFill>
                  <a:srgbClr val="0070C0"/>
                </a:solidFill>
                <a:latin typeface="Calibri" panose="020F0502020204030204" pitchFamily="34" charset="0"/>
                <a:cs typeface="Calibri" panose="020F0502020204030204" pitchFamily="34" charset="0"/>
              </a:rPr>
              <a:t>). Bu yüzden özellikle SCOPUS, </a:t>
            </a:r>
            <a:r>
              <a:rPr lang="tr-TR" sz="2000" b="1" dirty="0" err="1">
                <a:solidFill>
                  <a:srgbClr val="0070C0"/>
                </a:solidFill>
                <a:latin typeface="Calibri" panose="020F0502020204030204" pitchFamily="34" charset="0"/>
                <a:cs typeface="Calibri" panose="020F0502020204030204" pitchFamily="34" charset="0"/>
              </a:rPr>
              <a:t>WoS</a:t>
            </a:r>
            <a:r>
              <a:rPr lang="tr-TR" sz="2000" b="1" dirty="0">
                <a:solidFill>
                  <a:srgbClr val="0070C0"/>
                </a:solidFill>
                <a:latin typeface="Calibri" panose="020F0502020204030204" pitchFamily="34" charset="0"/>
                <a:cs typeface="Calibri" panose="020F0502020204030204" pitchFamily="34" charset="0"/>
              </a:rPr>
              <a:t>, YÖK Atlas, TIMSS, MEB belgeleri, tezler ve yüklenen makalelerle çalışan araştırmacılar için</a:t>
            </a:r>
            <a:r>
              <a:rPr lang="tr-TR" sz="2000" b="1" dirty="0">
                <a:solidFill>
                  <a:schemeClr val="tx2"/>
                </a:solidFill>
                <a:latin typeface="Calibri" panose="020F0502020204030204" pitchFamily="34" charset="0"/>
                <a:cs typeface="Calibri" panose="020F0502020204030204" pitchFamily="34" charset="0"/>
              </a:rPr>
              <a:t> akademik halüsinasyonu azaltan </a:t>
            </a:r>
            <a:r>
              <a:rPr lang="tr-TR" sz="2000" b="1" dirty="0">
                <a:solidFill>
                  <a:srgbClr val="0070C0"/>
                </a:solidFill>
                <a:latin typeface="Calibri" panose="020F0502020204030204" pitchFamily="34" charset="0"/>
                <a:cs typeface="Calibri" panose="020F0502020204030204" pitchFamily="34" charset="0"/>
              </a:rPr>
              <a:t>ana güvenlik katmanı gibidir.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8218201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9BF3C-C653-67CD-4190-54843F699E76}"/>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E8A7607E-E5E1-FCC6-DE60-EAF973370D8C}"/>
              </a:ext>
            </a:extLst>
          </p:cNvPr>
          <p:cNvSpPr txBox="1"/>
          <p:nvPr/>
        </p:nvSpPr>
        <p:spPr>
          <a:xfrm>
            <a:off x="573932" y="729575"/>
            <a:ext cx="9931941" cy="5816721"/>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2.3.1 RAG</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SCOPUS makaleleriyle literatür özeti</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t>
            </a:r>
            <a:r>
              <a:rPr lang="tr-TR" sz="2000" b="1" dirty="0" err="1">
                <a:solidFill>
                  <a:schemeClr val="tx2"/>
                </a:solidFill>
                <a:latin typeface="Calibri" panose="020F0502020204030204" pitchFamily="34" charset="0"/>
                <a:cs typeface="Calibri" panose="020F0502020204030204" pitchFamily="34" charset="0"/>
              </a:rPr>
              <a:t>SCOPUS’ta</a:t>
            </a:r>
            <a:r>
              <a:rPr lang="tr-TR" sz="2000" b="1" dirty="0">
                <a:solidFill>
                  <a:schemeClr val="tx2"/>
                </a:solidFill>
                <a:latin typeface="Calibri" panose="020F0502020204030204" pitchFamily="34" charset="0"/>
                <a:cs typeface="Calibri" panose="020F0502020204030204" pitchFamily="34" charset="0"/>
              </a:rPr>
              <a:t> ‘AI in </a:t>
            </a:r>
            <a:r>
              <a:rPr lang="tr-TR" sz="2000" b="1" dirty="0" err="1">
                <a:solidFill>
                  <a:schemeClr val="tx2"/>
                </a:solidFill>
                <a:latin typeface="Calibri" panose="020F0502020204030204" pitchFamily="34" charset="0"/>
                <a:cs typeface="Calibri" panose="020F0502020204030204" pitchFamily="34" charset="0"/>
              </a:rPr>
              <a:t>school</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leadership</a:t>
            </a:r>
            <a:r>
              <a:rPr lang="tr-TR" sz="2000" b="1" dirty="0">
                <a:solidFill>
                  <a:schemeClr val="tx2"/>
                </a:solidFill>
                <a:latin typeface="Calibri" panose="020F0502020204030204" pitchFamily="34" charset="0"/>
                <a:cs typeface="Calibri" panose="020F0502020204030204" pitchFamily="34" charset="0"/>
              </a:rPr>
              <a:t>’ anahtar kelimesiyle indekslenen son 5 yıl makalelerini getir, ana eğilimleri çıkar ve 300 kelimelik literatür özeti yaz.”</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kullanım, literatür taramasında </a:t>
            </a:r>
            <a:r>
              <a:rPr lang="tr-TR" sz="2000" b="1" dirty="0" err="1">
                <a:solidFill>
                  <a:srgbClr val="0070C0"/>
                </a:solidFill>
                <a:latin typeface="Calibri" panose="020F0502020204030204" pitchFamily="34" charset="0"/>
                <a:cs typeface="Calibri" panose="020F0502020204030204" pitchFamily="34" charset="0"/>
              </a:rPr>
              <a:t>RAG’ın</a:t>
            </a:r>
            <a:r>
              <a:rPr lang="tr-TR" sz="2000" b="1" dirty="0">
                <a:solidFill>
                  <a:srgbClr val="0070C0"/>
                </a:solidFill>
                <a:latin typeface="Calibri" panose="020F0502020204030204" pitchFamily="34" charset="0"/>
                <a:cs typeface="Calibri" panose="020F0502020204030204" pitchFamily="34" charset="0"/>
              </a:rPr>
              <a:t> en güçlü örneklerinden biridir.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Model önce ilgili SCOPUS makalelerini getirir. Ardından kavramsal kümeleri çıkarır. Dijital liderlik, veri temelli yönetim, etik karar mekanizmaları, öğretmen desteği gibi.</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Son aşamada bu gerçek yayınlara dayalı özet üretir.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sayede literatür özeti soyut değil, doğrudan indeksli yayınlara bağlı olur.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Özellikle makale giriş bölümü için çok güçlüdür.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2194089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66DD1-C160-C5C2-B86A-08CC60B69CCA}"/>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42E7C7DB-94EF-C20C-0886-4FB8F279E99C}"/>
              </a:ext>
            </a:extLst>
          </p:cNvPr>
          <p:cNvSpPr txBox="1"/>
          <p:nvPr/>
        </p:nvSpPr>
        <p:spPr>
          <a:xfrm>
            <a:off x="573932" y="729575"/>
            <a:ext cx="9931941" cy="4952894"/>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2.3.1 RAG</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YÖK Atlas verileriyle bölüm analizi</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“YÖK Atlas’tan eğitim fakültelerinin 2022–2024 taban puan ve kontenjan verilerini getir, değişim eğilimlerini analiz et.”</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RAG burada YÖK Atlas verilerini doğrudan çekerek bölüm bazlı puan değişimleri, kontenjan hareketleri ve tercih eğilimlerini inceler.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Sonuçta yorumlar sezgisel değil, resmi veri kaynağına dayalı olur.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da akademik güvenilirliği ciddi biçimde artırır.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9847192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10ED9-6705-CBE1-3CC6-8E89CC9D75EE}"/>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CBE17E1A-19B0-EB5D-DF7B-529E241BBAE6}"/>
              </a:ext>
            </a:extLst>
          </p:cNvPr>
          <p:cNvSpPr txBox="1"/>
          <p:nvPr/>
        </p:nvSpPr>
        <p:spPr>
          <a:xfrm>
            <a:off x="573932" y="729575"/>
            <a:ext cx="9931941" cy="5714128"/>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2.3.1 RAG</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TIMSS raporlarıyla ülke karşılaştırması</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“TIMSS 2025 raporlarından Türkiye ve Litvanya matematik başarı göstergelerini getir, politika ve öğretim yapıları açısından karşılaştır.”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Uluslararası karşılaştırmalı eğitim araştırmalarında RAG çok kritiktir.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Model TIMSS raporlarından doğrudan başarı puanları, alt boyutlar ve politika göstergelerini çekebilir.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Sonra bu verileri öğretim programı, öğretmen niteliği ve merkezi sınav sistemleriyle ilişkilendirir.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karşılaştırmayı yüzeysel yorum olmaktan çıkarır.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1152628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83F21-98C4-77FA-DDE9-9FA2430233F9}"/>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6CE138A9-5821-1DD2-1C54-8ACCB8DDF1EA}"/>
              </a:ext>
            </a:extLst>
          </p:cNvPr>
          <p:cNvSpPr txBox="1"/>
          <p:nvPr/>
        </p:nvSpPr>
        <p:spPr>
          <a:xfrm>
            <a:off x="573932" y="729575"/>
            <a:ext cx="9931941" cy="5816721"/>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2.3.1 RAG</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MEB politika belgeleriyle eğitim analizi</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“MEB’in yapay zekâ, dijital dönüşüm ve öğretmen yeterlilik belgelerini getir. Okul liderliği politikaları açısından analiz et.”</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kullanım özellikle eğitim yönetimi araştırmaları için çok değerlidir.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RAG burada doğrudan resmi politika belgelerine dayanır.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Örneğin dijital yeterlilikler, öğretmen gelişimi ve okul liderliği sorumlulukları belge üzerinden yorumlanır.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makaleyi normatif ve belge temelli hale getirir.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Özellikle politika analizi bölümlerinde güçlüdür.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5705702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66133-2723-0288-3794-9AF37B9B9795}"/>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3A75BFAC-A9BC-B782-140B-82F58B4C69F6}"/>
              </a:ext>
            </a:extLst>
          </p:cNvPr>
          <p:cNvSpPr txBox="1"/>
          <p:nvPr/>
        </p:nvSpPr>
        <p:spPr>
          <a:xfrm>
            <a:off x="573932" y="729575"/>
            <a:ext cx="9931941" cy="5384807"/>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2.3.1 RAG</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Hakem raporunu yüklenen makale üzerinden oluşturma</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“Yüklediğim makaleyi temel alarak kuramsal çerçeve, yöntem, bulgular ve sonuç açısından eleştirel bir hakem raporu hazırla.”</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RAG burada dış bilgi kaynağı olarak doğrudan yüklenen makalenin kendisini kullanır.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Böylece eleştiri genel bilgiye değil, gerçek metindeki teori, örneklem, analiz ve tartışma kalitesine dayanır.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yüzden halüsinasyon riski ciddi biçimde düşer.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Özellikle hakemlik ve tez danışmanlığı için mükemmeldir.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0140698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75CED-6C8E-D596-762C-99F4A7907692}"/>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89CD1334-1CB3-C1DB-D34C-967AE1590513}"/>
              </a:ext>
            </a:extLst>
          </p:cNvPr>
          <p:cNvSpPr txBox="1"/>
          <p:nvPr/>
        </p:nvSpPr>
        <p:spPr>
          <a:xfrm>
            <a:off x="573932" y="729575"/>
            <a:ext cx="9931941" cy="5589992"/>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2.3.1 RAG</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Genel Değerlendirme</a:t>
            </a:r>
          </a:p>
          <a:p>
            <a:pPr>
              <a:lnSpc>
                <a:spcPct val="107000"/>
              </a:lnSpc>
              <a:spcAft>
                <a:spcPts val="800"/>
              </a:spcAft>
            </a:pPr>
            <a:r>
              <a:rPr lang="tr-TR" sz="2000" b="1" dirty="0" err="1">
                <a:solidFill>
                  <a:schemeClr val="tx2"/>
                </a:solidFill>
                <a:latin typeface="Calibri" panose="020F0502020204030204" pitchFamily="34" charset="0"/>
                <a:cs typeface="Calibri" panose="020F0502020204030204" pitchFamily="34" charset="0"/>
              </a:rPr>
              <a:t>RAG’ın</a:t>
            </a:r>
            <a:r>
              <a:rPr lang="tr-TR" sz="2000" b="1" dirty="0">
                <a:solidFill>
                  <a:schemeClr val="tx2"/>
                </a:solidFill>
                <a:latin typeface="Calibri" panose="020F0502020204030204" pitchFamily="34" charset="0"/>
                <a:cs typeface="Calibri" panose="020F0502020204030204" pitchFamily="34" charset="0"/>
              </a:rPr>
              <a:t> akademik çalışmalardaki en büyük gücü, çıktıyı gerçek kaynaklara bağlamasıdır.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nedenle özellikle şu alanlarda çok etkilidir: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Literatür taraması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Resmi veri seti analizi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Bibliyometrik çalışma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Uluslararası rapor karşılaştırmaları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Politika dokümanı incelemesi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Hakem raporları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Tez belge temelli yazım </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659910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227EA-9788-3998-6B08-C90FE70CB69C}"/>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E620146D-7819-05E6-AF72-F01FB75A5E0C}"/>
              </a:ext>
            </a:extLst>
          </p:cNvPr>
          <p:cNvSpPr txBox="1"/>
          <p:nvPr/>
        </p:nvSpPr>
        <p:spPr>
          <a:xfrm>
            <a:off x="573932" y="729575"/>
            <a:ext cx="9931941" cy="4726166"/>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2.3.1 RAG</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Güçlü yönleri</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Akademik halüsinasyonu azaltır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Kaynak bağlı doğruluk sağlar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Resmi veri tabanlarıyla çalışır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Hakemlikte metin temelli eleştiri üretir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Sınırlılıklar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Zayıf veya yanlış kaynak çekilirse sonuç da yanlış olur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2491850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0992D-4CB7-38E0-ED36-4B743414CF06}"/>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07CAE1F6-6AD5-3F9D-364B-E107F298AC37}"/>
              </a:ext>
            </a:extLst>
          </p:cNvPr>
          <p:cNvSpPr txBox="1"/>
          <p:nvPr/>
        </p:nvSpPr>
        <p:spPr>
          <a:xfrm>
            <a:off x="593387" y="1468877"/>
            <a:ext cx="9912486" cy="3430426"/>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2.3.1 RAG</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Yüksek doğruluk isteyen akademik üretimlerde en güçlü kombinasyon:</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RAG + </a:t>
            </a:r>
            <a:r>
              <a:rPr lang="tr-TR" sz="2000" b="1" dirty="0" err="1">
                <a:solidFill>
                  <a:schemeClr val="tx2"/>
                </a:solidFill>
                <a:latin typeface="Calibri" panose="020F0502020204030204" pitchFamily="34" charset="0"/>
                <a:cs typeface="Calibri" panose="020F0502020204030204" pitchFamily="34" charset="0"/>
              </a:rPr>
              <a:t>Few-shot</a:t>
            </a:r>
            <a:r>
              <a:rPr lang="tr-TR" sz="2000" b="1" dirty="0">
                <a:solidFill>
                  <a:schemeClr val="tx2"/>
                </a:solidFill>
                <a:latin typeface="Calibri" panose="020F0502020204030204" pitchFamily="34" charset="0"/>
                <a:cs typeface="Calibri" panose="020F0502020204030204" pitchFamily="34" charset="0"/>
              </a:rPr>
              <a:t> + </a:t>
            </a:r>
            <a:r>
              <a:rPr lang="tr-TR" sz="2000" b="1" dirty="0" err="1">
                <a:solidFill>
                  <a:schemeClr val="tx2"/>
                </a:solidFill>
                <a:latin typeface="Calibri" panose="020F0502020204030204" pitchFamily="34" charset="0"/>
                <a:cs typeface="Calibri" panose="020F0502020204030204" pitchFamily="34" charset="0"/>
              </a:rPr>
              <a:t>CoT</a:t>
            </a:r>
            <a:r>
              <a:rPr lang="tr-TR" sz="2000" b="1" dirty="0">
                <a:solidFill>
                  <a:schemeClr val="tx2"/>
                </a:solidFill>
                <a:latin typeface="Calibri" panose="020F0502020204030204" pitchFamily="34" charset="0"/>
                <a:cs typeface="Calibri" panose="020F0502020204030204" pitchFamily="34" charset="0"/>
              </a:rPr>
              <a:t> şeklindedir.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RAG → doğru kaynağı getirir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a:t>
            </a:r>
            <a:r>
              <a:rPr lang="tr-TR" sz="2000" b="1" dirty="0" err="1">
                <a:solidFill>
                  <a:srgbClr val="0070C0"/>
                </a:solidFill>
                <a:latin typeface="Calibri" panose="020F0502020204030204" pitchFamily="34" charset="0"/>
                <a:cs typeface="Calibri" panose="020F0502020204030204" pitchFamily="34" charset="0"/>
              </a:rPr>
              <a:t>Few-shot</a:t>
            </a:r>
            <a:r>
              <a:rPr lang="tr-TR" sz="2000" b="1" dirty="0">
                <a:solidFill>
                  <a:srgbClr val="0070C0"/>
                </a:solidFill>
                <a:latin typeface="Calibri" panose="020F0502020204030204" pitchFamily="34" charset="0"/>
                <a:cs typeface="Calibri" panose="020F0502020204030204" pitchFamily="34" charset="0"/>
              </a:rPr>
              <a:t> → akademik biçimi korur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a:t>
            </a:r>
            <a:r>
              <a:rPr lang="tr-TR" sz="2000" b="1" dirty="0" err="1">
                <a:solidFill>
                  <a:srgbClr val="0070C0"/>
                </a:solidFill>
                <a:latin typeface="Calibri" panose="020F0502020204030204" pitchFamily="34" charset="0"/>
                <a:cs typeface="Calibri" panose="020F0502020204030204" pitchFamily="34" charset="0"/>
              </a:rPr>
              <a:t>CoT</a:t>
            </a:r>
            <a:r>
              <a:rPr lang="tr-TR" sz="2000" b="1" dirty="0">
                <a:solidFill>
                  <a:srgbClr val="0070C0"/>
                </a:solidFill>
                <a:latin typeface="Calibri" panose="020F0502020204030204" pitchFamily="34" charset="0"/>
                <a:cs typeface="Calibri" panose="020F0502020204030204" pitchFamily="34" charset="0"/>
              </a:rPr>
              <a:t> → mantıksal yorumu kurar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7113096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FE160-3FBE-590D-8A91-7283D588C525}"/>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EC9EB145-FE6A-1638-E25B-BFBCDD9738BB}"/>
              </a:ext>
            </a:extLst>
          </p:cNvPr>
          <p:cNvSpPr txBox="1"/>
          <p:nvPr/>
        </p:nvSpPr>
        <p:spPr>
          <a:xfrm>
            <a:off x="651753" y="992221"/>
            <a:ext cx="9854120" cy="5303760"/>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2.3.2 CAG</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CAG </a:t>
            </a:r>
            <a:r>
              <a:rPr lang="tr-TR" sz="2000" b="1" dirty="0" err="1">
                <a:solidFill>
                  <a:schemeClr val="tx2"/>
                </a:solidFill>
                <a:latin typeface="Calibri" panose="020F0502020204030204" pitchFamily="34" charset="0"/>
                <a:cs typeface="Calibri" panose="020F0502020204030204" pitchFamily="34" charset="0"/>
              </a:rPr>
              <a:t>prompting</a:t>
            </a:r>
            <a:r>
              <a:rPr lang="tr-TR" sz="2000" b="1" dirty="0">
                <a:solidFill>
                  <a:schemeClr val="tx2"/>
                </a:solidFill>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modelin yeni akademik çıktıyı üretirken önceden verilmiş bağlamı aktif biçimde korumasını ve genişletmesini sağlayan stratejidir. En büyük avantajı, metnin yeni kısmının önceki parçalarla aynı kavramsal evrende kalmasıdır.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CAG (</a:t>
            </a:r>
            <a:r>
              <a:rPr lang="tr-TR" sz="2000" b="1" dirty="0" err="1">
                <a:solidFill>
                  <a:schemeClr val="tx2"/>
                </a:solidFill>
                <a:latin typeface="Calibri" panose="020F0502020204030204" pitchFamily="34" charset="0"/>
                <a:cs typeface="Calibri" panose="020F0502020204030204" pitchFamily="34" charset="0"/>
              </a:rPr>
              <a:t>Context-Augmented</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Generation</a:t>
            </a:r>
            <a:r>
              <a:rPr lang="tr-TR" sz="2000" b="1" dirty="0">
                <a:solidFill>
                  <a:schemeClr val="tx2"/>
                </a:solidFill>
                <a:latin typeface="Calibri" panose="020F0502020204030204" pitchFamily="34" charset="0"/>
                <a:cs typeface="Calibri" panose="020F0502020204030204" pitchFamily="34" charset="0"/>
              </a:rPr>
              <a:t>), </a:t>
            </a:r>
            <a:r>
              <a:rPr lang="tr-TR" sz="2000" b="1" dirty="0">
                <a:solidFill>
                  <a:srgbClr val="0070C0"/>
                </a:solidFill>
                <a:latin typeface="Calibri" panose="020F0502020204030204" pitchFamily="34" charset="0"/>
                <a:cs typeface="Calibri" panose="020F0502020204030204" pitchFamily="34" charset="0"/>
              </a:rPr>
              <a:t>özellikle uzun akademik projelerde bölüm içi tutarlılığı, kavramsal sürekliliği ve yazar sesinin korunmasını sağlayan en güçlü </a:t>
            </a:r>
            <a:r>
              <a:rPr lang="tr-TR" sz="2000" b="1" dirty="0" err="1">
                <a:solidFill>
                  <a:schemeClr val="tx2"/>
                </a:solidFill>
                <a:latin typeface="Calibri" panose="020F0502020204030204" pitchFamily="34" charset="0"/>
                <a:cs typeface="Calibri" panose="020F0502020204030204" pitchFamily="34" charset="0"/>
              </a:rPr>
              <a:t>knowledge-based</a:t>
            </a:r>
            <a:r>
              <a:rPr lang="tr-TR" sz="2000" b="1" dirty="0">
                <a:solidFill>
                  <a:schemeClr val="tx2"/>
                </a:solidFill>
                <a:latin typeface="Calibri" panose="020F0502020204030204" pitchFamily="34" charset="0"/>
                <a:cs typeface="Calibri" panose="020F0502020204030204" pitchFamily="34" charset="0"/>
              </a:rPr>
              <a:t> stratejilerden </a:t>
            </a:r>
            <a:r>
              <a:rPr lang="tr-TR" sz="2000" b="1" dirty="0">
                <a:solidFill>
                  <a:srgbClr val="0070C0"/>
                </a:solidFill>
                <a:latin typeface="Calibri" panose="020F0502020204030204" pitchFamily="34" charset="0"/>
                <a:cs typeface="Calibri" panose="020F0502020204030204" pitchFamily="34" charset="0"/>
              </a:rPr>
              <a:t>biridir.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RAG </a:t>
            </a:r>
            <a:r>
              <a:rPr lang="tr-TR" sz="2000" b="1" dirty="0">
                <a:solidFill>
                  <a:srgbClr val="0070C0"/>
                </a:solidFill>
                <a:latin typeface="Calibri" panose="020F0502020204030204" pitchFamily="34" charset="0"/>
                <a:cs typeface="Calibri" panose="020F0502020204030204" pitchFamily="34" charset="0"/>
              </a:rPr>
              <a:t>dış kaynaktan yeni bilgi getirirken,</a:t>
            </a:r>
            <a:r>
              <a:rPr lang="tr-TR" sz="2000" b="1" dirty="0">
                <a:solidFill>
                  <a:schemeClr val="tx2"/>
                </a:solidFill>
                <a:latin typeface="Calibri" panose="020F0502020204030204" pitchFamily="34" charset="0"/>
                <a:cs typeface="Calibri" panose="020F0502020204030204" pitchFamily="34" charset="0"/>
              </a:rPr>
              <a:t> CAG </a:t>
            </a:r>
            <a:r>
              <a:rPr lang="tr-TR" sz="2000" b="1" dirty="0">
                <a:solidFill>
                  <a:srgbClr val="0070C0"/>
                </a:solidFill>
                <a:latin typeface="Calibri" panose="020F0502020204030204" pitchFamily="34" charset="0"/>
                <a:cs typeface="Calibri" panose="020F0502020204030204" pitchFamily="34" charset="0"/>
              </a:rPr>
              <a:t>mevcut bağlamı — yani önceki bölümler, yüklenen tezler, ders notları, hakem raporları, yazım tonu, kavramsal çerçeve ve metodolojik çizgi — derinleştirerek yeni çıktıyı buna uyumlu hale getirir.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Kitap, manifesto, tez, ders materyali ve çok parçalı akademik üretim yapan araştırmacılar için “bağlamsal tutarlılık motoru” gibi çalışır.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5622706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BE771-E528-C26F-BC66-21F3EA30CE64}"/>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EADDB261-9A86-EBED-8A41-E2482C4B1477}"/>
              </a:ext>
            </a:extLst>
          </p:cNvPr>
          <p:cNvSpPr txBox="1"/>
          <p:nvPr/>
        </p:nvSpPr>
        <p:spPr>
          <a:xfrm>
            <a:off x="661481" y="739303"/>
            <a:ext cx="9844392" cy="6043449"/>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2.3.2 CAG</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Yüklediğiniz tez üzerinden bulgu yazımı</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“Yüklediğim nitel tezde kullanılan tema ve alt tema mantığını koruyarak yeni görüşme sorusunun bulgularını yaz.”</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kullanım, özellikle tez yazımında </a:t>
            </a:r>
            <a:r>
              <a:rPr lang="tr-TR" sz="2000" b="1" dirty="0" err="1">
                <a:solidFill>
                  <a:schemeClr val="tx2"/>
                </a:solidFill>
                <a:latin typeface="Calibri" panose="020F0502020204030204" pitchFamily="34" charset="0"/>
                <a:cs typeface="Calibri" panose="020F0502020204030204" pitchFamily="34" charset="0"/>
              </a:rPr>
              <a:t>CAG’ın</a:t>
            </a:r>
            <a:r>
              <a:rPr lang="tr-TR" sz="2000" b="1" dirty="0">
                <a:solidFill>
                  <a:schemeClr val="tx2"/>
                </a:solidFill>
                <a:latin typeface="Calibri" panose="020F0502020204030204" pitchFamily="34" charset="0"/>
                <a:cs typeface="Calibri" panose="020F0502020204030204" pitchFamily="34" charset="0"/>
              </a:rPr>
              <a:t> en güçlü örneklerinden biridir.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Model burada yeni bulgu üretirken yalnızca yeni görüşme verisini değil, tezde daha önce kurulan tema isimlendirme mantığını, alt tema düzeyini, doğrudan alıntı stilini ve yorumlama tonunu da korur.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Örneğin ilk bölümlerde </a:t>
            </a:r>
            <a:r>
              <a:rPr lang="tr-TR" sz="2000" b="1" dirty="0">
                <a:solidFill>
                  <a:srgbClr val="0070C0"/>
                </a:solidFill>
                <a:latin typeface="Calibri" panose="020F0502020204030204" pitchFamily="34" charset="0"/>
                <a:cs typeface="Calibri" panose="020F0502020204030204" pitchFamily="34" charset="0"/>
              </a:rPr>
              <a:t>“teknoloji liderliği” </a:t>
            </a:r>
            <a:r>
              <a:rPr lang="tr-TR" sz="2000" b="1" dirty="0">
                <a:solidFill>
                  <a:schemeClr val="tx2"/>
                </a:solidFill>
                <a:latin typeface="Calibri" panose="020F0502020204030204" pitchFamily="34" charset="0"/>
                <a:cs typeface="Calibri" panose="020F0502020204030204" pitchFamily="34" charset="0"/>
              </a:rPr>
              <a:t>ve </a:t>
            </a:r>
            <a:r>
              <a:rPr lang="tr-TR" sz="2000" b="1" dirty="0">
                <a:solidFill>
                  <a:srgbClr val="0070C0"/>
                </a:solidFill>
                <a:latin typeface="Calibri" panose="020F0502020204030204" pitchFamily="34" charset="0"/>
                <a:cs typeface="Calibri" panose="020F0502020204030204" pitchFamily="34" charset="0"/>
              </a:rPr>
              <a:t>“etik yönetişim” </a:t>
            </a:r>
            <a:r>
              <a:rPr lang="tr-TR" sz="2000" b="1" dirty="0">
                <a:solidFill>
                  <a:schemeClr val="tx2"/>
                </a:solidFill>
                <a:latin typeface="Calibri" panose="020F0502020204030204" pitchFamily="34" charset="0"/>
                <a:cs typeface="Calibri" panose="020F0502020204030204" pitchFamily="34" charset="0"/>
              </a:rPr>
              <a:t>gibi temalar kullanıldıysa, yeni bulgular aynı kavramsal hiyerarşide yazılır.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tezin tek yazar sesiyle ilerlemesini sağlar.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0484081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4E245-333B-5CEB-700D-9ED2AF515D0A}"/>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F4EF4133-21AF-D374-8489-24D0D39024C9}"/>
              </a:ext>
            </a:extLst>
          </p:cNvPr>
          <p:cNvSpPr txBox="1"/>
          <p:nvPr/>
        </p:nvSpPr>
        <p:spPr>
          <a:xfrm>
            <a:off x="661481" y="739303"/>
            <a:ext cx="9844392" cy="5714128"/>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2.3.2 CAG</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Önceki bölümle tutarlı sonuç bölümü</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“Bir önceki tartışma bölümündeki kavramsal vurguları koruyarak sonuç bölümünü yaz.”</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Akademik yazımda en sık görülen sorunlardan biri, sonuç bölümünün tartışmadan kopuk olmasıdır.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CAG burada önceki bölümde öne çıkan kuramsal vurgu ve ana bulguları bağlam olarak kullanır.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Örneğin tartışma bölümünde yapay zekâ çağında veri okuryazarlığı liderliği öne çıktıysa, sonuç bölümü de bunu aynı kavramsal çizgide toparlar.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sayede sonuç bölümü sonradan eklenmiş gibi durmaz, doğal devam gibi görünür.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4044564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8200D-9FF7-8DBE-69B3-25F8E62A7720}"/>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470A5B6B-A1FE-75B5-F695-BFD6CF03FDE1}"/>
              </a:ext>
            </a:extLst>
          </p:cNvPr>
          <p:cNvSpPr txBox="1"/>
          <p:nvPr/>
        </p:nvSpPr>
        <p:spPr>
          <a:xfrm>
            <a:off x="661481" y="739303"/>
            <a:ext cx="9844392" cy="4952894"/>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2.3.2 CAG</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Aynı kitap dilinde yeni alt başlık</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“Yapay Zeka ve Eğitim Liderliği kitabının önceki bölümlerindeki akademik tonu ve terminolojiyi koruyarak ‘</a:t>
            </a:r>
            <a:r>
              <a:rPr lang="tr-TR" sz="2000" b="1" dirty="0" err="1">
                <a:solidFill>
                  <a:schemeClr val="tx2"/>
                </a:solidFill>
                <a:latin typeface="Calibri" panose="020F0502020204030204" pitchFamily="34" charset="0"/>
                <a:cs typeface="Calibri" panose="020F0502020204030204" pitchFamily="34" charset="0"/>
              </a:rPr>
              <a:t>Agentic</a:t>
            </a:r>
            <a:r>
              <a:rPr lang="tr-TR" sz="2000" b="1" dirty="0">
                <a:solidFill>
                  <a:schemeClr val="tx2"/>
                </a:solidFill>
                <a:latin typeface="Calibri" panose="020F0502020204030204" pitchFamily="34" charset="0"/>
                <a:cs typeface="Calibri" panose="020F0502020204030204" pitchFamily="34" charset="0"/>
              </a:rPr>
              <a:t> </a:t>
            </a:r>
            <a:r>
              <a:rPr lang="tr-TR" sz="2000" b="1" dirty="0" err="1">
                <a:solidFill>
                  <a:schemeClr val="tx2"/>
                </a:solidFill>
                <a:latin typeface="Calibri" panose="020F0502020204030204" pitchFamily="34" charset="0"/>
                <a:cs typeface="Calibri" panose="020F0502020204030204" pitchFamily="34" charset="0"/>
              </a:rPr>
              <a:t>Orchestration</a:t>
            </a:r>
            <a:r>
              <a:rPr lang="tr-TR" sz="2000" b="1" dirty="0">
                <a:solidFill>
                  <a:schemeClr val="tx2"/>
                </a:solidFill>
                <a:latin typeface="Calibri" panose="020F0502020204030204" pitchFamily="34" charset="0"/>
                <a:cs typeface="Calibri" panose="020F0502020204030204" pitchFamily="34" charset="0"/>
              </a:rPr>
              <a:t>’ alt başlığını yaz.”</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CAG burada yalnızca konu bilgisini değil, önceki bölümlerde kurulan terim setini, başlık yapısını, paragraf ritmini ve kavramsal yoğunluğu korur.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Böylece yeni alt başlık, kitabın geri kalanından kopuk görünmez.</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Özellikle 500 sayfalık manifesto veya çok bölümlü kitap projelerinde çok değerlidir.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3151101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6E5AE-1658-046B-A47B-69F1E9AA9624}"/>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F59871FF-BC9E-BB30-CC69-270361CADEDF}"/>
              </a:ext>
            </a:extLst>
          </p:cNvPr>
          <p:cNvSpPr txBox="1"/>
          <p:nvPr/>
        </p:nvSpPr>
        <p:spPr>
          <a:xfrm>
            <a:off x="661481" y="739303"/>
            <a:ext cx="9844392" cy="4952894"/>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2.3.2 CAG</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Ders notlarıyla uyumlu sınav soruları</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“Yüklediğim ders notlarındaki kavramların düzeyini koruyarak 10 çoktan seçmeli soru oluştur.”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kullanım, öğretim üyeliği ve ders tasarımı açısından çok güçlüdür.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CAG burada yalnızca genel konuya göre soru üretmez. Doğrudan ders notlarındaki kavram derinliği, terminoloji ve öğrenme çıktılarıyla uyumlu sorular yazar.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ölçme geçerliğini ciddi biçimde artırır.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664558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62B92-7639-AF36-7A4A-35ED2F173765}"/>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DEE58282-5D77-F2E4-F43C-C9CB8EF10F05}"/>
              </a:ext>
            </a:extLst>
          </p:cNvPr>
          <p:cNvSpPr txBox="1"/>
          <p:nvPr/>
        </p:nvSpPr>
        <p:spPr>
          <a:xfrm>
            <a:off x="661481" y="739303"/>
            <a:ext cx="9844392" cy="5384807"/>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2.3.2 CAG</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Önceki hakem raporuna bağlı ikinci değerlendirme</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Örnek </a:t>
            </a:r>
            <a:r>
              <a:rPr lang="tr-TR" sz="2000" b="1" dirty="0" err="1">
                <a:solidFill>
                  <a:srgbClr val="0070C0"/>
                </a:solidFill>
                <a:latin typeface="Calibri" panose="020F0502020204030204" pitchFamily="34" charset="0"/>
                <a:cs typeface="Calibri" panose="020F0502020204030204" pitchFamily="34" charset="0"/>
              </a:rPr>
              <a:t>Prompt</a:t>
            </a:r>
            <a:endParaRPr lang="tr-TR" sz="2000" b="1" dirty="0">
              <a:solidFill>
                <a:srgbClr val="0070C0"/>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“Birinci hakem raporundaki temel metodolojik eleştiri çizgisini koruyarak revize makale için ikinci değerlendirmeyi yaz.”</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Açıklama ve Yorum</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Hakemlikte süreklilik çok önemlidir.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CAG burada ilk rapordaki eleştiri mantığını bağlam olarak korur: örneklem yetersizliği, kuramsal çerçeve eksikliği veya yöntemsel açıklık gibi.</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Yeni değerlendirme, önceki eleştirilerin ne ölçüde karşılandığını sistematik biçimde izler.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Bu, ikinci tur hakem raporlarında profesyonel tutarlılık sağlar.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1836467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CDB4E-5A8B-B041-E7FB-AE7D6CB222C0}"/>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CABA4757-3817-2518-0C00-8868DF5B047F}"/>
              </a:ext>
            </a:extLst>
          </p:cNvPr>
          <p:cNvSpPr txBox="1"/>
          <p:nvPr/>
        </p:nvSpPr>
        <p:spPr>
          <a:xfrm>
            <a:off x="661481" y="739303"/>
            <a:ext cx="9844392" cy="5919313"/>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2.3.2 CAG</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Genel Değerlendirme</a:t>
            </a:r>
          </a:p>
          <a:p>
            <a:pPr>
              <a:lnSpc>
                <a:spcPct val="107000"/>
              </a:lnSpc>
              <a:spcAft>
                <a:spcPts val="800"/>
              </a:spcAft>
            </a:pPr>
            <a:r>
              <a:rPr lang="tr-TR" sz="2000" b="1" dirty="0" err="1">
                <a:solidFill>
                  <a:schemeClr val="tx2"/>
                </a:solidFill>
                <a:latin typeface="Calibri" panose="020F0502020204030204" pitchFamily="34" charset="0"/>
                <a:cs typeface="Calibri" panose="020F0502020204030204" pitchFamily="34" charset="0"/>
              </a:rPr>
              <a:t>CAG’ın</a:t>
            </a:r>
            <a:r>
              <a:rPr lang="tr-TR" sz="2000" b="1" dirty="0">
                <a:solidFill>
                  <a:schemeClr val="tx2"/>
                </a:solidFill>
                <a:latin typeface="Calibri" panose="020F0502020204030204" pitchFamily="34" charset="0"/>
                <a:cs typeface="Calibri" panose="020F0502020204030204" pitchFamily="34" charset="0"/>
              </a:rPr>
              <a:t> akademik çalışmalardaki en büyük gücü, önceki bağlamı bozmadan yeni üretim yapmasıdır.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nedenle özellikle şu alanlarda çok etkilidir: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Tez bulgularının devamı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Sonuç ve tartışma uyumu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Kitap bölümü yazımı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Ders notu → sınav uyumu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Hakem rapor sürekliliği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Uzun manifesto projeleri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Çok yazarlı projelerde tek sesli dil </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3951285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93A1C-049E-149E-8618-36028D7811B9}"/>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F3549B61-8B05-2200-4EE9-3EC99C40851A}"/>
              </a:ext>
            </a:extLst>
          </p:cNvPr>
          <p:cNvSpPr txBox="1"/>
          <p:nvPr/>
        </p:nvSpPr>
        <p:spPr>
          <a:xfrm>
            <a:off x="710119" y="1634247"/>
            <a:ext cx="9795754" cy="4726166"/>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2.3.2 CAG</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Güçlü yönleri</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Bölüm tutarlılığını korur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Aynı akademik sesi sürdürür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Tez ve kitaplarda kavramsal süreklilik sağlar</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Ders materyallerinde öğrenme çıktısı uyumu verir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Sınırlılıkları</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Önceki bağlam zayıfsa hata yeni bölümlere taşınır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8476575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73E05-F18C-0E81-2AC6-34E458A29FE0}"/>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F6F0205A-DE24-008C-3AB3-6EB15C988F9F}"/>
              </a:ext>
            </a:extLst>
          </p:cNvPr>
          <p:cNvSpPr txBox="1"/>
          <p:nvPr/>
        </p:nvSpPr>
        <p:spPr>
          <a:xfrm>
            <a:off x="710119" y="1634247"/>
            <a:ext cx="9795754" cy="3430426"/>
          </a:xfrm>
          <a:prstGeom prst="rect">
            <a:avLst/>
          </a:prstGeom>
          <a:noFill/>
        </p:spPr>
        <p:txBody>
          <a:bodyPr wrap="square">
            <a:spAutoFit/>
          </a:bodyPr>
          <a:lstStyle/>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 Knowledge-</a:t>
            </a:r>
            <a:r>
              <a:rPr lang="tr-TR" sz="2000" b="1" dirty="0" err="1">
                <a:solidFill>
                  <a:schemeClr val="tx2"/>
                </a:solidFill>
                <a:latin typeface="Calibri" panose="020F0502020204030204" pitchFamily="34" charset="0"/>
                <a:cs typeface="Calibri" panose="020F0502020204030204" pitchFamily="34" charset="0"/>
              </a:rPr>
              <a:t>based</a:t>
            </a:r>
            <a:endParaRPr lang="tr-TR" sz="2000" b="1" dirty="0">
              <a:solidFill>
                <a:schemeClr val="tx2"/>
              </a:solidFill>
              <a:latin typeface="Calibri" panose="020F0502020204030204" pitchFamily="34" charset="0"/>
              <a:cs typeface="Calibri" panose="020F0502020204030204" pitchFamily="34" charset="0"/>
            </a:endParaRP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2.3.2 CAG</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Uzun akademik projelerde en ideal kombinasyon:</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CAG + </a:t>
            </a:r>
            <a:r>
              <a:rPr lang="tr-TR" sz="2000" b="1" dirty="0" err="1">
                <a:solidFill>
                  <a:schemeClr val="tx2"/>
                </a:solidFill>
                <a:latin typeface="Calibri" panose="020F0502020204030204" pitchFamily="34" charset="0"/>
                <a:cs typeface="Calibri" panose="020F0502020204030204" pitchFamily="34" charset="0"/>
              </a:rPr>
              <a:t>Few-shot</a:t>
            </a:r>
            <a:r>
              <a:rPr lang="tr-TR" sz="2000" b="1" dirty="0">
                <a:solidFill>
                  <a:schemeClr val="tx2"/>
                </a:solidFill>
                <a:latin typeface="Calibri" panose="020F0502020204030204" pitchFamily="34" charset="0"/>
                <a:cs typeface="Calibri" panose="020F0502020204030204" pitchFamily="34" charset="0"/>
              </a:rPr>
              <a:t> + </a:t>
            </a:r>
            <a:r>
              <a:rPr lang="tr-TR" sz="2000" b="1" dirty="0" err="1">
                <a:solidFill>
                  <a:schemeClr val="tx2"/>
                </a:solidFill>
                <a:latin typeface="Calibri" panose="020F0502020204030204" pitchFamily="34" charset="0"/>
                <a:cs typeface="Calibri" panose="020F0502020204030204" pitchFamily="34" charset="0"/>
              </a:rPr>
              <a:t>CoT</a:t>
            </a:r>
            <a:r>
              <a:rPr lang="tr-TR" sz="2000" b="1" dirty="0">
                <a:solidFill>
                  <a:schemeClr val="tx2"/>
                </a:solidFill>
                <a:latin typeface="Calibri" panose="020F0502020204030204" pitchFamily="34" charset="0"/>
                <a:cs typeface="Calibri" panose="020F0502020204030204" pitchFamily="34" charset="0"/>
              </a:rPr>
              <a:t> şeklindedir.</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CAG → bağlamı korur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a:t>
            </a:r>
            <a:r>
              <a:rPr lang="tr-TR" sz="2000" b="1" dirty="0" err="1">
                <a:solidFill>
                  <a:srgbClr val="0070C0"/>
                </a:solidFill>
                <a:latin typeface="Calibri" panose="020F0502020204030204" pitchFamily="34" charset="0"/>
                <a:cs typeface="Calibri" panose="020F0502020204030204" pitchFamily="34" charset="0"/>
              </a:rPr>
              <a:t>Few-shot</a:t>
            </a:r>
            <a:r>
              <a:rPr lang="tr-TR" sz="2000" b="1" dirty="0">
                <a:solidFill>
                  <a:srgbClr val="0070C0"/>
                </a:solidFill>
                <a:latin typeface="Calibri" panose="020F0502020204030204" pitchFamily="34" charset="0"/>
                <a:cs typeface="Calibri" panose="020F0502020204030204" pitchFamily="34" charset="0"/>
              </a:rPr>
              <a:t> → üslubu standardize eder </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 </a:t>
            </a:r>
            <a:r>
              <a:rPr lang="tr-TR" sz="2000" b="1" dirty="0" err="1">
                <a:solidFill>
                  <a:srgbClr val="0070C0"/>
                </a:solidFill>
                <a:latin typeface="Calibri" panose="020F0502020204030204" pitchFamily="34" charset="0"/>
                <a:cs typeface="Calibri" panose="020F0502020204030204" pitchFamily="34" charset="0"/>
              </a:rPr>
              <a:t>CoT</a:t>
            </a:r>
            <a:r>
              <a:rPr lang="tr-TR" sz="2000" b="1" dirty="0">
                <a:solidFill>
                  <a:srgbClr val="0070C0"/>
                </a:solidFill>
                <a:latin typeface="Calibri" panose="020F0502020204030204" pitchFamily="34" charset="0"/>
                <a:cs typeface="Calibri" panose="020F0502020204030204" pitchFamily="34" charset="0"/>
              </a:rPr>
              <a:t> → mantıksal akışı kurar</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7318379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E9A0A-08E2-B912-2133-5178CFCEB810}"/>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40D46AFE-B964-F22E-B520-6C90C58EDE1D}"/>
              </a:ext>
            </a:extLst>
          </p:cNvPr>
          <p:cNvSpPr txBox="1"/>
          <p:nvPr/>
        </p:nvSpPr>
        <p:spPr>
          <a:xfrm>
            <a:off x="710119" y="1634247"/>
            <a:ext cx="9795754" cy="3994042"/>
          </a:xfrm>
          <a:prstGeom prst="rect">
            <a:avLst/>
          </a:prstGeom>
          <a:noFill/>
        </p:spPr>
        <p:txBody>
          <a:bodyPr wrap="square">
            <a:spAutoFit/>
          </a:bodyPr>
          <a:lstStyle/>
          <a:p>
            <a:pPr>
              <a:lnSpc>
                <a:spcPct val="107000"/>
              </a:lnSpc>
              <a:spcAft>
                <a:spcPts val="800"/>
              </a:spcAft>
            </a:pPr>
            <a:r>
              <a:rPr lang="tr-TR" sz="2800" b="1" dirty="0">
                <a:solidFill>
                  <a:srgbClr val="0070C0"/>
                </a:solidFill>
                <a:latin typeface="Calibri" panose="020F0502020204030204" pitchFamily="34" charset="0"/>
                <a:cs typeface="Calibri" panose="020F0502020204030204" pitchFamily="34" charset="0"/>
              </a:rPr>
              <a:t>Sonuç</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Akademik doğruluk için en güçlü kombinasyon çoğu zaman şöyledir:</a:t>
            </a:r>
          </a:p>
          <a:p>
            <a:pPr>
              <a:lnSpc>
                <a:spcPct val="107000"/>
              </a:lnSpc>
              <a:spcAft>
                <a:spcPts val="800"/>
              </a:spcAft>
            </a:pPr>
            <a:r>
              <a:rPr lang="tr-TR" sz="2000" b="1" dirty="0" err="1">
                <a:solidFill>
                  <a:srgbClr val="0070C0"/>
                </a:solidFill>
                <a:latin typeface="Calibri" panose="020F0502020204030204" pitchFamily="34" charset="0"/>
                <a:cs typeface="Calibri" panose="020F0502020204030204" pitchFamily="34" charset="0"/>
              </a:rPr>
              <a:t>Few-shot</a:t>
            </a:r>
            <a:r>
              <a:rPr lang="tr-TR" sz="2000" b="1" dirty="0">
                <a:solidFill>
                  <a:srgbClr val="0070C0"/>
                </a:solidFill>
                <a:latin typeface="Calibri" panose="020F0502020204030204" pitchFamily="34" charset="0"/>
                <a:cs typeface="Calibri" panose="020F0502020204030204" pitchFamily="34" charset="0"/>
              </a:rPr>
              <a:t> + </a:t>
            </a:r>
            <a:r>
              <a:rPr lang="tr-TR" sz="2000" b="1" dirty="0" err="1">
                <a:solidFill>
                  <a:srgbClr val="0070C0"/>
                </a:solidFill>
                <a:latin typeface="Calibri" panose="020F0502020204030204" pitchFamily="34" charset="0"/>
                <a:cs typeface="Calibri" panose="020F0502020204030204" pitchFamily="34" charset="0"/>
              </a:rPr>
              <a:t>CoT</a:t>
            </a:r>
            <a:r>
              <a:rPr lang="tr-TR" sz="2000" b="1" dirty="0">
                <a:solidFill>
                  <a:srgbClr val="0070C0"/>
                </a:solidFill>
                <a:latin typeface="Calibri" panose="020F0502020204030204" pitchFamily="34" charset="0"/>
                <a:cs typeface="Calibri" panose="020F0502020204030204" pitchFamily="34" charset="0"/>
              </a:rPr>
              <a:t> + RAG + CAG</a:t>
            </a:r>
          </a:p>
          <a:p>
            <a:pPr>
              <a:lnSpc>
                <a:spcPct val="107000"/>
              </a:lnSpc>
              <a:spcAft>
                <a:spcPts val="800"/>
              </a:spcAft>
            </a:pPr>
            <a:r>
              <a:rPr lang="tr-TR" sz="2000" b="1" dirty="0">
                <a:solidFill>
                  <a:srgbClr val="0070C0"/>
                </a:solidFill>
                <a:latin typeface="Calibri" panose="020F0502020204030204" pitchFamily="34" charset="0"/>
                <a:cs typeface="Calibri" panose="020F0502020204030204" pitchFamily="34" charset="0"/>
              </a:rPr>
              <a:t>Bu kombinasyon:</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Biçimsel tutarlılığı korur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Yöntemsel doğruluğu artırır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Kaynak temelli güvenilirlik sağlar </a:t>
            </a:r>
          </a:p>
          <a:p>
            <a:pPr>
              <a:lnSpc>
                <a:spcPct val="107000"/>
              </a:lnSpc>
              <a:spcAft>
                <a:spcPts val="800"/>
              </a:spcAft>
            </a:pPr>
            <a:r>
              <a:rPr lang="tr-TR" sz="2000" b="1" dirty="0">
                <a:solidFill>
                  <a:schemeClr val="tx2"/>
                </a:solidFill>
                <a:latin typeface="Calibri" panose="020F0502020204030204" pitchFamily="34" charset="0"/>
                <a:cs typeface="Calibri" panose="020F0502020204030204" pitchFamily="34" charset="0"/>
              </a:rPr>
              <a:t>• Kitap bölümleri arasında üslup birliği kurar </a:t>
            </a:r>
          </a:p>
          <a:p>
            <a:pPr>
              <a:lnSpc>
                <a:spcPct val="107000"/>
              </a:lnSpc>
              <a:spcAft>
                <a:spcPts val="800"/>
              </a:spcAft>
            </a:pPr>
            <a:endParaRPr lang="tr-TR" sz="2000" b="1"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1432861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a:extLst>
              <a:ext uri="{FF2B5EF4-FFF2-40B4-BE49-F238E27FC236}">
                <a16:creationId xmlns:a16="http://schemas.microsoft.com/office/drawing/2014/main" id="{71DFFCB7-F665-4F60-3054-6129449EF3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736" y="262646"/>
            <a:ext cx="10554511" cy="6595353"/>
          </a:xfrm>
          <a:prstGeom prst="rect">
            <a:avLst/>
          </a:prstGeom>
        </p:spPr>
      </p:pic>
    </p:spTree>
    <p:extLst>
      <p:ext uri="{BB962C8B-B14F-4D97-AF65-F5344CB8AC3E}">
        <p14:creationId xmlns:p14="http://schemas.microsoft.com/office/powerpoint/2010/main" val="419794688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Başlık 1"/>
          <p:cNvSpPr>
            <a:spLocks noGrp="1"/>
          </p:cNvSpPr>
          <p:nvPr>
            <p:ph type="title"/>
          </p:nvPr>
        </p:nvSpPr>
        <p:spPr>
          <a:xfrm>
            <a:off x="3125670" y="1160749"/>
            <a:ext cx="5829300" cy="864394"/>
          </a:xfrm>
        </p:spPr>
        <p:txBody>
          <a:bodyPr/>
          <a:lstStyle/>
          <a:p>
            <a:pPr algn="ctr"/>
            <a:r>
              <a:rPr lang="tr-TR" sz="2700" dirty="0">
                <a:solidFill>
                  <a:schemeClr val="tx2"/>
                </a:solidFill>
                <a:latin typeface="Calibri" panose="020F0502020204030204" pitchFamily="34" charset="0"/>
                <a:cs typeface="Arial" charset="0"/>
              </a:rPr>
              <a:t>TEŞEKKÜRLER</a:t>
            </a:r>
          </a:p>
        </p:txBody>
      </p:sp>
      <p:sp>
        <p:nvSpPr>
          <p:cNvPr id="4" name="İçerik Yer Tutucusu 3"/>
          <p:cNvSpPr>
            <a:spLocks noGrp="1"/>
          </p:cNvSpPr>
          <p:nvPr>
            <p:ph sz="half" idx="2"/>
          </p:nvPr>
        </p:nvSpPr>
        <p:spPr>
          <a:xfrm>
            <a:off x="5097294" y="2459372"/>
            <a:ext cx="5194569" cy="2969879"/>
          </a:xfrm>
        </p:spPr>
        <p:txBody>
          <a:bodyPr>
            <a:normAutofit fontScale="77500" lnSpcReduction="20000"/>
          </a:bodyPr>
          <a:lstStyle/>
          <a:p>
            <a:pPr marL="0" indent="0">
              <a:buNone/>
              <a:defRPr/>
            </a:pPr>
            <a:endParaRPr lang="tr-TR" sz="1350" b="1" dirty="0">
              <a:solidFill>
                <a:schemeClr val="tx2"/>
              </a:solidFill>
              <a:latin typeface="Calibri" panose="020F0502020204030204" pitchFamily="34" charset="0"/>
              <a:ea typeface="Tahoma" panose="020B0604030504040204" pitchFamily="34" charset="0"/>
              <a:cs typeface="Tahoma" panose="020B0604030504040204" pitchFamily="34" charset="0"/>
            </a:endParaRPr>
          </a:p>
          <a:p>
            <a:pPr marL="0" indent="0">
              <a:buNone/>
              <a:defRPr/>
            </a:pPr>
            <a:r>
              <a:rPr lang="tr-TR" sz="2100" b="1" dirty="0">
                <a:solidFill>
                  <a:schemeClr val="tx2"/>
                </a:solidFill>
                <a:latin typeface="Calibri" panose="020F0502020204030204" pitchFamily="34" charset="0"/>
                <a:ea typeface="Tahoma" panose="020B0604030504040204" pitchFamily="34" charset="0"/>
                <a:cs typeface="Tahoma" panose="020B0604030504040204" pitchFamily="34" charset="0"/>
              </a:rPr>
              <a:t>PROF.DR.MEHMET KESİM</a:t>
            </a:r>
          </a:p>
          <a:p>
            <a:pPr marL="0" indent="0">
              <a:buNone/>
              <a:defRPr/>
            </a:pPr>
            <a:endParaRPr lang="tr-TR" sz="2100" b="1" dirty="0">
              <a:solidFill>
                <a:schemeClr val="tx2"/>
              </a:solidFill>
              <a:latin typeface="Calibri" panose="020F0502020204030204" pitchFamily="34" charset="0"/>
              <a:ea typeface="Tahoma" panose="020B0604030504040204" pitchFamily="34" charset="0"/>
              <a:cs typeface="Tahoma" panose="020B0604030504040204" pitchFamily="34" charset="0"/>
            </a:endParaRPr>
          </a:p>
          <a:p>
            <a:pPr marL="0" indent="0">
              <a:buNone/>
              <a:defRPr/>
            </a:pPr>
            <a:r>
              <a:rPr lang="tr-TR" sz="2100" b="1" dirty="0">
                <a:solidFill>
                  <a:schemeClr val="tx2"/>
                </a:solidFill>
                <a:latin typeface="Calibri" panose="020F0502020204030204" pitchFamily="34" charset="0"/>
                <a:ea typeface="Tahoma" panose="020B0604030504040204" pitchFamily="34" charset="0"/>
                <a:cs typeface="Tahoma" panose="020B0604030504040204" pitchFamily="34" charset="0"/>
              </a:rPr>
              <a:t>0 533 7693205</a:t>
            </a:r>
          </a:p>
          <a:p>
            <a:pPr marL="0" indent="0">
              <a:buNone/>
              <a:defRPr/>
            </a:pPr>
            <a:r>
              <a:rPr lang="tr-TR" sz="2100" b="1" dirty="0">
                <a:solidFill>
                  <a:schemeClr val="tx2"/>
                </a:solidFill>
                <a:latin typeface="Calibri" panose="020F0502020204030204" pitchFamily="34" charset="0"/>
                <a:ea typeface="Tahoma" panose="020B0604030504040204" pitchFamily="34" charset="0"/>
                <a:cs typeface="Tahoma" panose="020B0604030504040204" pitchFamily="34" charset="0"/>
              </a:rPr>
              <a:t>mkesim@anadolu.edu.tr</a:t>
            </a:r>
          </a:p>
          <a:p>
            <a:pPr marL="0" indent="0">
              <a:buNone/>
              <a:defRPr/>
            </a:pPr>
            <a:r>
              <a:rPr lang="tr-TR" sz="2100" b="1" dirty="0">
                <a:solidFill>
                  <a:schemeClr val="tx2"/>
                </a:solidFill>
                <a:latin typeface="Calibri" panose="020F0502020204030204" pitchFamily="34" charset="0"/>
                <a:ea typeface="Tahoma" panose="020B0604030504040204" pitchFamily="34" charset="0"/>
                <a:cs typeface="Tahoma" panose="020B0604030504040204" pitchFamily="34" charset="0"/>
              </a:rPr>
              <a:t>mehmet.kesim@tedu.edu.tr</a:t>
            </a:r>
          </a:p>
          <a:p>
            <a:pPr marL="0" indent="0">
              <a:buNone/>
              <a:defRPr/>
            </a:pPr>
            <a:r>
              <a:rPr lang="tr-TR" sz="2100" b="1" dirty="0">
                <a:solidFill>
                  <a:schemeClr val="tx2"/>
                </a:solidFill>
                <a:latin typeface="Calibri" panose="020F0502020204030204" pitchFamily="34" charset="0"/>
                <a:cs typeface="Calibri" panose="020F0502020204030204" pitchFamily="34" charset="0"/>
              </a:rPr>
              <a:t>https://www.tedu.edu.tr/mehmet-kesim</a:t>
            </a:r>
          </a:p>
          <a:p>
            <a:pPr marL="0" indent="0">
              <a:buNone/>
              <a:defRPr/>
            </a:pPr>
            <a:r>
              <a:rPr lang="tr-TR" sz="2100" b="1" dirty="0">
                <a:solidFill>
                  <a:schemeClr val="tx2"/>
                </a:solidFill>
                <a:latin typeface="Calibri" panose="020F0502020204030204" pitchFamily="34" charset="0"/>
                <a:cs typeface="Calibri" panose="020F0502020204030204" pitchFamily="34" charset="0"/>
              </a:rPr>
              <a:t>https://www.youtube.com/channel/UCfWfYSGPqZ6spsCgoUIeCaQ</a:t>
            </a:r>
          </a:p>
          <a:p>
            <a:pPr marL="0" indent="0">
              <a:buNone/>
              <a:defRPr/>
            </a:pPr>
            <a:r>
              <a:rPr lang="tr-TR" sz="2100" b="1" dirty="0">
                <a:solidFill>
                  <a:schemeClr val="tx2"/>
                </a:solidFill>
                <a:latin typeface="Calibri" panose="020F0502020204030204" pitchFamily="34" charset="0"/>
                <a:cs typeface="Calibri" panose="020F0502020204030204" pitchFamily="34" charset="0"/>
              </a:rPr>
              <a:t>https://www.linkedin.com/in/mehmet-kesim-826878178/</a:t>
            </a:r>
          </a:p>
          <a:p>
            <a:pPr marL="0" indent="0">
              <a:buNone/>
              <a:defRPr/>
            </a:pPr>
            <a:r>
              <a:rPr lang="tr-TR" sz="2100" b="1" dirty="0">
                <a:solidFill>
                  <a:schemeClr val="tx2"/>
                </a:solidFill>
                <a:latin typeface="Calibri" panose="020F0502020204030204" pitchFamily="34" charset="0"/>
                <a:cs typeface="Calibri" panose="020F0502020204030204" pitchFamily="34" charset="0"/>
              </a:rPr>
              <a:t>https://twitter.com/MasteryMehmet</a:t>
            </a:r>
          </a:p>
        </p:txBody>
      </p:sp>
      <p:pic>
        <p:nvPicPr>
          <p:cNvPr id="24578" name="Picture 2" descr="http://4.bp.blogspot.com/_HB2qu01CAyI/S6psp_9QSuI/AAAAAAAAAxo/quc6dT-a-NM/s1600/renk+t%C3%BCneli.BMP"/>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18239" y="2726921"/>
            <a:ext cx="3228860" cy="2702329"/>
          </a:xfrm>
          <a:prstGeom prst="rect">
            <a:avLst/>
          </a:prstGeom>
          <a:ln w="88900" cap="sq" cmpd="thickThin">
            <a:solidFill>
              <a:schemeClr val="accent5">
                <a:lumMod val="75000"/>
              </a:schemeClr>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93770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Zengin">
  <a:themeElements>
    <a:clrScheme name="Zengin">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Zengin">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Zengin">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10983</TotalTime>
  <Words>8225</Words>
  <Application>Microsoft Office PowerPoint</Application>
  <PresentationFormat>Geniş ekran</PresentationFormat>
  <Paragraphs>947</Paragraphs>
  <Slides>111</Slides>
  <Notes>66</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111</vt:i4>
      </vt:variant>
    </vt:vector>
  </HeadingPairs>
  <TitlesOfParts>
    <vt:vector size="116" baseType="lpstr">
      <vt:lpstr>Calibri</vt:lpstr>
      <vt:lpstr>Trebuchet MS</vt:lpstr>
      <vt:lpstr>Wingdings</vt:lpstr>
      <vt:lpstr>Wingdings 2</vt:lpstr>
      <vt:lpstr>Zengin</vt:lpstr>
      <vt:lpstr>İLERİ PROMPT STRATEJİLERİ PROF. DR. MEHMET KESİM</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TEŞEKKÜRLER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ENDÜSTRİ 4.0 DÖNEMİNDE YENİ İLETİŞİM TEKNOLOJİLERİNİN EĞİTİMDE UYGULAMALARI    Prof. Dr. Mehmet kesİm</dc:title>
  <dc:creator>MEHMET KESİM</dc:creator>
  <cp:lastModifiedBy>Pc</cp:lastModifiedBy>
  <cp:revision>1800</cp:revision>
  <dcterms:created xsi:type="dcterms:W3CDTF">2018-04-04T13:22:23Z</dcterms:created>
  <dcterms:modified xsi:type="dcterms:W3CDTF">2026-04-15T12:21:17Z</dcterms:modified>
</cp:coreProperties>
</file>